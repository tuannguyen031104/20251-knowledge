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257" r:id="rId2"/>
    <p:sldId id="263" r:id="rId3"/>
    <p:sldId id="321" r:id="rId4"/>
    <p:sldId id="266" r:id="rId5"/>
    <p:sldId id="268" r:id="rId6"/>
    <p:sldId id="343" r:id="rId7"/>
    <p:sldId id="271" r:id="rId8"/>
    <p:sldId id="276" r:id="rId9"/>
    <p:sldId id="278" r:id="rId10"/>
    <p:sldId id="322" r:id="rId11"/>
    <p:sldId id="282" r:id="rId12"/>
    <p:sldId id="283" r:id="rId13"/>
    <p:sldId id="338" r:id="rId14"/>
    <p:sldId id="339" r:id="rId15"/>
    <p:sldId id="284" r:id="rId16"/>
    <p:sldId id="323" r:id="rId17"/>
    <p:sldId id="289" r:id="rId18"/>
    <p:sldId id="290" r:id="rId19"/>
    <p:sldId id="291" r:id="rId20"/>
    <p:sldId id="324" r:id="rId21"/>
    <p:sldId id="298" r:id="rId22"/>
    <p:sldId id="299" r:id="rId23"/>
    <p:sldId id="300" r:id="rId24"/>
    <p:sldId id="301" r:id="rId25"/>
    <p:sldId id="302" r:id="rId26"/>
    <p:sldId id="303" r:id="rId27"/>
    <p:sldId id="304" r:id="rId28"/>
    <p:sldId id="305" r:id="rId29"/>
    <p:sldId id="306" r:id="rId30"/>
    <p:sldId id="325" r:id="rId31"/>
    <p:sldId id="328" r:id="rId32"/>
    <p:sldId id="329" r:id="rId33"/>
    <p:sldId id="330" r:id="rId34"/>
    <p:sldId id="331" r:id="rId35"/>
    <p:sldId id="332" r:id="rId36"/>
    <p:sldId id="333" r:id="rId37"/>
    <p:sldId id="334" r:id="rId38"/>
    <p:sldId id="335" r:id="rId39"/>
    <p:sldId id="336" r:id="rId40"/>
    <p:sldId id="340" r:id="rId41"/>
    <p:sldId id="341" r:id="rId42"/>
    <p:sldId id="342" r:id="rId43"/>
    <p:sldId id="33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12/24/2025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12/24/2025</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12/24/2025</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12/24/2025</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12/24/2025</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12/24/2025</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12/24/2025</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12/24/2025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12/24/2025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12/24/2025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12/24/2025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12/24/2025</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4.xml"/><Relationship Id="rId4" Type="http://schemas.openxmlformats.org/officeDocument/2006/relationships/image" Target="../media/image36.jpeg"/></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www.figma.com/proto/0qDzv8ehPjAlLCPj0Y0Geb/TAKK_Edu?node-id=11-838&amp;t=sPsrQsHqm1LaF8rA-1" TargetMode="Externa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4" y="2219413"/>
            <a:ext cx="9205236"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Nền tảng website học online TAKK Edu</a:t>
            </a:r>
            <a:endParaRPr lang="en-US" sz="4800" dirty="0"/>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3" y="3789796"/>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a:t>UI/UX &amp; HCI - Nhóm 05</a:t>
            </a:r>
          </a:p>
          <a:p>
            <a:r>
              <a:rPr lang="en-US" sz="2800"/>
              <a:t>GVHD: Lê Tấn Hùng</a:t>
            </a:r>
          </a:p>
          <a:p>
            <a:r>
              <a:rPr lang="en-US" sz="2800" b="0"/>
              <a:t>Nông Quốc Khánh	20226088</a:t>
            </a:r>
          </a:p>
          <a:p>
            <a:r>
              <a:rPr lang="en-US" sz="2800" b="0"/>
              <a:t>Đỗ Quang Bắc Kỳ	20226111</a:t>
            </a:r>
          </a:p>
          <a:p>
            <a:r>
              <a:rPr lang="en-US" sz="2800" b="0"/>
              <a:t>Nguyễn Minh Tuấn	20226095</a:t>
            </a:r>
            <a:endParaRPr lang="en-US" sz="2800" b="0" dirty="0"/>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1</a:t>
            </a:fld>
            <a:endParaRPr lang="en-US"/>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2</a:t>
            </a:fld>
            <a:endParaRPr lang="en-US"/>
          </a:p>
        </p:txBody>
      </p:sp>
    </p:spTree>
    <p:extLst>
      <p:ext uri="{BB962C8B-B14F-4D97-AF65-F5344CB8AC3E}">
        <p14:creationId xmlns:p14="http://schemas.microsoft.com/office/powerpoint/2010/main" val="485500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0E5-6848-7F68-947D-8C187700D8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426D64-EBC4-8CE3-31A1-CB06FCAFB7F6}"/>
              </a:ext>
            </a:extLst>
          </p:cNvPr>
          <p:cNvSpPr>
            <a:spLocks noGrp="1"/>
          </p:cNvSpPr>
          <p:nvPr>
            <p:ph sz="quarter" idx="13"/>
          </p:nvPr>
        </p:nvSpPr>
        <p:spPr/>
        <p:txBody>
          <a:bodyPr/>
          <a:lstStyle/>
          <a:p>
            <a:pPr marL="514350" indent="-514350">
              <a:buFont typeface="+mj-lt"/>
              <a:buAutoNum type="arabicPeriod"/>
            </a:pPr>
            <a:r>
              <a:rPr lang="en-US">
                <a:solidFill>
                  <a:srgbClr val="C00000"/>
                </a:solidFill>
              </a:rPr>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8CC4E99B-874E-5210-6B82-4254E0B17D2B}"/>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8C010585-E631-ED6E-2ECE-8812A1D80CD6}"/>
              </a:ext>
            </a:extLst>
          </p:cNvPr>
          <p:cNvSpPr>
            <a:spLocks noGrp="1"/>
          </p:cNvSpPr>
          <p:nvPr>
            <p:ph type="sldNum" sz="quarter" idx="12"/>
          </p:nvPr>
        </p:nvSpPr>
        <p:spPr/>
        <p:txBody>
          <a:bodyPr/>
          <a:lstStyle/>
          <a:p>
            <a:fld id="{9EA0BE3B-158A-4EDF-80DC-E394A0D1600F}" type="slidenum">
              <a:rPr lang="en-US" smtClean="0"/>
              <a:pPr/>
              <a:t>3</a:t>
            </a:fld>
            <a:endParaRPr lang="en-US"/>
          </a:p>
        </p:txBody>
      </p:sp>
    </p:spTree>
    <p:extLst>
      <p:ext uri="{BB962C8B-B14F-4D97-AF65-F5344CB8AC3E}">
        <p14:creationId xmlns:p14="http://schemas.microsoft.com/office/powerpoint/2010/main" val="2143499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81ADF-3619-5CAB-285A-36FD02BA8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D5668-FDFE-E6F8-ECF1-B9FA4D19EE62}"/>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14026261-6A94-9EAA-5557-B99DB42AB062}"/>
              </a:ext>
            </a:extLst>
          </p:cNvPr>
          <p:cNvSpPr>
            <a:spLocks noGrp="1"/>
          </p:cNvSpPr>
          <p:nvPr>
            <p:ph type="body" sz="quarter" idx="13"/>
          </p:nvPr>
        </p:nvSpPr>
        <p:spPr/>
        <p:txBody>
          <a:bodyPr/>
          <a:lstStyle/>
          <a:p>
            <a:pPr algn="just"/>
            <a:r>
              <a:rPr lang="en-US"/>
              <a:t>Vấn đề người dùng – User problem:</a:t>
            </a:r>
          </a:p>
          <a:p>
            <a:pPr marL="0" indent="0" algn="just">
              <a:buNone/>
            </a:pPr>
            <a:r>
              <a:rPr lang="vi-VN"/>
              <a:t>Trên các nền tảng khóa học trực tuyến hiện nay, quá trình học tập chủ yếu diễn ra một chiều và mang tính cá nhân, khi người học hầu như không có cơ hội tương tác trực tiếp, theo thời gian thực với giảng viên. Việc giảng dạy và đánh giá kết quả học tập dựa trên các nội dung được ghi sẵn, bài kiểm tra trắc nghiệm hoặc các dự án nhỏ, khiến giáo viên khó theo dõi tiến độ, mức độ hiểu bài cũng như kịp thời hỗ trợ người học. Sự thiếu vắng cơ chế tương tác trực tiếp này làm giảm hiệu quả trao đổi, phản hồi và điều chỉnh phương pháp giảng dạy, từ đó ảnh hưởng đến chất lượng học tập tổng thể.</a:t>
            </a:r>
            <a:r>
              <a:rPr lang="en-US"/>
              <a:t> Vì vậy, cần có cơ chế cho phép người học và giáo viên tương tác với nhau trực tiếp trong quá trình học tập và giảng dạy.</a:t>
            </a:r>
          </a:p>
        </p:txBody>
      </p:sp>
      <p:sp>
        <p:nvSpPr>
          <p:cNvPr id="6" name="Slide Number Placeholder 5">
            <a:extLst>
              <a:ext uri="{FF2B5EF4-FFF2-40B4-BE49-F238E27FC236}">
                <a16:creationId xmlns:a16="http://schemas.microsoft.com/office/drawing/2014/main" id="{382E16D6-5AEC-7893-E112-3CDCD2A1D28A}"/>
              </a:ext>
            </a:extLst>
          </p:cNvPr>
          <p:cNvSpPr>
            <a:spLocks noGrp="1"/>
          </p:cNvSpPr>
          <p:nvPr>
            <p:ph type="sldNum" sz="quarter" idx="12"/>
          </p:nvPr>
        </p:nvSpPr>
        <p:spPr/>
        <p:txBody>
          <a:bodyPr/>
          <a:lstStyle/>
          <a:p>
            <a:fld id="{9EA0BE3B-158A-4EDF-80DC-E394A0D1600F}" type="slidenum">
              <a:rPr lang="en-US" smtClean="0"/>
              <a:pPr/>
              <a:t>4</a:t>
            </a:fld>
            <a:endParaRPr lang="en-US"/>
          </a:p>
        </p:txBody>
      </p:sp>
    </p:spTree>
    <p:extLst>
      <p:ext uri="{BB962C8B-B14F-4D97-AF65-F5344CB8AC3E}">
        <p14:creationId xmlns:p14="http://schemas.microsoft.com/office/powerpoint/2010/main" val="2607604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3D9C-0BA2-390D-E2FD-F332F8332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0990B-0397-C4DF-4B9A-BBBFABDFEF85}"/>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D651F5CB-9D28-8840-979D-3E325F312950}"/>
              </a:ext>
            </a:extLst>
          </p:cNvPr>
          <p:cNvSpPr>
            <a:spLocks noGrp="1"/>
          </p:cNvSpPr>
          <p:nvPr>
            <p:ph type="body" sz="quarter" idx="13"/>
          </p:nvPr>
        </p:nvSpPr>
        <p:spPr/>
        <p:txBody>
          <a:bodyPr/>
          <a:lstStyle/>
          <a:p>
            <a:pPr algn="just"/>
            <a:r>
              <a:rPr lang="en-US"/>
              <a:t>Phỏng vấn người dùng mục tiêu: Khảo sát với </a:t>
            </a:r>
            <a:r>
              <a:rPr lang="en-US">
                <a:solidFill>
                  <a:srgbClr val="C00000"/>
                </a:solidFill>
              </a:rPr>
              <a:t>120</a:t>
            </a:r>
            <a:r>
              <a:rPr lang="en-US"/>
              <a:t> người học trên các nền tảng khóa học trực tuyến (Coursera, Udemy).</a:t>
            </a:r>
          </a:p>
          <a:p>
            <a:pPr lvl="1" algn="just"/>
            <a:r>
              <a:rPr lang="en-US" sz="2800">
                <a:solidFill>
                  <a:srgbClr val="C00000"/>
                </a:solidFill>
              </a:rPr>
              <a:t>55%</a:t>
            </a:r>
            <a:r>
              <a:rPr lang="en-US" sz="2800"/>
              <a:t> người được hỏi không hoàn thành khóa học mà họ đã đăng ký. Trong đó:</a:t>
            </a:r>
          </a:p>
          <a:p>
            <a:pPr lvl="2" algn="just"/>
            <a:r>
              <a:rPr lang="en-US" sz="2800">
                <a:solidFill>
                  <a:srgbClr val="C00000"/>
                </a:solidFill>
              </a:rPr>
              <a:t>60%</a:t>
            </a:r>
            <a:r>
              <a:rPr lang="en-US" sz="2800"/>
              <a:t> cho biết lý do là không cảm thấy áp lực phải hoàn thành.</a:t>
            </a:r>
          </a:p>
          <a:p>
            <a:pPr lvl="2" algn="just"/>
            <a:r>
              <a:rPr lang="en-US" sz="2800">
                <a:solidFill>
                  <a:srgbClr val="C00000"/>
                </a:solidFill>
              </a:rPr>
              <a:t>40%</a:t>
            </a:r>
            <a:r>
              <a:rPr lang="en-US" sz="2800"/>
              <a:t> cho biết không được hỏi đáp trực tiếp giáo viên nên cảm thấy các bài học càng về sau càng khó hiểu.</a:t>
            </a:r>
          </a:p>
        </p:txBody>
      </p:sp>
      <p:sp>
        <p:nvSpPr>
          <p:cNvPr id="6" name="Slide Number Placeholder 5">
            <a:extLst>
              <a:ext uri="{FF2B5EF4-FFF2-40B4-BE49-F238E27FC236}">
                <a16:creationId xmlns:a16="http://schemas.microsoft.com/office/drawing/2014/main" id="{9002A95C-FE10-E467-3F5C-624051952DFC}"/>
              </a:ext>
            </a:extLst>
          </p:cNvPr>
          <p:cNvSpPr>
            <a:spLocks noGrp="1"/>
          </p:cNvSpPr>
          <p:nvPr>
            <p:ph type="sldNum" sz="quarter" idx="12"/>
          </p:nvPr>
        </p:nvSpPr>
        <p:spPr/>
        <p:txBody>
          <a:bodyPr/>
          <a:lstStyle/>
          <a:p>
            <a:fld id="{9EA0BE3B-158A-4EDF-80DC-E394A0D1600F}" type="slidenum">
              <a:rPr lang="en-US" smtClean="0"/>
              <a:pPr/>
              <a:t>5</a:t>
            </a:fld>
            <a:endParaRPr lang="en-US"/>
          </a:p>
        </p:txBody>
      </p:sp>
    </p:spTree>
    <p:extLst>
      <p:ext uri="{BB962C8B-B14F-4D97-AF65-F5344CB8AC3E}">
        <p14:creationId xmlns:p14="http://schemas.microsoft.com/office/powerpoint/2010/main" val="1616277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1885E-40C3-A78B-0D96-B965D74BA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EA3DB-066C-28DD-A962-E1364648AA0C}"/>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7E7E05B6-4E02-B62A-F135-B9FF919A3585}"/>
              </a:ext>
            </a:extLst>
          </p:cNvPr>
          <p:cNvSpPr>
            <a:spLocks noGrp="1"/>
          </p:cNvSpPr>
          <p:nvPr>
            <p:ph type="body" sz="quarter" idx="13"/>
          </p:nvPr>
        </p:nvSpPr>
        <p:spPr/>
        <p:txBody>
          <a:bodyPr/>
          <a:lstStyle/>
          <a:p>
            <a:pPr algn="just"/>
            <a:r>
              <a:rPr lang="en-US"/>
              <a:t>Ý tưởng giải pháp:</a:t>
            </a:r>
          </a:p>
          <a:p>
            <a:pPr marL="0" indent="0" algn="just">
              <a:buNone/>
            </a:pPr>
            <a:r>
              <a:rPr lang="en-US"/>
              <a:t>Kết hợp học online theo dạng khóa học quay sẵn và học live-stream.</a:t>
            </a:r>
          </a:p>
        </p:txBody>
      </p:sp>
      <p:sp>
        <p:nvSpPr>
          <p:cNvPr id="6" name="Slide Number Placeholder 5">
            <a:extLst>
              <a:ext uri="{FF2B5EF4-FFF2-40B4-BE49-F238E27FC236}">
                <a16:creationId xmlns:a16="http://schemas.microsoft.com/office/drawing/2014/main" id="{8DD63F67-D290-8AED-F66B-270C7D1E17B5}"/>
              </a:ext>
            </a:extLst>
          </p:cNvPr>
          <p:cNvSpPr>
            <a:spLocks noGrp="1"/>
          </p:cNvSpPr>
          <p:nvPr>
            <p:ph type="sldNum" sz="quarter" idx="12"/>
          </p:nvPr>
        </p:nvSpPr>
        <p:spPr/>
        <p:txBody>
          <a:bodyPr/>
          <a:lstStyle/>
          <a:p>
            <a:fld id="{9EA0BE3B-158A-4EDF-80DC-E394A0D1600F}" type="slidenum">
              <a:rPr lang="en-US" smtClean="0"/>
              <a:pPr/>
              <a:t>6</a:t>
            </a:fld>
            <a:endParaRPr lang="en-US"/>
          </a:p>
        </p:txBody>
      </p:sp>
    </p:spTree>
    <p:extLst>
      <p:ext uri="{BB962C8B-B14F-4D97-AF65-F5344CB8AC3E}">
        <p14:creationId xmlns:p14="http://schemas.microsoft.com/office/powerpoint/2010/main" val="887459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0E17C-8D58-8F63-158A-D455DC871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AE2C3-2715-02FA-E6A7-583D79347941}"/>
              </a:ext>
            </a:extLst>
          </p:cNvPr>
          <p:cNvSpPr>
            <a:spLocks noGrp="1"/>
          </p:cNvSpPr>
          <p:nvPr>
            <p:ph type="title"/>
          </p:nvPr>
        </p:nvSpPr>
        <p:spPr/>
        <p:txBody>
          <a:bodyPr/>
          <a:lstStyle/>
          <a:p>
            <a:r>
              <a:rPr lang="en-US"/>
              <a:t>1. Xác định vấn đề người dùng – Phân tích đối thủ cạnh tranh</a:t>
            </a:r>
          </a:p>
        </p:txBody>
      </p:sp>
      <p:sp>
        <p:nvSpPr>
          <p:cNvPr id="6" name="Slide Number Placeholder 5">
            <a:extLst>
              <a:ext uri="{FF2B5EF4-FFF2-40B4-BE49-F238E27FC236}">
                <a16:creationId xmlns:a16="http://schemas.microsoft.com/office/drawing/2014/main" id="{5D14E465-BA01-0DDB-7F11-C83B36BDB025}"/>
              </a:ext>
            </a:extLst>
          </p:cNvPr>
          <p:cNvSpPr>
            <a:spLocks noGrp="1"/>
          </p:cNvSpPr>
          <p:nvPr>
            <p:ph type="sldNum" sz="quarter" idx="12"/>
          </p:nvPr>
        </p:nvSpPr>
        <p:spPr/>
        <p:txBody>
          <a:bodyPr/>
          <a:lstStyle/>
          <a:p>
            <a:fld id="{9EA0BE3B-158A-4EDF-80DC-E394A0D1600F}" type="slidenum">
              <a:rPr lang="en-US" smtClean="0"/>
              <a:pPr/>
              <a:t>7</a:t>
            </a:fld>
            <a:endParaRPr lang="en-US"/>
          </a:p>
        </p:txBody>
      </p:sp>
      <p:graphicFrame>
        <p:nvGraphicFramePr>
          <p:cNvPr id="4" name="Table 3">
            <a:extLst>
              <a:ext uri="{FF2B5EF4-FFF2-40B4-BE49-F238E27FC236}">
                <a16:creationId xmlns:a16="http://schemas.microsoft.com/office/drawing/2014/main" id="{3B0A1A07-C0CE-B77F-77F5-E24346483B67}"/>
              </a:ext>
            </a:extLst>
          </p:cNvPr>
          <p:cNvGraphicFramePr>
            <a:graphicFrameLocks noGrp="1"/>
          </p:cNvGraphicFramePr>
          <p:nvPr>
            <p:extLst>
              <p:ext uri="{D42A27DB-BD31-4B8C-83A1-F6EECF244321}">
                <p14:modId xmlns:p14="http://schemas.microsoft.com/office/powerpoint/2010/main" val="1847406207"/>
              </p:ext>
            </p:extLst>
          </p:nvPr>
        </p:nvGraphicFramePr>
        <p:xfrm>
          <a:off x="337540" y="1497593"/>
          <a:ext cx="11515724" cy="3337560"/>
        </p:xfrm>
        <a:graphic>
          <a:graphicData uri="http://schemas.openxmlformats.org/drawingml/2006/table">
            <a:tbl>
              <a:tblPr firstRow="1" bandRow="1">
                <a:tableStyleId>{5C22544A-7EE6-4342-B048-85BDC9FD1C3A}</a:tableStyleId>
              </a:tblPr>
              <a:tblGrid>
                <a:gridCol w="4397904">
                  <a:extLst>
                    <a:ext uri="{9D8B030D-6E8A-4147-A177-3AD203B41FA5}">
                      <a16:colId xmlns:a16="http://schemas.microsoft.com/office/drawing/2014/main" val="811096282"/>
                    </a:ext>
                  </a:extLst>
                </a:gridCol>
                <a:gridCol w="1779455">
                  <a:extLst>
                    <a:ext uri="{9D8B030D-6E8A-4147-A177-3AD203B41FA5}">
                      <a16:colId xmlns:a16="http://schemas.microsoft.com/office/drawing/2014/main" val="120185162"/>
                    </a:ext>
                  </a:extLst>
                </a:gridCol>
                <a:gridCol w="1779455">
                  <a:extLst>
                    <a:ext uri="{9D8B030D-6E8A-4147-A177-3AD203B41FA5}">
                      <a16:colId xmlns:a16="http://schemas.microsoft.com/office/drawing/2014/main" val="452090040"/>
                    </a:ext>
                  </a:extLst>
                </a:gridCol>
                <a:gridCol w="1779455">
                  <a:extLst>
                    <a:ext uri="{9D8B030D-6E8A-4147-A177-3AD203B41FA5}">
                      <a16:colId xmlns:a16="http://schemas.microsoft.com/office/drawing/2014/main" val="1510230022"/>
                    </a:ext>
                  </a:extLst>
                </a:gridCol>
                <a:gridCol w="1779455">
                  <a:extLst>
                    <a:ext uri="{9D8B030D-6E8A-4147-A177-3AD203B41FA5}">
                      <a16:colId xmlns:a16="http://schemas.microsoft.com/office/drawing/2014/main" val="3885427704"/>
                    </a:ext>
                  </a:extLst>
                </a:gridCol>
              </a:tblGrid>
              <a:tr h="370840">
                <a:tc>
                  <a:txBody>
                    <a:bodyPr/>
                    <a:lstStyle/>
                    <a:p>
                      <a:pPr algn="ctr"/>
                      <a:r>
                        <a:rPr lang="en-US"/>
                        <a:t>Tính năng</a:t>
                      </a:r>
                    </a:p>
                  </a:txBody>
                  <a:tcPr anchor="ctr"/>
                </a:tc>
                <a:tc>
                  <a:txBody>
                    <a:bodyPr/>
                    <a:lstStyle/>
                    <a:p>
                      <a:pPr algn="ctr"/>
                      <a:r>
                        <a:rPr lang="en-US"/>
                        <a:t>TAKK Edu</a:t>
                      </a:r>
                    </a:p>
                  </a:txBody>
                  <a:tcPr anchor="ctr"/>
                </a:tc>
                <a:tc>
                  <a:txBody>
                    <a:bodyPr/>
                    <a:lstStyle/>
                    <a:p>
                      <a:pPr algn="ctr"/>
                      <a:r>
                        <a:rPr lang="en-US"/>
                        <a:t>Coursera</a:t>
                      </a:r>
                    </a:p>
                  </a:txBody>
                  <a:tcPr anchor="ctr"/>
                </a:tc>
                <a:tc>
                  <a:txBody>
                    <a:bodyPr/>
                    <a:lstStyle/>
                    <a:p>
                      <a:pPr algn="ctr"/>
                      <a:r>
                        <a:rPr lang="en-US"/>
                        <a:t>Udemy</a:t>
                      </a:r>
                    </a:p>
                  </a:txBody>
                  <a:tcPr anchor="ctr"/>
                </a:tc>
                <a:tc>
                  <a:txBody>
                    <a:bodyPr/>
                    <a:lstStyle/>
                    <a:p>
                      <a:pPr algn="ctr"/>
                      <a:r>
                        <a:rPr lang="en-US"/>
                        <a:t>GG Classroom</a:t>
                      </a:r>
                    </a:p>
                  </a:txBody>
                  <a:tcPr anchor="ctr"/>
                </a:tc>
                <a:extLst>
                  <a:ext uri="{0D108BD9-81ED-4DB2-BD59-A6C34878D82A}">
                    <a16:rowId xmlns:a16="http://schemas.microsoft.com/office/drawing/2014/main" val="1319831989"/>
                  </a:ext>
                </a:extLst>
              </a:tr>
              <a:tr h="370840">
                <a:tc>
                  <a:txBody>
                    <a:bodyPr/>
                    <a:lstStyle/>
                    <a:p>
                      <a:pPr algn="ctr"/>
                      <a:r>
                        <a:rPr lang="en-US" b="1"/>
                        <a:t>Đăng ký khóa học cá nhân</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endParaRPr lang="en-US"/>
                    </a:p>
                  </a:txBody>
                  <a:tcPr/>
                </a:tc>
                <a:extLst>
                  <a:ext uri="{0D108BD9-81ED-4DB2-BD59-A6C34878D82A}">
                    <a16:rowId xmlns:a16="http://schemas.microsoft.com/office/drawing/2014/main" val="1402946933"/>
                  </a:ext>
                </a:extLst>
              </a:tr>
              <a:tr h="370840">
                <a:tc>
                  <a:txBody>
                    <a:bodyPr/>
                    <a:lstStyle/>
                    <a:p>
                      <a:pPr algn="ctr"/>
                      <a:r>
                        <a:rPr lang="en-US" b="1"/>
                        <a:t>Đăng ký khóa học theo nhóm/lớp</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p>
                  </a:txBody>
                  <a:tcPr/>
                </a:tc>
                <a:extLst>
                  <a:ext uri="{0D108BD9-81ED-4DB2-BD59-A6C34878D82A}">
                    <a16:rowId xmlns:a16="http://schemas.microsoft.com/office/drawing/2014/main" val="3444533473"/>
                  </a:ext>
                </a:extLst>
              </a:tr>
              <a:tr h="370840">
                <a:tc>
                  <a:txBody>
                    <a:bodyPr/>
                    <a:lstStyle/>
                    <a:p>
                      <a:pPr algn="ctr"/>
                      <a:r>
                        <a:rPr lang="en-US" b="1"/>
                        <a:t>Khóa học quay sẵn</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endParaRPr lang="en-US">
                        <a:latin typeface="+mn-lt"/>
                      </a:endParaRPr>
                    </a:p>
                  </a:txBody>
                  <a:tcPr/>
                </a:tc>
                <a:tc>
                  <a:txBody>
                    <a:bodyPr/>
                    <a:lstStyle/>
                    <a:p>
                      <a:pPr marL="0" indent="0" algn="ctr">
                        <a:buFont typeface="Arial" panose="020B0604020202020204" pitchFamily="34" charset="0"/>
                        <a:buNone/>
                      </a:pPr>
                      <a:endParaRPr lang="en-US">
                        <a:latin typeface="+mn-lt"/>
                      </a:endParaRPr>
                    </a:p>
                  </a:txBody>
                  <a:tcPr/>
                </a:tc>
                <a:extLst>
                  <a:ext uri="{0D108BD9-81ED-4DB2-BD59-A6C34878D82A}">
                    <a16:rowId xmlns:a16="http://schemas.microsoft.com/office/drawing/2014/main" val="1707736855"/>
                  </a:ext>
                </a:extLst>
              </a:tr>
              <a:tr h="370840">
                <a:tc>
                  <a:txBody>
                    <a:bodyPr/>
                    <a:lstStyle/>
                    <a:p>
                      <a:pPr algn="ctr"/>
                      <a:r>
                        <a:rPr lang="en-US" b="1"/>
                        <a:t>Khóa học trực tiếp thời gian thực</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endParaRPr lang="en-US">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p>
                  </a:txBody>
                  <a:tcPr/>
                </a:tc>
                <a:extLst>
                  <a:ext uri="{0D108BD9-81ED-4DB2-BD59-A6C34878D82A}">
                    <a16:rowId xmlns:a16="http://schemas.microsoft.com/office/drawing/2014/main" val="2344279854"/>
                  </a:ext>
                </a:extLst>
              </a:tr>
              <a:tr h="370840">
                <a:tc>
                  <a:txBody>
                    <a:bodyPr/>
                    <a:lstStyle/>
                    <a:p>
                      <a:pPr algn="ctr"/>
                      <a:r>
                        <a:rPr lang="en-US" b="1"/>
                        <a:t>Chat/hỏi đáp thời gian thực với giáo viên</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endParaRPr lang="en-US">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p>
                  </a:txBody>
                  <a:tcPr/>
                </a:tc>
                <a:extLst>
                  <a:ext uri="{0D108BD9-81ED-4DB2-BD59-A6C34878D82A}">
                    <a16:rowId xmlns:a16="http://schemas.microsoft.com/office/drawing/2014/main" val="1635527479"/>
                  </a:ext>
                </a:extLst>
              </a:tr>
              <a:tr h="370840">
                <a:tc>
                  <a:txBody>
                    <a:bodyPr/>
                    <a:lstStyle/>
                    <a:p>
                      <a:pPr algn="ctr"/>
                      <a:r>
                        <a:rPr lang="en-US" b="1"/>
                        <a:t>Nhận thông báo khi có cập nhật khóa học</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endParaRPr lang="en-US">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p>
                  </a:txBody>
                  <a:tcPr/>
                </a:tc>
                <a:extLst>
                  <a:ext uri="{0D108BD9-81ED-4DB2-BD59-A6C34878D82A}">
                    <a16:rowId xmlns:a16="http://schemas.microsoft.com/office/drawing/2014/main" val="2679292585"/>
                  </a:ext>
                </a:extLst>
              </a:tr>
              <a:tr h="370840">
                <a:tc>
                  <a:txBody>
                    <a:bodyPr/>
                    <a:lstStyle/>
                    <a:p>
                      <a:pPr algn="ctr"/>
                      <a:r>
                        <a:rPr lang="en-US" b="1"/>
                        <a:t>Nhận thông báo khi người dạy ra khóa mới</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r>
                        <a:rPr lang="en-US"/>
                        <a:t>✓</a:t>
                      </a:r>
                      <a:endParaRPr lang="en-US">
                        <a:latin typeface="+mn-lt"/>
                      </a:endParaRPr>
                    </a:p>
                  </a:txBody>
                  <a:tcPr/>
                </a:tc>
                <a:tc>
                  <a:txBody>
                    <a:bodyPr/>
                    <a:lstStyle/>
                    <a:p>
                      <a:pPr marL="0" indent="0" algn="ctr">
                        <a:buFont typeface="Arial" panose="020B0604020202020204" pitchFamily="34" charset="0"/>
                        <a:buNone/>
                      </a:pPr>
                      <a:endParaRPr lang="en-US">
                        <a:latin typeface="+mn-lt"/>
                      </a:endParaRPr>
                    </a:p>
                  </a:txBody>
                  <a:tcPr/>
                </a:tc>
                <a:extLst>
                  <a:ext uri="{0D108BD9-81ED-4DB2-BD59-A6C34878D82A}">
                    <a16:rowId xmlns:a16="http://schemas.microsoft.com/office/drawing/2014/main" val="1866344479"/>
                  </a:ext>
                </a:extLst>
              </a:tr>
              <a:tr h="370840">
                <a:tc>
                  <a:txBody>
                    <a:bodyPr/>
                    <a:lstStyle/>
                    <a:p>
                      <a:pPr algn="ctr"/>
                      <a:r>
                        <a:rPr lang="en-US" b="1"/>
                        <a:t>Thông báo, nhắc nhở tiến độ học</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endParaRPr lang="en-US">
                        <a:latin typeface="+mn-lt"/>
                      </a:endParaRPr>
                    </a:p>
                  </a:txBody>
                  <a:tcPr/>
                </a:tc>
                <a:tc>
                  <a:txBody>
                    <a:bodyPr/>
                    <a:lstStyle/>
                    <a:p>
                      <a:pPr marL="0" indent="0" algn="ctr">
                        <a:buFont typeface="Arial" panose="020B0604020202020204" pitchFamily="34" charset="0"/>
                        <a:buNone/>
                      </a:pPr>
                      <a:endParaRPr lang="en-US">
                        <a:latin typeface="+mn-lt"/>
                      </a:endParaRPr>
                    </a:p>
                  </a:txBody>
                  <a:tcPr/>
                </a:tc>
                <a:extLst>
                  <a:ext uri="{0D108BD9-81ED-4DB2-BD59-A6C34878D82A}">
                    <a16:rowId xmlns:a16="http://schemas.microsoft.com/office/drawing/2014/main" val="4215468794"/>
                  </a:ext>
                </a:extLst>
              </a:tr>
            </a:tbl>
          </a:graphicData>
        </a:graphic>
      </p:graphicFrame>
      <p:sp>
        <p:nvSpPr>
          <p:cNvPr id="3" name="Text Placeholder 2">
            <a:extLst>
              <a:ext uri="{FF2B5EF4-FFF2-40B4-BE49-F238E27FC236}">
                <a16:creationId xmlns:a16="http://schemas.microsoft.com/office/drawing/2014/main" id="{1DBCE6FD-991C-5644-AC86-2D4911764665}"/>
              </a:ext>
            </a:extLst>
          </p:cNvPr>
          <p:cNvSpPr>
            <a:spLocks noGrp="1"/>
          </p:cNvSpPr>
          <p:nvPr>
            <p:ph type="body" sz="quarter" idx="13"/>
          </p:nvPr>
        </p:nvSpPr>
        <p:spPr>
          <a:xfrm>
            <a:off x="338735" y="5219699"/>
            <a:ext cx="11515725" cy="1427163"/>
          </a:xfrm>
        </p:spPr>
        <p:txBody>
          <a:bodyPr/>
          <a:lstStyle/>
          <a:p>
            <a:r>
              <a:rPr lang="en-US"/>
              <a:t>Bài học, cơ hội, định vị cho TAKK Edu:</a:t>
            </a:r>
          </a:p>
          <a:p>
            <a:pPr lvl="1"/>
            <a:r>
              <a:rPr lang="en-US"/>
              <a:t>Kết hợp khóa học quay sẵn và khóa học tương tác trực tiếp.</a:t>
            </a:r>
          </a:p>
        </p:txBody>
      </p:sp>
      <p:sp>
        <p:nvSpPr>
          <p:cNvPr id="5" name="Text Placeholder 2">
            <a:extLst>
              <a:ext uri="{FF2B5EF4-FFF2-40B4-BE49-F238E27FC236}">
                <a16:creationId xmlns:a16="http://schemas.microsoft.com/office/drawing/2014/main" id="{B54A12FE-CEFD-1DCB-AAF9-920F4E59BFB7}"/>
              </a:ext>
            </a:extLst>
          </p:cNvPr>
          <p:cNvSpPr txBox="1">
            <a:spLocks/>
          </p:cNvSpPr>
          <p:nvPr/>
        </p:nvSpPr>
        <p:spPr>
          <a:xfrm>
            <a:off x="337540" y="957419"/>
            <a:ext cx="11515725" cy="14271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Phân tích đối thủ cạnh tranh:</a:t>
            </a:r>
          </a:p>
        </p:txBody>
      </p:sp>
    </p:spTree>
    <p:extLst>
      <p:ext uri="{BB962C8B-B14F-4D97-AF65-F5344CB8AC3E}">
        <p14:creationId xmlns:p14="http://schemas.microsoft.com/office/powerpoint/2010/main" val="920328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CAE08-D33E-C9BB-C467-DD07DCCA8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F2588-10DD-8B12-1767-17BA7D01538F}"/>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F1C54BBF-A1FC-27D0-0265-80690F18703D}"/>
              </a:ext>
            </a:extLst>
          </p:cNvPr>
          <p:cNvSpPr>
            <a:spLocks noGrp="1"/>
          </p:cNvSpPr>
          <p:nvPr>
            <p:ph type="body" sz="quarter" idx="13"/>
          </p:nvPr>
        </p:nvSpPr>
        <p:spPr/>
        <p:txBody>
          <a:bodyPr/>
          <a:lstStyle/>
          <a:p>
            <a:r>
              <a:rPr lang="en-US"/>
              <a:t>Tổng hợp kết quả nghiên cứu:</a:t>
            </a:r>
          </a:p>
          <a:p>
            <a:pPr lvl="1"/>
            <a:r>
              <a:rPr lang="en-US"/>
              <a:t>Affinity mapping:</a:t>
            </a:r>
          </a:p>
        </p:txBody>
      </p:sp>
      <p:sp>
        <p:nvSpPr>
          <p:cNvPr id="6" name="Slide Number Placeholder 5">
            <a:extLst>
              <a:ext uri="{FF2B5EF4-FFF2-40B4-BE49-F238E27FC236}">
                <a16:creationId xmlns:a16="http://schemas.microsoft.com/office/drawing/2014/main" id="{DD72ED96-5278-0DB6-FD70-A5B17B951968}"/>
              </a:ext>
            </a:extLst>
          </p:cNvPr>
          <p:cNvSpPr>
            <a:spLocks noGrp="1"/>
          </p:cNvSpPr>
          <p:nvPr>
            <p:ph type="sldNum" sz="quarter" idx="12"/>
          </p:nvPr>
        </p:nvSpPr>
        <p:spPr/>
        <p:txBody>
          <a:bodyPr/>
          <a:lstStyle/>
          <a:p>
            <a:fld id="{9EA0BE3B-158A-4EDF-80DC-E394A0D1600F}" type="slidenum">
              <a:rPr lang="en-US" smtClean="0"/>
              <a:pPr/>
              <a:t>8</a:t>
            </a:fld>
            <a:endParaRPr lang="en-US"/>
          </a:p>
        </p:txBody>
      </p:sp>
      <p:graphicFrame>
        <p:nvGraphicFramePr>
          <p:cNvPr id="4" name="Table 3">
            <a:extLst>
              <a:ext uri="{FF2B5EF4-FFF2-40B4-BE49-F238E27FC236}">
                <a16:creationId xmlns:a16="http://schemas.microsoft.com/office/drawing/2014/main" id="{62A9FEBB-59C8-4691-D864-CE7E611CD937}"/>
              </a:ext>
            </a:extLst>
          </p:cNvPr>
          <p:cNvGraphicFramePr>
            <a:graphicFrameLocks noGrp="1"/>
          </p:cNvGraphicFramePr>
          <p:nvPr>
            <p:extLst>
              <p:ext uri="{D42A27DB-BD31-4B8C-83A1-F6EECF244321}">
                <p14:modId xmlns:p14="http://schemas.microsoft.com/office/powerpoint/2010/main" val="2154628382"/>
              </p:ext>
            </p:extLst>
          </p:nvPr>
        </p:nvGraphicFramePr>
        <p:xfrm>
          <a:off x="337539" y="2217103"/>
          <a:ext cx="11514528" cy="3754120"/>
        </p:xfrm>
        <a:graphic>
          <a:graphicData uri="http://schemas.openxmlformats.org/drawingml/2006/table">
            <a:tbl>
              <a:tblPr firstRow="1" bandRow="1">
                <a:tableStyleId>{5C22544A-7EE6-4342-B048-85BDC9FD1C3A}</a:tableStyleId>
              </a:tblPr>
              <a:tblGrid>
                <a:gridCol w="3838176">
                  <a:extLst>
                    <a:ext uri="{9D8B030D-6E8A-4147-A177-3AD203B41FA5}">
                      <a16:colId xmlns:a16="http://schemas.microsoft.com/office/drawing/2014/main" val="321513273"/>
                    </a:ext>
                  </a:extLst>
                </a:gridCol>
                <a:gridCol w="3838176">
                  <a:extLst>
                    <a:ext uri="{9D8B030D-6E8A-4147-A177-3AD203B41FA5}">
                      <a16:colId xmlns:a16="http://schemas.microsoft.com/office/drawing/2014/main" val="445301018"/>
                    </a:ext>
                  </a:extLst>
                </a:gridCol>
                <a:gridCol w="3838176">
                  <a:extLst>
                    <a:ext uri="{9D8B030D-6E8A-4147-A177-3AD203B41FA5}">
                      <a16:colId xmlns:a16="http://schemas.microsoft.com/office/drawing/2014/main" val="445233930"/>
                    </a:ext>
                  </a:extLst>
                </a:gridCol>
              </a:tblGrid>
              <a:tr h="370840">
                <a:tc>
                  <a:txBody>
                    <a:bodyPr/>
                    <a:lstStyle/>
                    <a:p>
                      <a:pPr algn="ctr"/>
                      <a:r>
                        <a:rPr lang="en-US"/>
                        <a:t>Chủ đề</a:t>
                      </a:r>
                    </a:p>
                  </a:txBody>
                  <a:tcPr/>
                </a:tc>
                <a:tc>
                  <a:txBody>
                    <a:bodyPr/>
                    <a:lstStyle/>
                    <a:p>
                      <a:pPr algn="ctr"/>
                      <a:r>
                        <a:rPr lang="en-US"/>
                        <a:t>Nhóm ý kiến người dùng</a:t>
                      </a:r>
                    </a:p>
                  </a:txBody>
                  <a:tcPr/>
                </a:tc>
                <a:tc>
                  <a:txBody>
                    <a:bodyPr/>
                    <a:lstStyle/>
                    <a:p>
                      <a:pPr algn="ctr"/>
                      <a:r>
                        <a:rPr lang="en-US"/>
                        <a:t>Insight rút ra</a:t>
                      </a:r>
                    </a:p>
                  </a:txBody>
                  <a:tcPr/>
                </a:tc>
                <a:extLst>
                  <a:ext uri="{0D108BD9-81ED-4DB2-BD59-A6C34878D82A}">
                    <a16:rowId xmlns:a16="http://schemas.microsoft.com/office/drawing/2014/main" val="1337168990"/>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Khó tìm khóa học phù hợp</a:t>
                      </a:r>
                    </a:p>
                  </a:txBody>
                  <a:tcPr/>
                </a:tc>
                <a:tc>
                  <a:txBody>
                    <a:bodyPr/>
                    <a:lstStyle/>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“Tôi không biết bắt đầu từ đâu.”</a:t>
                      </a:r>
                    </a:p>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“Không có gợi ý phù hợp với nhu cầu cá nhân.”</a:t>
                      </a: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Cần hệ thống gợi ý cá nhân hóa, hướng dẫn học viên chọn lộ trình.</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531287738"/>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Giao diện rối, thiếu tiếng Việt</a:t>
                      </a:r>
                    </a:p>
                  </a:txBody>
                  <a:tcPr/>
                </a:tc>
                <a:tc>
                  <a:txBody>
                    <a:bodyPr/>
                    <a:lstStyle/>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“Có quá nhiều mục, tôi không biết nhấn vào đâu.”</a:t>
                      </a:r>
                    </a:p>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“Coursera toàn tiếng Anh.”</a:t>
                      </a: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Giao diện nên đơn giản, thân thiện, hỗ trợ tiếng Việt.</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33589822"/>
                  </a:ext>
                </a:extLst>
              </a:tr>
              <a:tr h="370840">
                <a:tc>
                  <a:txBody>
                    <a:bodyPr/>
                    <a:lstStyle/>
                    <a:p>
                      <a:r>
                        <a:rPr lang="vi-VN">
                          <a:latin typeface="Calibri" panose="020F0502020204030204" pitchFamily="34" charset="0"/>
                          <a:ea typeface="Calibri" panose="020F0502020204030204" pitchFamily="34" charset="0"/>
                          <a:cs typeface="Calibri" panose="020F0502020204030204" pitchFamily="34" charset="0"/>
                        </a:rPr>
                        <a:t>Thiếu tương tác </a:t>
                      </a:r>
                      <a:r>
                        <a:rPr lang="en-US">
                          <a:latin typeface="Calibri" panose="020F0502020204030204" pitchFamily="34" charset="0"/>
                          <a:ea typeface="Calibri" panose="020F0502020204030204" pitchFamily="34" charset="0"/>
                          <a:cs typeface="Calibri" panose="020F0502020204030204" pitchFamily="34" charset="0"/>
                        </a:rPr>
                        <a:t>trực tiếp</a:t>
                      </a:r>
                    </a:p>
                  </a:txBody>
                  <a:tcPr/>
                </a:tc>
                <a:tc>
                  <a:txBody>
                    <a:bodyPr/>
                    <a:lstStyle/>
                    <a:p>
                      <a:pPr marL="285750" indent="-285750">
                        <a:buFont typeface="Arial" panose="020B0604020202020204" pitchFamily="34" charset="0"/>
                        <a:buChar char="•"/>
                      </a:pPr>
                      <a:r>
                        <a:rPr lang="vi-VN">
                          <a:latin typeface="Calibri" panose="020F0502020204030204" pitchFamily="34" charset="0"/>
                          <a:ea typeface="Calibri" panose="020F0502020204030204" pitchFamily="34" charset="0"/>
                          <a:cs typeface="Calibri" panose="020F0502020204030204" pitchFamily="34" charset="0"/>
                        </a:rPr>
                        <a:t>“Giảng viên chỉ đăng video, không trả lời câu hỏi.”</a:t>
                      </a:r>
                      <a:endParaRPr lang="en-US">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vi-VN">
                          <a:latin typeface="Calibri" panose="020F0502020204030204" pitchFamily="34" charset="0"/>
                          <a:ea typeface="Calibri" panose="020F0502020204030204" pitchFamily="34" charset="0"/>
                          <a:cs typeface="Calibri" panose="020F0502020204030204" pitchFamily="34" charset="0"/>
                        </a:rPr>
                        <a:t>“Tôi muốn được h</a:t>
                      </a:r>
                      <a:r>
                        <a:rPr lang="en-US">
                          <a:latin typeface="Calibri" panose="020F0502020204030204" pitchFamily="34" charset="0"/>
                          <a:ea typeface="Calibri" panose="020F0502020204030204" pitchFamily="34" charset="0"/>
                          <a:cs typeface="Calibri" panose="020F0502020204030204" pitchFamily="34" charset="0"/>
                        </a:rPr>
                        <a:t>ọc</a:t>
                      </a:r>
                      <a:r>
                        <a:rPr lang="vi-VN">
                          <a:latin typeface="Calibri" panose="020F0502020204030204" pitchFamily="34" charset="0"/>
                          <a:ea typeface="Calibri" panose="020F0502020204030204" pitchFamily="34" charset="0"/>
                          <a:cs typeface="Calibri" panose="020F0502020204030204" pitchFamily="34" charset="0"/>
                        </a:rPr>
                        <a:t> trực tiếp.”</a:t>
                      </a:r>
                      <a:endParaRPr lang="en-US">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Nhu cầu mạnh về tương tác 2 chiều (Q&amp;A, chat, </a:t>
                      </a:r>
                      <a:r>
                        <a:rPr lang="en-US" b="1">
                          <a:latin typeface="Calibri" panose="020F0502020204030204" pitchFamily="34" charset="0"/>
                          <a:ea typeface="Calibri" panose="020F0502020204030204" pitchFamily="34" charset="0"/>
                          <a:cs typeface="Calibri" panose="020F0502020204030204" pitchFamily="34" charset="0"/>
                        </a:rPr>
                        <a:t>live-stream</a:t>
                      </a:r>
                      <a:r>
                        <a:rPr lang="vi-VN">
                          <a:latin typeface="Calibri" panose="020F0502020204030204" pitchFamily="34" charset="0"/>
                          <a:ea typeface="Calibri" panose="020F0502020204030204" pitchFamily="34" charset="0"/>
                          <a:cs typeface="Calibri" panose="020F0502020204030204" pitchFamily="34" charset="0"/>
                        </a:rPr>
                        <a:t>).</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380235845"/>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Thiếu linh hoạt giữa các thiết bị</a:t>
                      </a:r>
                    </a:p>
                  </a:txBody>
                  <a:tcPr/>
                </a:tc>
                <a:tc>
                  <a:txBody>
                    <a:bodyPr/>
                    <a:lstStyle/>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“Giao diện trên điện thoại không hiển thị đầy đủ chức năng.”</a:t>
                      </a: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Cần </a:t>
                      </a:r>
                      <a:r>
                        <a:rPr lang="en-US">
                          <a:latin typeface="Calibri" panose="020F0502020204030204" pitchFamily="34" charset="0"/>
                          <a:ea typeface="Calibri" panose="020F0502020204030204" pitchFamily="34" charset="0"/>
                          <a:cs typeface="Calibri" panose="020F0502020204030204" pitchFamily="34" charset="0"/>
                        </a:rPr>
                        <a:t>hỗ trợ </a:t>
                      </a:r>
                      <a:r>
                        <a:rPr lang="vi-VN">
                          <a:latin typeface="Calibri" panose="020F0502020204030204" pitchFamily="34" charset="0"/>
                          <a:ea typeface="Calibri" panose="020F0502020204030204" pitchFamily="34" charset="0"/>
                          <a:cs typeface="Calibri" panose="020F0502020204030204" pitchFamily="34" charset="0"/>
                        </a:rPr>
                        <a:t>đa nền tảng (desktop, mobile web, app).</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92896040"/>
                  </a:ext>
                </a:extLst>
              </a:tr>
            </a:tbl>
          </a:graphicData>
        </a:graphic>
      </p:graphicFrame>
    </p:spTree>
    <p:extLst>
      <p:ext uri="{BB962C8B-B14F-4D97-AF65-F5344CB8AC3E}">
        <p14:creationId xmlns:p14="http://schemas.microsoft.com/office/powerpoint/2010/main" val="1063506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67D47-2003-176F-0731-F4354574C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55282-5A83-211C-DFC9-C00F85E8F84C}"/>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1DC6D6D3-2C34-122C-265B-E9D12D08D391}"/>
              </a:ext>
            </a:extLst>
          </p:cNvPr>
          <p:cNvSpPr>
            <a:spLocks noGrp="1"/>
          </p:cNvSpPr>
          <p:nvPr>
            <p:ph type="body" sz="quarter" idx="13"/>
          </p:nvPr>
        </p:nvSpPr>
        <p:spPr>
          <a:xfrm>
            <a:off x="337539" y="1073150"/>
            <a:ext cx="11515725" cy="4938713"/>
          </a:xfrm>
        </p:spPr>
        <p:txBody>
          <a:bodyPr/>
          <a:lstStyle/>
          <a:p>
            <a:r>
              <a:rPr lang="en-US"/>
              <a:t>Tổng hợp kết quả nghiên cứu:</a:t>
            </a:r>
          </a:p>
          <a:p>
            <a:pPr lvl="1"/>
            <a:r>
              <a:rPr lang="en-US"/>
              <a:t>Lean UX canvas:</a:t>
            </a:r>
          </a:p>
        </p:txBody>
      </p:sp>
      <p:sp>
        <p:nvSpPr>
          <p:cNvPr id="6" name="Slide Number Placeholder 5">
            <a:extLst>
              <a:ext uri="{FF2B5EF4-FFF2-40B4-BE49-F238E27FC236}">
                <a16:creationId xmlns:a16="http://schemas.microsoft.com/office/drawing/2014/main" id="{0F3B0ED4-F55A-A193-1415-BEDDC6129BAE}"/>
              </a:ext>
            </a:extLst>
          </p:cNvPr>
          <p:cNvSpPr>
            <a:spLocks noGrp="1"/>
          </p:cNvSpPr>
          <p:nvPr>
            <p:ph type="sldNum" sz="quarter" idx="12"/>
          </p:nvPr>
        </p:nvSpPr>
        <p:spPr/>
        <p:txBody>
          <a:bodyPr/>
          <a:lstStyle/>
          <a:p>
            <a:fld id="{9EA0BE3B-158A-4EDF-80DC-E394A0D1600F}" type="slidenum">
              <a:rPr lang="en-US" smtClean="0"/>
              <a:pPr/>
              <a:t>9</a:t>
            </a:fld>
            <a:endParaRPr lang="en-US"/>
          </a:p>
        </p:txBody>
      </p:sp>
      <p:graphicFrame>
        <p:nvGraphicFramePr>
          <p:cNvPr id="5" name="Table 4">
            <a:extLst>
              <a:ext uri="{FF2B5EF4-FFF2-40B4-BE49-F238E27FC236}">
                <a16:creationId xmlns:a16="http://schemas.microsoft.com/office/drawing/2014/main" id="{58564589-8F77-B8DC-2DCD-1C31B592818E}"/>
              </a:ext>
            </a:extLst>
          </p:cNvPr>
          <p:cNvGraphicFramePr>
            <a:graphicFrameLocks noGrp="1"/>
          </p:cNvGraphicFramePr>
          <p:nvPr>
            <p:extLst>
              <p:ext uri="{D42A27DB-BD31-4B8C-83A1-F6EECF244321}">
                <p14:modId xmlns:p14="http://schemas.microsoft.com/office/powerpoint/2010/main" val="4234890442"/>
              </p:ext>
            </p:extLst>
          </p:nvPr>
        </p:nvGraphicFramePr>
        <p:xfrm>
          <a:off x="337539" y="2079943"/>
          <a:ext cx="11514528" cy="3931920"/>
        </p:xfrm>
        <a:graphic>
          <a:graphicData uri="http://schemas.openxmlformats.org/drawingml/2006/table">
            <a:tbl>
              <a:tblPr>
                <a:tableStyleId>{5C22544A-7EE6-4342-B048-85BDC9FD1C3A}</a:tableStyleId>
              </a:tblPr>
              <a:tblGrid>
                <a:gridCol w="4122495">
                  <a:extLst>
                    <a:ext uri="{9D8B030D-6E8A-4147-A177-3AD203B41FA5}">
                      <a16:colId xmlns:a16="http://schemas.microsoft.com/office/drawing/2014/main" val="2995128598"/>
                    </a:ext>
                  </a:extLst>
                </a:gridCol>
                <a:gridCol w="2976465">
                  <a:extLst>
                    <a:ext uri="{9D8B030D-6E8A-4147-A177-3AD203B41FA5}">
                      <a16:colId xmlns:a16="http://schemas.microsoft.com/office/drawing/2014/main" val="610086175"/>
                    </a:ext>
                  </a:extLst>
                </a:gridCol>
                <a:gridCol w="4415568">
                  <a:extLst>
                    <a:ext uri="{9D8B030D-6E8A-4147-A177-3AD203B41FA5}">
                      <a16:colId xmlns:a16="http://schemas.microsoft.com/office/drawing/2014/main" val="897225913"/>
                    </a:ext>
                  </a:extLst>
                </a:gridCol>
              </a:tblGrid>
              <a:tr h="370840">
                <a:tc>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Business problem</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Thiếu tương tác trực tiếp với người dạy.</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Thiếu động lực hoàn thành khóa học.</a:t>
                      </a:r>
                    </a:p>
                  </a:txBody>
                  <a:tcPr/>
                </a:tc>
                <a:tc rowSpan="2">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Solutions</a:t>
                      </a:r>
                    </a:p>
                    <a:p>
                      <a:pPr marL="0" indent="0" algn="l">
                        <a:buFont typeface="Arial" panose="020B0604020202020204" pitchFamily="34" charset="0"/>
                        <a:buNone/>
                      </a:pPr>
                      <a:r>
                        <a:rPr lang="en-US" sz="1600">
                          <a:latin typeface="Calibri" panose="020F0502020204030204" pitchFamily="34" charset="0"/>
                          <a:ea typeface="Calibri" panose="020F0502020204030204" pitchFamily="34" charset="0"/>
                          <a:cs typeface="Calibri" panose="020F0502020204030204" pitchFamily="34" charset="0"/>
                        </a:rPr>
                        <a:t>Tính năng live-streaming, Q&amp;A, phản hồi nhanh… tích hợp vào hệ thống LMS.</a:t>
                      </a:r>
                    </a:p>
                  </a:txBody>
                  <a:tcPr/>
                </a:tc>
                <a:tc>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Business outcomes</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Tăng tỷ </a:t>
                      </a:r>
                      <a:r>
                        <a:rPr lang="vi-VN" sz="1600">
                          <a:latin typeface="Calibri" panose="020F0502020204030204" pitchFamily="34" charset="0"/>
                          <a:ea typeface="Calibri" panose="020F0502020204030204" pitchFamily="34" charset="0"/>
                          <a:cs typeface="Calibri" panose="020F0502020204030204" pitchFamily="34" charset="0"/>
                        </a:rPr>
                        <a:t>lệ</a:t>
                      </a:r>
                      <a:r>
                        <a:rPr lang="en-US" sz="1600">
                          <a:latin typeface="Calibri" panose="020F0502020204030204" pitchFamily="34" charset="0"/>
                          <a:ea typeface="Calibri" panose="020F0502020204030204" pitchFamily="34" charset="0"/>
                          <a:cs typeface="Calibri" panose="020F0502020204030204" pitchFamily="34" charset="0"/>
                        </a:rPr>
                        <a:t> người học</a:t>
                      </a:r>
                      <a:r>
                        <a:rPr lang="vi-VN" sz="1600">
                          <a:latin typeface="Calibri" panose="020F0502020204030204" pitchFamily="34" charset="0"/>
                          <a:ea typeface="Calibri" panose="020F0502020204030204" pitchFamily="34" charset="0"/>
                          <a:cs typeface="Calibri" panose="020F0502020204030204" pitchFamily="34" charset="0"/>
                        </a:rPr>
                        <a:t> hoàn thành khóa học.</a:t>
                      </a:r>
                    </a:p>
                  </a:txBody>
                  <a:tcPr/>
                </a:tc>
                <a:extLst>
                  <a:ext uri="{0D108BD9-81ED-4DB2-BD59-A6C34878D82A}">
                    <a16:rowId xmlns:a16="http://schemas.microsoft.com/office/drawing/2014/main" val="3813855543"/>
                  </a:ext>
                </a:extLst>
              </a:tr>
              <a:tr h="370840">
                <a:tc>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Users</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Học sinh, sinh viên, người đi làm tại Việt Nam có nhu cầu học khóa học online.</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Giáo viên tự do, trung tâm đào tạo nhỏ cần hệ thống LMS tiết kiệm và nhanh triển khai.</a:t>
                      </a:r>
                    </a:p>
                    <a:p>
                      <a:pPr algn="l"/>
                      <a:endParaRPr lang="en-US" sz="1600">
                        <a:latin typeface="Calibri" panose="020F0502020204030204" pitchFamily="34" charset="0"/>
                        <a:ea typeface="Calibri" panose="020F0502020204030204" pitchFamily="34" charset="0"/>
                        <a:cs typeface="Calibri" panose="020F0502020204030204" pitchFamily="34" charset="0"/>
                      </a:endParaRPr>
                    </a:p>
                  </a:txBody>
                  <a:tcPr/>
                </a:tc>
                <a:tc vMerge="1">
                  <a:txBody>
                    <a:bodyPr/>
                    <a:lstStyle/>
                    <a:p>
                      <a:endParaRPr lang="en-US"/>
                    </a:p>
                  </a:txBody>
                  <a:tcPr/>
                </a:tc>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User Outcomes &amp; Benefits</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Giảm thời gian</a:t>
                      </a:r>
                      <a:r>
                        <a:rPr lang="en-US" sz="1600">
                          <a:latin typeface="Calibri" panose="020F0502020204030204" pitchFamily="34" charset="0"/>
                          <a:ea typeface="Calibri" panose="020F0502020204030204" pitchFamily="34" charset="0"/>
                          <a:cs typeface="Calibri" panose="020F0502020204030204" pitchFamily="34" charset="0"/>
                        </a:rPr>
                        <a:t> người dạy</a:t>
                      </a:r>
                      <a:r>
                        <a:rPr lang="vi-VN" sz="1600">
                          <a:latin typeface="Calibri" panose="020F0502020204030204" pitchFamily="34" charset="0"/>
                          <a:ea typeface="Calibri" panose="020F0502020204030204" pitchFamily="34" charset="0"/>
                          <a:cs typeface="Calibri" panose="020F0502020204030204" pitchFamily="34" charset="0"/>
                        </a:rPr>
                        <a:t> quản lý khóa học</a:t>
                      </a:r>
                      <a:r>
                        <a:rPr lang="en-US" sz="1600">
                          <a:latin typeface="Calibri" panose="020F0502020204030204" pitchFamily="34" charset="0"/>
                          <a:ea typeface="Calibri" panose="020F0502020204030204" pitchFamily="34" charset="0"/>
                          <a:cs typeface="Calibri" panose="020F0502020204030204" pitchFamily="34" charset="0"/>
                        </a:rPr>
                        <a:t> để dành cho việc cải thiện chất lượng bài giảng.</a:t>
                      </a:r>
                      <a:endParaRPr lang="vi-VN"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Tăng tương tác và động lực học.</a:t>
                      </a:r>
                    </a:p>
                  </a:txBody>
                  <a:tcPr/>
                </a:tc>
                <a:extLst>
                  <a:ext uri="{0D108BD9-81ED-4DB2-BD59-A6C34878D82A}">
                    <a16:rowId xmlns:a16="http://schemas.microsoft.com/office/drawing/2014/main" val="674790250"/>
                  </a:ext>
                </a:extLst>
              </a:tr>
              <a:tr h="370840">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Hypotheses</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Nếu giao diện thân thiện</a:t>
                      </a:r>
                      <a:r>
                        <a:rPr lang="en-US" sz="1600">
                          <a:latin typeface="Calibri" panose="020F0502020204030204" pitchFamily="34" charset="0"/>
                          <a:ea typeface="Calibri" panose="020F0502020204030204" pitchFamily="34" charset="0"/>
                          <a:cs typeface="Calibri" panose="020F0502020204030204" pitchFamily="34" charset="0"/>
                        </a:rPr>
                        <a:t>, </a:t>
                      </a:r>
                      <a:r>
                        <a:rPr lang="vi-VN" sz="1600">
                          <a:latin typeface="Calibri" panose="020F0502020204030204" pitchFamily="34" charset="0"/>
                          <a:ea typeface="Calibri" panose="020F0502020204030204" pitchFamily="34" charset="0"/>
                          <a:cs typeface="Calibri" panose="020F0502020204030204" pitchFamily="34" charset="0"/>
                        </a:rPr>
                        <a:t>có tương tác</a:t>
                      </a:r>
                      <a:r>
                        <a:rPr lang="en-US" sz="1600">
                          <a:latin typeface="Calibri" panose="020F0502020204030204" pitchFamily="34" charset="0"/>
                          <a:ea typeface="Calibri" panose="020F0502020204030204" pitchFamily="34" charset="0"/>
                          <a:cs typeface="Calibri" panose="020F0502020204030204" pitchFamily="34" charset="0"/>
                        </a:rPr>
                        <a:t> và có nhắc nhở</a:t>
                      </a:r>
                      <a:r>
                        <a:rPr lang="vi-VN" sz="1600">
                          <a:latin typeface="Calibri" panose="020F0502020204030204" pitchFamily="34" charset="0"/>
                          <a:ea typeface="Calibri" panose="020F0502020204030204" pitchFamily="34" charset="0"/>
                          <a:cs typeface="Calibri" panose="020F0502020204030204" pitchFamily="34" charset="0"/>
                        </a:rPr>
                        <a:t>, người học sẽ quay lại thường xuyên hơn</a:t>
                      </a:r>
                      <a:r>
                        <a:rPr lang="en-US" sz="1600">
                          <a:latin typeface="Calibri" panose="020F0502020204030204" pitchFamily="34" charset="0"/>
                          <a:ea typeface="Calibri" panose="020F0502020204030204" pitchFamily="34" charset="0"/>
                          <a:cs typeface="Calibri" panose="020F0502020204030204" pitchFamily="34" charset="0"/>
                        </a:rPr>
                        <a:t>.</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Nếu giảng viên dễ quản lý, họ </a:t>
                      </a:r>
                      <a:r>
                        <a:rPr lang="en-US" sz="1600">
                          <a:latin typeface="Calibri" panose="020F0502020204030204" pitchFamily="34" charset="0"/>
                          <a:ea typeface="Calibri" panose="020F0502020204030204" pitchFamily="34" charset="0"/>
                          <a:cs typeface="Calibri" panose="020F0502020204030204" pitchFamily="34" charset="0"/>
                        </a:rPr>
                        <a:t>sẽ tập trung thời gian để cải thiện nội dung khóa học.</a:t>
                      </a:r>
                      <a:endParaRPr lang="vi-VN" sz="16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What’s the Most Important Thing to Learn First?</a:t>
                      </a:r>
                    </a:p>
                    <a:p>
                      <a:pPr marL="0" indent="0" algn="l">
                        <a:buFont typeface="Arial" panose="020B0604020202020204" pitchFamily="34" charset="0"/>
                        <a:buNone/>
                      </a:pPr>
                      <a:r>
                        <a:rPr lang="vi-VN" sz="1600">
                          <a:latin typeface="Calibri" panose="020F0502020204030204" pitchFamily="34" charset="0"/>
                          <a:ea typeface="Calibri" panose="020F0502020204030204" pitchFamily="34" charset="0"/>
                          <a:cs typeface="Calibri" panose="020F0502020204030204" pitchFamily="34" charset="0"/>
                        </a:rPr>
                        <a:t>Liệu yếu tố “dễ dùng và tương tác trực tiếp” có thật sự khiến người học gắn bó hơn?</a:t>
                      </a:r>
                      <a:r>
                        <a:rPr lang="en-US" sz="1600">
                          <a:latin typeface="Calibri" panose="020F0502020204030204" pitchFamily="34" charset="0"/>
                          <a:ea typeface="Calibri" panose="020F0502020204030204" pitchFamily="34" charset="0"/>
                          <a:cs typeface="Calibri" panose="020F0502020204030204" pitchFamily="34" charset="0"/>
                        </a:rPr>
                        <a:t> </a:t>
                      </a:r>
                      <a:r>
                        <a:rPr lang="vi-VN" sz="1600">
                          <a:latin typeface="Calibri" panose="020F0502020204030204" pitchFamily="34" charset="0"/>
                          <a:ea typeface="Calibri" panose="020F0502020204030204" pitchFamily="34" charset="0"/>
                          <a:cs typeface="Calibri" panose="020F0502020204030204" pitchFamily="34" charset="0"/>
                        </a:rPr>
                        <a:t>Hay nội dung và giá cả là yếu tố quyết định chính?</a:t>
                      </a:r>
                    </a:p>
                  </a:txBody>
                  <a:tcPr/>
                </a:tc>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What’s the Least Amount of Work to Learn the Next Most Important Thing?</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Tạo prototype với dashboard và Q&amp;A.</a:t>
                      </a:r>
                      <a:endParaRPr lang="en-US"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Kiểm thử với </a:t>
                      </a:r>
                      <a:r>
                        <a:rPr lang="en-US" sz="1600">
                          <a:latin typeface="Calibri" panose="020F0502020204030204" pitchFamily="34" charset="0"/>
                          <a:ea typeface="Calibri" panose="020F0502020204030204" pitchFamily="34" charset="0"/>
                          <a:cs typeface="Calibri" panose="020F0502020204030204" pitchFamily="34" charset="0"/>
                        </a:rPr>
                        <a:t>3</a:t>
                      </a:r>
                      <a:r>
                        <a:rPr lang="vi-VN" sz="1600">
                          <a:latin typeface="Calibri" panose="020F0502020204030204" pitchFamily="34" charset="0"/>
                          <a:ea typeface="Calibri" panose="020F0502020204030204" pitchFamily="34" charset="0"/>
                          <a:cs typeface="Calibri" panose="020F0502020204030204" pitchFamily="34" charset="0"/>
                        </a:rPr>
                        <a:t>0 người dùng (</a:t>
                      </a:r>
                      <a:r>
                        <a:rPr lang="en-US" sz="1600">
                          <a:latin typeface="Calibri" panose="020F0502020204030204" pitchFamily="34" charset="0"/>
                          <a:ea typeface="Calibri" panose="020F0502020204030204" pitchFamily="34" charset="0"/>
                          <a:cs typeface="Calibri" panose="020F0502020204030204" pitchFamily="34" charset="0"/>
                        </a:rPr>
                        <a:t>người học, người dạy</a:t>
                      </a:r>
                      <a:r>
                        <a:rPr lang="vi-VN" sz="1600">
                          <a:latin typeface="Calibri" panose="020F0502020204030204" pitchFamily="34" charset="0"/>
                          <a:ea typeface="Calibri" panose="020F0502020204030204" pitchFamily="34" charset="0"/>
                          <a:cs typeface="Calibri" panose="020F0502020204030204" pitchFamily="34" charset="0"/>
                        </a:rPr>
                        <a:t>).</a:t>
                      </a:r>
                      <a:endParaRPr lang="en-US"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Đo mức độ hài lòng và cảm nhận “dễ sử dụng”.</a:t>
                      </a:r>
                    </a:p>
                  </a:txBody>
                  <a:tcPr/>
                </a:tc>
                <a:extLst>
                  <a:ext uri="{0D108BD9-81ED-4DB2-BD59-A6C34878D82A}">
                    <a16:rowId xmlns:a16="http://schemas.microsoft.com/office/drawing/2014/main" val="3511064037"/>
                  </a:ext>
                </a:extLst>
              </a:tr>
            </a:tbl>
          </a:graphicData>
        </a:graphic>
      </p:graphicFrame>
    </p:spTree>
    <p:extLst>
      <p:ext uri="{BB962C8B-B14F-4D97-AF65-F5344CB8AC3E}">
        <p14:creationId xmlns:p14="http://schemas.microsoft.com/office/powerpoint/2010/main" val="1336926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681D5-3C02-420D-89DE-EA3117023B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1E2915-B756-A001-50C8-15799298790F}"/>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solidFill>
                  <a:srgbClr val="C00000"/>
                </a:solidFill>
              </a:rPr>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76A01B08-C3D7-3356-E1D8-704AB9A24533}"/>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E0038390-AB74-AC17-1F6D-7E50F97EF6A5}"/>
              </a:ext>
            </a:extLst>
          </p:cNvPr>
          <p:cNvSpPr>
            <a:spLocks noGrp="1"/>
          </p:cNvSpPr>
          <p:nvPr>
            <p:ph type="sldNum" sz="quarter" idx="12"/>
          </p:nvPr>
        </p:nvSpPr>
        <p:spPr/>
        <p:txBody>
          <a:bodyPr/>
          <a:lstStyle/>
          <a:p>
            <a:fld id="{9EA0BE3B-158A-4EDF-80DC-E394A0D1600F}" type="slidenum">
              <a:rPr lang="en-US" smtClean="0"/>
              <a:pPr/>
              <a:t>10</a:t>
            </a:fld>
            <a:endParaRPr lang="en-US"/>
          </a:p>
        </p:txBody>
      </p:sp>
    </p:spTree>
    <p:extLst>
      <p:ext uri="{BB962C8B-B14F-4D97-AF65-F5344CB8AC3E}">
        <p14:creationId xmlns:p14="http://schemas.microsoft.com/office/powerpoint/2010/main" val="398453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2. Persona</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a:xfrm>
            <a:off x="337539" y="1032510"/>
            <a:ext cx="8147168" cy="4938713"/>
          </a:xfrm>
        </p:spPr>
        <p:txBody>
          <a:bodyPr/>
          <a:lstStyle/>
          <a:p>
            <a:pPr marL="0" indent="0">
              <a:spcBef>
                <a:spcPts val="400"/>
              </a:spcBef>
              <a:buNone/>
            </a:pPr>
            <a:r>
              <a:rPr lang="en-US" sz="2000" b="1"/>
              <a:t>Persona 1: Linh – Sinh viên năm cuối bận rộn</a:t>
            </a:r>
          </a:p>
          <a:p>
            <a:pPr marL="457200" indent="-457200">
              <a:spcBef>
                <a:spcPts val="400"/>
              </a:spcBef>
              <a:buFont typeface="+mj-lt"/>
              <a:buAutoNum type="arabicPeriod"/>
            </a:pPr>
            <a:r>
              <a:rPr lang="en-US" sz="1400" b="1"/>
              <a:t>Thông tin cơ bản</a:t>
            </a:r>
          </a:p>
          <a:p>
            <a:pPr lvl="1">
              <a:spcBef>
                <a:spcPts val="400"/>
              </a:spcBef>
            </a:pPr>
            <a:r>
              <a:rPr lang="en-US" sz="1400"/>
              <a:t>Tuổi: 22</a:t>
            </a:r>
          </a:p>
          <a:p>
            <a:pPr lvl="1">
              <a:spcBef>
                <a:spcPts val="400"/>
              </a:spcBef>
            </a:pPr>
            <a:r>
              <a:rPr lang="en-US" sz="1400"/>
              <a:t>Nghề nghiệp: Sinh viên năm cuối chuyên ngành kinh tế</a:t>
            </a:r>
          </a:p>
          <a:p>
            <a:pPr lvl="1">
              <a:spcBef>
                <a:spcPts val="400"/>
              </a:spcBef>
            </a:pPr>
            <a:r>
              <a:rPr lang="en-US" sz="1400"/>
              <a:t>Nơi sống: Hà Nội</a:t>
            </a:r>
          </a:p>
          <a:p>
            <a:pPr lvl="1">
              <a:spcBef>
                <a:spcPts val="400"/>
              </a:spcBef>
            </a:pPr>
            <a:r>
              <a:rPr lang="en-US" sz="1400"/>
              <a:t>Tình trạng: sống một mình, đi học giờ hành chính từ sáng đến chiều</a:t>
            </a:r>
          </a:p>
          <a:p>
            <a:pPr lvl="1">
              <a:spcBef>
                <a:spcPts val="400"/>
              </a:spcBef>
            </a:pPr>
            <a:r>
              <a:rPr lang="en-US" sz="1400"/>
              <a:t>Thiết bị sử dụng chủ yếu: laptop</a:t>
            </a:r>
          </a:p>
          <a:p>
            <a:pPr lvl="1">
              <a:spcBef>
                <a:spcPts val="400"/>
              </a:spcBef>
            </a:pPr>
            <a:r>
              <a:rPr lang="en-US" sz="1400"/>
              <a:t>Nền tảng sử dụng chủ yếu: Coursera</a:t>
            </a:r>
          </a:p>
          <a:p>
            <a:pPr marL="457200" indent="-457200">
              <a:spcBef>
                <a:spcPts val="400"/>
              </a:spcBef>
              <a:buFont typeface="+mj-lt"/>
              <a:buAutoNum type="arabicPeriod" startAt="2"/>
            </a:pPr>
            <a:r>
              <a:rPr lang="en-US" sz="1400" b="1"/>
              <a:t>Hành vi &amp; thái độ</a:t>
            </a:r>
          </a:p>
          <a:p>
            <a:pPr lvl="1">
              <a:spcBef>
                <a:spcPts val="400"/>
              </a:spcBef>
            </a:pPr>
            <a:r>
              <a:rPr lang="en-US" sz="1400"/>
              <a:t>Học khóa học online mỗi tối để cải thiện kĩ năng việc làm của bản thân.</a:t>
            </a:r>
          </a:p>
          <a:p>
            <a:pPr lvl="1">
              <a:spcBef>
                <a:spcPts val="400"/>
              </a:spcBef>
            </a:pPr>
            <a:r>
              <a:rPr lang="en-US" sz="1400"/>
              <a:t>Thường chọn đăng ký những khóa học ngắn hạn để nhanh chóng lấy chứng chỉ.</a:t>
            </a:r>
          </a:p>
          <a:p>
            <a:pPr lvl="1">
              <a:spcBef>
                <a:spcPts val="400"/>
              </a:spcBef>
            </a:pPr>
            <a:r>
              <a:rPr lang="en-US" sz="1400"/>
              <a:t>Cảm thấy lạc lối vì không tìm được bạn đồng hành và giáo viên sát sao.</a:t>
            </a:r>
          </a:p>
          <a:p>
            <a:pPr marL="457200" indent="-457200">
              <a:spcBef>
                <a:spcPts val="400"/>
              </a:spcBef>
              <a:buFont typeface="+mj-lt"/>
              <a:buAutoNum type="arabicPeriod" startAt="2"/>
            </a:pPr>
            <a:r>
              <a:rPr lang="en-US" sz="1400" b="1"/>
              <a:t>Mục tiêu</a:t>
            </a:r>
          </a:p>
          <a:p>
            <a:pPr lvl="1">
              <a:spcBef>
                <a:spcPts val="400"/>
              </a:spcBef>
            </a:pPr>
            <a:r>
              <a:rPr lang="en-US" sz="1400"/>
              <a:t>Học một khóa học mà bản thân cảm thấy sẽ quyết tâm đến cuối cùng và thu nạp được kiến thức sau khi kết thúc khóa học.</a:t>
            </a:r>
          </a:p>
          <a:p>
            <a:pPr marL="457200" indent="-457200">
              <a:spcBef>
                <a:spcPts val="400"/>
              </a:spcBef>
              <a:buFont typeface="+mj-lt"/>
              <a:buAutoNum type="arabicPeriod" startAt="2"/>
            </a:pPr>
            <a:r>
              <a:rPr lang="en-US" sz="1400" b="1"/>
              <a:t>Pain points</a:t>
            </a:r>
          </a:p>
          <a:p>
            <a:pPr lvl="1">
              <a:spcBef>
                <a:spcPts val="400"/>
              </a:spcBef>
            </a:pPr>
            <a:r>
              <a:rPr lang="en-US" sz="1400"/>
              <a:t>Quá trình học không có tính tập thể.</a:t>
            </a:r>
          </a:p>
          <a:p>
            <a:pPr lvl="1">
              <a:spcBef>
                <a:spcPts val="400"/>
              </a:spcBef>
            </a:pPr>
            <a:r>
              <a:rPr lang="en-US" sz="1400"/>
              <a:t>Không được sự chỉ dẫn trực tiếp từ giáo viên.</a:t>
            </a:r>
          </a:p>
          <a:p>
            <a:pPr marL="457200" indent="-457200">
              <a:spcBef>
                <a:spcPts val="400"/>
              </a:spcBef>
              <a:buFont typeface="+mj-lt"/>
              <a:buAutoNum type="arabicPeriod" startAt="2"/>
            </a:pPr>
            <a:r>
              <a:rPr lang="en-US" sz="1400" b="1"/>
              <a:t>Nhu cầu</a:t>
            </a:r>
          </a:p>
          <a:p>
            <a:pPr lvl="1">
              <a:spcBef>
                <a:spcPts val="400"/>
              </a:spcBef>
            </a:pPr>
            <a:r>
              <a:rPr lang="en-US" sz="1400"/>
              <a:t>Học tập có hội nhóm và giáo viên trực tiếp.</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11</a:t>
            </a:fld>
            <a:endParaRPr lang="en-US"/>
          </a:p>
        </p:txBody>
      </p:sp>
      <p:pic>
        <p:nvPicPr>
          <p:cNvPr id="1026" name="Picture 2" descr="Sinh viên vùng cao gặp nhiều khó khăn trong việc học online -0">
            <a:extLst>
              <a:ext uri="{FF2B5EF4-FFF2-40B4-BE49-F238E27FC236}">
                <a16:creationId xmlns:a16="http://schemas.microsoft.com/office/drawing/2014/main" id="{42667851-4E76-DB57-CC9B-886AD9E920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56" r="9034"/>
          <a:stretch>
            <a:fillRect/>
          </a:stretch>
        </p:blipFill>
        <p:spPr bwMode="auto">
          <a:xfrm>
            <a:off x="8484707" y="1977477"/>
            <a:ext cx="3415004" cy="3048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952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4B81C-4C49-F8FC-374D-6963E2DA6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A0597-8198-8730-BA7E-328F79F90EC3}"/>
              </a:ext>
            </a:extLst>
          </p:cNvPr>
          <p:cNvSpPr>
            <a:spLocks noGrp="1"/>
          </p:cNvSpPr>
          <p:nvPr>
            <p:ph type="title"/>
          </p:nvPr>
        </p:nvSpPr>
        <p:spPr/>
        <p:txBody>
          <a:bodyPr/>
          <a:lstStyle/>
          <a:p>
            <a:r>
              <a:rPr lang="en-US"/>
              <a:t>2. Persona</a:t>
            </a:r>
          </a:p>
        </p:txBody>
      </p:sp>
      <p:sp>
        <p:nvSpPr>
          <p:cNvPr id="3" name="Text Placeholder 2">
            <a:extLst>
              <a:ext uri="{FF2B5EF4-FFF2-40B4-BE49-F238E27FC236}">
                <a16:creationId xmlns:a16="http://schemas.microsoft.com/office/drawing/2014/main" id="{060A6B5F-AAF7-CC85-67CF-2132FD8D3E81}"/>
              </a:ext>
            </a:extLst>
          </p:cNvPr>
          <p:cNvSpPr>
            <a:spLocks noGrp="1"/>
          </p:cNvSpPr>
          <p:nvPr>
            <p:ph type="body" sz="quarter" idx="13"/>
          </p:nvPr>
        </p:nvSpPr>
        <p:spPr>
          <a:xfrm>
            <a:off x="338735" y="959643"/>
            <a:ext cx="7275251" cy="4938713"/>
          </a:xfrm>
        </p:spPr>
        <p:txBody>
          <a:bodyPr/>
          <a:lstStyle/>
          <a:p>
            <a:pPr marL="0" indent="0">
              <a:spcBef>
                <a:spcPts val="400"/>
              </a:spcBef>
              <a:buNone/>
            </a:pPr>
            <a:r>
              <a:rPr lang="en-US" sz="2000" b="1"/>
              <a:t>Persona 2: Huy – Giáo viên tự do</a:t>
            </a:r>
          </a:p>
          <a:p>
            <a:pPr marL="457200" indent="-457200">
              <a:spcBef>
                <a:spcPts val="400"/>
              </a:spcBef>
              <a:buFont typeface="+mj-lt"/>
              <a:buAutoNum type="arabicPeriod"/>
            </a:pPr>
            <a:r>
              <a:rPr lang="en-US" sz="1400" b="1"/>
              <a:t>Thông tin cơ bản</a:t>
            </a:r>
          </a:p>
          <a:p>
            <a:pPr lvl="1">
              <a:spcBef>
                <a:spcPts val="400"/>
              </a:spcBef>
            </a:pPr>
            <a:r>
              <a:rPr lang="en-US" sz="1400"/>
              <a:t>Tuổi: 31</a:t>
            </a:r>
          </a:p>
          <a:p>
            <a:pPr lvl="1">
              <a:spcBef>
                <a:spcPts val="400"/>
              </a:spcBef>
            </a:pPr>
            <a:r>
              <a:rPr lang="en-US" sz="1400"/>
              <a:t>Nghề nghiệp: Giáo viên online</a:t>
            </a:r>
          </a:p>
          <a:p>
            <a:pPr lvl="1">
              <a:spcBef>
                <a:spcPts val="400"/>
              </a:spcBef>
            </a:pPr>
            <a:r>
              <a:rPr lang="en-US" sz="1400"/>
              <a:t>Nơi sống: Hà Nội</a:t>
            </a:r>
          </a:p>
          <a:p>
            <a:pPr lvl="1">
              <a:spcBef>
                <a:spcPts val="400"/>
              </a:spcBef>
            </a:pPr>
            <a:r>
              <a:rPr lang="en-US" sz="1400"/>
              <a:t>Tình trạng: Sáng tạo nội dung khóa học và giảng dạy online toàn thời gian</a:t>
            </a:r>
          </a:p>
          <a:p>
            <a:pPr lvl="1">
              <a:spcBef>
                <a:spcPts val="400"/>
              </a:spcBef>
            </a:pPr>
            <a:r>
              <a:rPr lang="en-US" sz="1400"/>
              <a:t>Thiết bị sử dụng chủ yếu: PC, tablet</a:t>
            </a:r>
          </a:p>
          <a:p>
            <a:pPr lvl="1">
              <a:spcBef>
                <a:spcPts val="400"/>
              </a:spcBef>
            </a:pPr>
            <a:r>
              <a:rPr lang="en-US" sz="1400"/>
              <a:t>Nền tảng sử dụng chủ yếu: Coursera, Udemy</a:t>
            </a:r>
          </a:p>
          <a:p>
            <a:pPr marL="457200" indent="-457200">
              <a:spcBef>
                <a:spcPts val="400"/>
              </a:spcBef>
              <a:buFont typeface="+mj-lt"/>
              <a:buAutoNum type="arabicPeriod" startAt="2"/>
            </a:pPr>
            <a:r>
              <a:rPr lang="en-US" sz="1400" b="1"/>
              <a:t>Hành vi &amp; thái độ</a:t>
            </a:r>
          </a:p>
          <a:p>
            <a:pPr lvl="1">
              <a:spcBef>
                <a:spcPts val="400"/>
              </a:spcBef>
            </a:pPr>
            <a:r>
              <a:rPr lang="en-US" sz="1400"/>
              <a:t>Quay video, soạn tài liệu và đăng tải nội dung khóa học.</a:t>
            </a:r>
          </a:p>
          <a:p>
            <a:pPr lvl="1">
              <a:spcBef>
                <a:spcPts val="400"/>
              </a:spcBef>
            </a:pPr>
            <a:r>
              <a:rPr lang="en-US" sz="1400"/>
              <a:t>Không biết phản ứng của người học đối với khóa học (ngoại trừ đánh giá bằng số sao), dẫn đến khó khăn trong việc cải thiện chất lượng của các bài giảng sau.</a:t>
            </a:r>
          </a:p>
          <a:p>
            <a:pPr marL="457200" indent="-457200">
              <a:spcBef>
                <a:spcPts val="400"/>
              </a:spcBef>
              <a:buFont typeface="+mj-lt"/>
              <a:buAutoNum type="arabicPeriod" startAt="2"/>
            </a:pPr>
            <a:r>
              <a:rPr lang="en-US" sz="1400" b="1"/>
              <a:t>Mục tiêu</a:t>
            </a:r>
          </a:p>
          <a:p>
            <a:pPr lvl="1">
              <a:spcBef>
                <a:spcPts val="400"/>
              </a:spcBef>
            </a:pPr>
            <a:r>
              <a:rPr lang="en-US" sz="1400"/>
              <a:t>Trao đổi với người học theo thời gian thực trong lúc khóa học vẫn đang được hoàn thiện.</a:t>
            </a:r>
          </a:p>
          <a:p>
            <a:pPr marL="457200" indent="-457200">
              <a:spcBef>
                <a:spcPts val="400"/>
              </a:spcBef>
              <a:buFont typeface="+mj-lt"/>
              <a:buAutoNum type="arabicPeriod" startAt="2"/>
            </a:pPr>
            <a:r>
              <a:rPr lang="en-US" sz="1400" b="1"/>
              <a:t>Pain points</a:t>
            </a:r>
          </a:p>
          <a:p>
            <a:pPr lvl="1">
              <a:spcBef>
                <a:spcPts val="400"/>
              </a:spcBef>
            </a:pPr>
            <a:r>
              <a:rPr lang="en-US" sz="1400"/>
              <a:t>Toàn bộ khóa học phải được hoàn thiện trước khi xuất bản, dẫn đến không biết phản hồi của người học trong các bài giảng đầu để cải thiện các bài giảng sau.</a:t>
            </a:r>
          </a:p>
          <a:p>
            <a:pPr marL="457200" indent="-457200">
              <a:spcBef>
                <a:spcPts val="400"/>
              </a:spcBef>
              <a:buFont typeface="+mj-lt"/>
              <a:buAutoNum type="arabicPeriod" startAt="2"/>
            </a:pPr>
            <a:r>
              <a:rPr lang="en-US" sz="1400" b="1"/>
              <a:t>Nhu cầu</a:t>
            </a:r>
          </a:p>
          <a:p>
            <a:pPr lvl="1">
              <a:spcBef>
                <a:spcPts val="400"/>
              </a:spcBef>
            </a:pPr>
            <a:r>
              <a:rPr lang="en-US" sz="1400"/>
              <a:t>Tính năng xuất bản khóa học trong lúc khóa học vẫn được cập nhật.</a:t>
            </a:r>
          </a:p>
          <a:p>
            <a:pPr lvl="1">
              <a:spcBef>
                <a:spcPts val="400"/>
              </a:spcBef>
            </a:pPr>
            <a:r>
              <a:rPr lang="en-US" sz="1400"/>
              <a:t>Tính năng tương tác đa dạng (chat, bình luận, community note…) trong từng bài giảng.</a:t>
            </a:r>
          </a:p>
        </p:txBody>
      </p:sp>
      <p:sp>
        <p:nvSpPr>
          <p:cNvPr id="6" name="Slide Number Placeholder 5">
            <a:extLst>
              <a:ext uri="{FF2B5EF4-FFF2-40B4-BE49-F238E27FC236}">
                <a16:creationId xmlns:a16="http://schemas.microsoft.com/office/drawing/2014/main" id="{EA67F5A0-5C84-9E79-E7B4-E16668C83FE9}"/>
              </a:ext>
            </a:extLst>
          </p:cNvPr>
          <p:cNvSpPr>
            <a:spLocks noGrp="1"/>
          </p:cNvSpPr>
          <p:nvPr>
            <p:ph type="sldNum" sz="quarter" idx="12"/>
          </p:nvPr>
        </p:nvSpPr>
        <p:spPr/>
        <p:txBody>
          <a:bodyPr/>
          <a:lstStyle/>
          <a:p>
            <a:fld id="{9EA0BE3B-158A-4EDF-80DC-E394A0D1600F}" type="slidenum">
              <a:rPr lang="en-US" smtClean="0"/>
              <a:pPr/>
              <a:t>12</a:t>
            </a:fld>
            <a:endParaRPr lang="en-US"/>
          </a:p>
        </p:txBody>
      </p:sp>
      <p:pic>
        <p:nvPicPr>
          <p:cNvPr id="5" name="Picture 4">
            <a:extLst>
              <a:ext uri="{FF2B5EF4-FFF2-40B4-BE49-F238E27FC236}">
                <a16:creationId xmlns:a16="http://schemas.microsoft.com/office/drawing/2014/main" id="{FAF71C35-6026-BCB2-A9FF-FC681AD25B01}"/>
              </a:ext>
            </a:extLst>
          </p:cNvPr>
          <p:cNvPicPr>
            <a:picLocks noChangeAspect="1"/>
          </p:cNvPicPr>
          <p:nvPr/>
        </p:nvPicPr>
        <p:blipFill>
          <a:blip r:embed="rId2"/>
          <a:stretch>
            <a:fillRect/>
          </a:stretch>
        </p:blipFill>
        <p:spPr>
          <a:xfrm>
            <a:off x="7613986" y="2069937"/>
            <a:ext cx="4239278" cy="2718126"/>
          </a:xfrm>
          <a:prstGeom prst="rect">
            <a:avLst/>
          </a:prstGeom>
        </p:spPr>
      </p:pic>
    </p:spTree>
    <p:extLst>
      <p:ext uri="{BB962C8B-B14F-4D97-AF65-F5344CB8AC3E}">
        <p14:creationId xmlns:p14="http://schemas.microsoft.com/office/powerpoint/2010/main" val="2681518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F2613-6E8B-AE79-FBC5-AE63F9FE4397}"/>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258BD9E-2E98-5B31-17FD-4D6EC59A247E}"/>
              </a:ext>
            </a:extLst>
          </p:cNvPr>
          <p:cNvGraphicFramePr>
            <a:graphicFrameLocks noGrp="1"/>
          </p:cNvGraphicFramePr>
          <p:nvPr>
            <p:extLst>
              <p:ext uri="{D42A27DB-BD31-4B8C-83A1-F6EECF244321}">
                <p14:modId xmlns:p14="http://schemas.microsoft.com/office/powerpoint/2010/main" val="3897349310"/>
              </p:ext>
            </p:extLst>
          </p:nvPr>
        </p:nvGraphicFramePr>
        <p:xfrm>
          <a:off x="671803" y="858416"/>
          <a:ext cx="11227908" cy="5458408"/>
        </p:xfrm>
        <a:graphic>
          <a:graphicData uri="http://schemas.openxmlformats.org/drawingml/2006/table">
            <a:tbl>
              <a:tblPr bandRow="1">
                <a:tableStyleId>{2D5ABB26-0587-4C30-8999-92F81FD0307C}</a:tableStyleId>
              </a:tblPr>
              <a:tblGrid>
                <a:gridCol w="5613954">
                  <a:extLst>
                    <a:ext uri="{9D8B030D-6E8A-4147-A177-3AD203B41FA5}">
                      <a16:colId xmlns:a16="http://schemas.microsoft.com/office/drawing/2014/main" val="2421780764"/>
                    </a:ext>
                  </a:extLst>
                </a:gridCol>
                <a:gridCol w="5613954">
                  <a:extLst>
                    <a:ext uri="{9D8B030D-6E8A-4147-A177-3AD203B41FA5}">
                      <a16:colId xmlns:a16="http://schemas.microsoft.com/office/drawing/2014/main" val="1115362373"/>
                    </a:ext>
                  </a:extLst>
                </a:gridCol>
              </a:tblGrid>
              <a:tr h="2729204">
                <a:tc>
                  <a:txBody>
                    <a:bodyPr/>
                    <a:lstStyle/>
                    <a:p>
                      <a:r>
                        <a:rPr lang="en-US" b="1"/>
                        <a:t>SAYS</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r"/>
                      <a:r>
                        <a:rPr lang="en-US" b="1"/>
                        <a:t>THINKS</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494549"/>
                  </a:ext>
                </a:extLst>
              </a:tr>
              <a:tr h="2729204">
                <a:tc>
                  <a:txBody>
                    <a:bodyPr/>
                    <a:lstStyle/>
                    <a:p>
                      <a:r>
                        <a:rPr lang="en-US" b="1"/>
                        <a:t>DOES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r"/>
                      <a:r>
                        <a:rPr lang="en-US" b="1"/>
                        <a:t>FEELS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26003579"/>
                  </a:ext>
                </a:extLst>
              </a:tr>
            </a:tbl>
          </a:graphicData>
        </a:graphic>
      </p:graphicFrame>
      <p:sp>
        <p:nvSpPr>
          <p:cNvPr id="2" name="Title 1">
            <a:extLst>
              <a:ext uri="{FF2B5EF4-FFF2-40B4-BE49-F238E27FC236}">
                <a16:creationId xmlns:a16="http://schemas.microsoft.com/office/drawing/2014/main" id="{53188549-7875-0772-894C-E936CF4FCD05}"/>
              </a:ext>
            </a:extLst>
          </p:cNvPr>
          <p:cNvSpPr>
            <a:spLocks noGrp="1"/>
          </p:cNvSpPr>
          <p:nvPr>
            <p:ph type="title"/>
          </p:nvPr>
        </p:nvSpPr>
        <p:spPr/>
        <p:txBody>
          <a:bodyPr/>
          <a:lstStyle/>
          <a:p>
            <a:r>
              <a:rPr lang="en-US"/>
              <a:t>2. Persona – empathy map</a:t>
            </a:r>
          </a:p>
        </p:txBody>
      </p:sp>
      <p:sp>
        <p:nvSpPr>
          <p:cNvPr id="6" name="Slide Number Placeholder 5">
            <a:extLst>
              <a:ext uri="{FF2B5EF4-FFF2-40B4-BE49-F238E27FC236}">
                <a16:creationId xmlns:a16="http://schemas.microsoft.com/office/drawing/2014/main" id="{8B941125-9C98-A7E8-8F76-9F52FA56F451}"/>
              </a:ext>
            </a:extLst>
          </p:cNvPr>
          <p:cNvSpPr>
            <a:spLocks noGrp="1"/>
          </p:cNvSpPr>
          <p:nvPr>
            <p:ph type="sldNum" sz="quarter" idx="12"/>
          </p:nvPr>
        </p:nvSpPr>
        <p:spPr/>
        <p:txBody>
          <a:bodyPr/>
          <a:lstStyle/>
          <a:p>
            <a:fld id="{9EA0BE3B-158A-4EDF-80DC-E394A0D1600F}" type="slidenum">
              <a:rPr lang="en-US" smtClean="0"/>
              <a:pPr/>
              <a:t>13</a:t>
            </a:fld>
            <a:endParaRPr lang="en-US"/>
          </a:p>
        </p:txBody>
      </p:sp>
      <p:pic>
        <p:nvPicPr>
          <p:cNvPr id="1026" name="Picture 2" descr="Sinh viên vùng cao gặp nhiều khó khăn trong việc học online -0">
            <a:extLst>
              <a:ext uri="{FF2B5EF4-FFF2-40B4-BE49-F238E27FC236}">
                <a16:creationId xmlns:a16="http://schemas.microsoft.com/office/drawing/2014/main" id="{F888DB84-0C33-5A7D-37D0-B5FD82B970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46" t="1225" r="44003" b="36628"/>
          <a:stretch>
            <a:fillRect/>
          </a:stretch>
        </p:blipFill>
        <p:spPr bwMode="auto">
          <a:xfrm>
            <a:off x="5382278" y="2554502"/>
            <a:ext cx="1806958" cy="1894727"/>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8" name="Rectangle: Single Corner Snipped 7">
            <a:extLst>
              <a:ext uri="{FF2B5EF4-FFF2-40B4-BE49-F238E27FC236}">
                <a16:creationId xmlns:a16="http://schemas.microsoft.com/office/drawing/2014/main" id="{78255349-BD47-3C74-9EBF-6A6C11769BD9}"/>
              </a:ext>
            </a:extLst>
          </p:cNvPr>
          <p:cNvSpPr/>
          <p:nvPr/>
        </p:nvSpPr>
        <p:spPr>
          <a:xfrm>
            <a:off x="811764" y="1306286"/>
            <a:ext cx="1754155"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Mình đăng ký khóa này để có chứng chỉ cho CV, chứ học một mình cũng khá nản.</a:t>
            </a:r>
          </a:p>
        </p:txBody>
      </p:sp>
      <p:sp>
        <p:nvSpPr>
          <p:cNvPr id="9" name="Rectangle: Single Corner Snipped 8">
            <a:extLst>
              <a:ext uri="{FF2B5EF4-FFF2-40B4-BE49-F238E27FC236}">
                <a16:creationId xmlns:a16="http://schemas.microsoft.com/office/drawing/2014/main" id="{DA68C9F2-CF77-5863-FE54-F3B1967F8F50}"/>
              </a:ext>
            </a:extLst>
          </p:cNvPr>
          <p:cNvSpPr/>
          <p:nvPr/>
        </p:nvSpPr>
        <p:spPr>
          <a:xfrm>
            <a:off x="3212842" y="1306286"/>
            <a:ext cx="1499118"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Nội dung không quá khó nhưng học hoài không thấy ai trao đổi.</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angle: Single Corner Snipped 9">
            <a:extLst>
              <a:ext uri="{FF2B5EF4-FFF2-40B4-BE49-F238E27FC236}">
                <a16:creationId xmlns:a16="http://schemas.microsoft.com/office/drawing/2014/main" id="{DB6F7E75-790C-F472-EF38-86F53D42BA28}"/>
              </a:ext>
            </a:extLst>
          </p:cNvPr>
          <p:cNvSpPr/>
          <p:nvPr/>
        </p:nvSpPr>
        <p:spPr>
          <a:xfrm>
            <a:off x="2054785" y="2466167"/>
            <a:ext cx="1754155"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Giá mà có người hướng dẫn trực tiếp thì chắc mình theo được tới cuối.</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Single Corner Snipped 10">
            <a:extLst>
              <a:ext uri="{FF2B5EF4-FFF2-40B4-BE49-F238E27FC236}">
                <a16:creationId xmlns:a16="http://schemas.microsoft.com/office/drawing/2014/main" id="{DE6D69F4-E488-5C4B-C399-C808E7ACC60C}"/>
              </a:ext>
            </a:extLst>
          </p:cNvPr>
          <p:cNvSpPr/>
          <p:nvPr/>
        </p:nvSpPr>
        <p:spPr>
          <a:xfrm>
            <a:off x="6823789" y="1306286"/>
            <a:ext cx="1754155"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Nếu không có động lực hoặc ai nhắc nhở, mình rất dễ bỏ dở khóa học.</a:t>
            </a:r>
          </a:p>
        </p:txBody>
      </p:sp>
      <p:sp>
        <p:nvSpPr>
          <p:cNvPr id="12" name="Rectangle: Single Corner Snipped 11">
            <a:extLst>
              <a:ext uri="{FF2B5EF4-FFF2-40B4-BE49-F238E27FC236}">
                <a16:creationId xmlns:a16="http://schemas.microsoft.com/office/drawing/2014/main" id="{8DA5E654-9EF1-85FD-14AC-7D64834356F4}"/>
              </a:ext>
            </a:extLst>
          </p:cNvPr>
          <p:cNvSpPr/>
          <p:nvPr/>
        </p:nvSpPr>
        <p:spPr>
          <a:xfrm>
            <a:off x="9361750" y="1670180"/>
            <a:ext cx="1754155"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Học online tiện, nhưng thiếu người đồng hành khiến mình thấy lạc lõng.</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Rectangle: Single Corner Snipped 12">
            <a:extLst>
              <a:ext uri="{FF2B5EF4-FFF2-40B4-BE49-F238E27FC236}">
                <a16:creationId xmlns:a16="http://schemas.microsoft.com/office/drawing/2014/main" id="{C4181BA5-A1E2-C0C8-1707-857F45FBA585}"/>
              </a:ext>
            </a:extLst>
          </p:cNvPr>
          <p:cNvSpPr/>
          <p:nvPr/>
        </p:nvSpPr>
        <p:spPr>
          <a:xfrm>
            <a:off x="1074897" y="4073918"/>
            <a:ext cx="1754155"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Chọn </a:t>
            </a: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khóa học ngắn hạn, nội dung cô đọng.</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Rectangle: Single Corner Snipped 13">
            <a:extLst>
              <a:ext uri="{FF2B5EF4-FFF2-40B4-BE49-F238E27FC236}">
                <a16:creationId xmlns:a16="http://schemas.microsoft.com/office/drawing/2014/main" id="{633F5BFD-6E53-3B21-1ACE-5B87E3625F5D}"/>
              </a:ext>
            </a:extLst>
          </p:cNvPr>
          <p:cNvSpPr/>
          <p:nvPr/>
        </p:nvSpPr>
        <p:spPr>
          <a:xfrm>
            <a:off x="3133409" y="4073918"/>
            <a:ext cx="1754155"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Xem video bài giảng và làm quiz một mình.</a:t>
            </a:r>
          </a:p>
        </p:txBody>
      </p:sp>
      <p:sp>
        <p:nvSpPr>
          <p:cNvPr id="15" name="Rectangle: Single Corner Snipped 14">
            <a:extLst>
              <a:ext uri="{FF2B5EF4-FFF2-40B4-BE49-F238E27FC236}">
                <a16:creationId xmlns:a16="http://schemas.microsoft.com/office/drawing/2014/main" id="{368F041A-7FDA-12BB-04D9-8767C098FE00}"/>
              </a:ext>
            </a:extLst>
          </p:cNvPr>
          <p:cNvSpPr/>
          <p:nvPr/>
        </p:nvSpPr>
        <p:spPr>
          <a:xfrm>
            <a:off x="2054784" y="5233799"/>
            <a:ext cx="1754155"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Tạm dừng hoặc giãn tiến độ học khi cảm thấy chán nản.</a:t>
            </a:r>
          </a:p>
        </p:txBody>
      </p:sp>
      <p:sp>
        <p:nvSpPr>
          <p:cNvPr id="16" name="Rectangle: Single Corner Snipped 15">
            <a:extLst>
              <a:ext uri="{FF2B5EF4-FFF2-40B4-BE49-F238E27FC236}">
                <a16:creationId xmlns:a16="http://schemas.microsoft.com/office/drawing/2014/main" id="{68618A93-A654-AD6A-A769-2F4B2C241C1C}"/>
              </a:ext>
            </a:extLst>
          </p:cNvPr>
          <p:cNvSpPr/>
          <p:nvPr/>
        </p:nvSpPr>
        <p:spPr>
          <a:xfrm>
            <a:off x="7349171" y="3834207"/>
            <a:ext cx="1754155"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Cảm thấy cô đơn trong quá trình học.</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Rectangle: Single Corner Snipped 16">
            <a:extLst>
              <a:ext uri="{FF2B5EF4-FFF2-40B4-BE49-F238E27FC236}">
                <a16:creationId xmlns:a16="http://schemas.microsoft.com/office/drawing/2014/main" id="{A96B139B-A4D4-4677-8661-0F53E439DC5F}"/>
              </a:ext>
            </a:extLst>
          </p:cNvPr>
          <p:cNvSpPr/>
          <p:nvPr/>
        </p:nvSpPr>
        <p:spPr>
          <a:xfrm>
            <a:off x="9764844" y="3931380"/>
            <a:ext cx="1754155"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Chán nản và mất động lực khi không có tương tác.</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Rectangle: Single Corner Snipped 17">
            <a:extLst>
              <a:ext uri="{FF2B5EF4-FFF2-40B4-BE49-F238E27FC236}">
                <a16:creationId xmlns:a16="http://schemas.microsoft.com/office/drawing/2014/main" id="{53BD090C-974D-E14F-AACF-05B5045A47E6}"/>
              </a:ext>
            </a:extLst>
          </p:cNvPr>
          <p:cNvSpPr/>
          <p:nvPr/>
        </p:nvSpPr>
        <p:spPr>
          <a:xfrm>
            <a:off x="8174434" y="5104766"/>
            <a:ext cx="1857783"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Lo lắng rằng mình đang học chỉ để “hoàn thành”, không thực sự tiếp thu.</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35858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24A9D-019B-958B-FFBB-03C0EA6D7C6D}"/>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B2CFD9A2-9F62-7DBF-8E21-39A275CD3D4C}"/>
              </a:ext>
            </a:extLst>
          </p:cNvPr>
          <p:cNvGraphicFramePr>
            <a:graphicFrameLocks noGrp="1"/>
          </p:cNvGraphicFramePr>
          <p:nvPr/>
        </p:nvGraphicFramePr>
        <p:xfrm>
          <a:off x="671803" y="858416"/>
          <a:ext cx="11227908" cy="5458408"/>
        </p:xfrm>
        <a:graphic>
          <a:graphicData uri="http://schemas.openxmlformats.org/drawingml/2006/table">
            <a:tbl>
              <a:tblPr bandRow="1">
                <a:tableStyleId>{2D5ABB26-0587-4C30-8999-92F81FD0307C}</a:tableStyleId>
              </a:tblPr>
              <a:tblGrid>
                <a:gridCol w="5613954">
                  <a:extLst>
                    <a:ext uri="{9D8B030D-6E8A-4147-A177-3AD203B41FA5}">
                      <a16:colId xmlns:a16="http://schemas.microsoft.com/office/drawing/2014/main" val="2421780764"/>
                    </a:ext>
                  </a:extLst>
                </a:gridCol>
                <a:gridCol w="5613954">
                  <a:extLst>
                    <a:ext uri="{9D8B030D-6E8A-4147-A177-3AD203B41FA5}">
                      <a16:colId xmlns:a16="http://schemas.microsoft.com/office/drawing/2014/main" val="1115362373"/>
                    </a:ext>
                  </a:extLst>
                </a:gridCol>
              </a:tblGrid>
              <a:tr h="2729204">
                <a:tc>
                  <a:txBody>
                    <a:bodyPr/>
                    <a:lstStyle/>
                    <a:p>
                      <a:r>
                        <a:rPr lang="en-US" b="1"/>
                        <a:t>SAYS</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r"/>
                      <a:r>
                        <a:rPr lang="en-US" b="1"/>
                        <a:t>THINKS</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494549"/>
                  </a:ext>
                </a:extLst>
              </a:tr>
              <a:tr h="2729204">
                <a:tc>
                  <a:txBody>
                    <a:bodyPr/>
                    <a:lstStyle/>
                    <a:p>
                      <a:r>
                        <a:rPr lang="en-US" b="1"/>
                        <a:t>DOES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r"/>
                      <a:r>
                        <a:rPr lang="en-US" b="1"/>
                        <a:t>FEELS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26003579"/>
                  </a:ext>
                </a:extLst>
              </a:tr>
            </a:tbl>
          </a:graphicData>
        </a:graphic>
      </p:graphicFrame>
      <p:sp>
        <p:nvSpPr>
          <p:cNvPr id="2" name="Title 1">
            <a:extLst>
              <a:ext uri="{FF2B5EF4-FFF2-40B4-BE49-F238E27FC236}">
                <a16:creationId xmlns:a16="http://schemas.microsoft.com/office/drawing/2014/main" id="{82CEFC17-8EE6-D6E1-3040-8443C93FDC32}"/>
              </a:ext>
            </a:extLst>
          </p:cNvPr>
          <p:cNvSpPr>
            <a:spLocks noGrp="1"/>
          </p:cNvSpPr>
          <p:nvPr>
            <p:ph type="title"/>
          </p:nvPr>
        </p:nvSpPr>
        <p:spPr/>
        <p:txBody>
          <a:bodyPr/>
          <a:lstStyle/>
          <a:p>
            <a:r>
              <a:rPr lang="en-US"/>
              <a:t>2. Persona – empathy map</a:t>
            </a:r>
          </a:p>
        </p:txBody>
      </p:sp>
      <p:sp>
        <p:nvSpPr>
          <p:cNvPr id="6" name="Slide Number Placeholder 5">
            <a:extLst>
              <a:ext uri="{FF2B5EF4-FFF2-40B4-BE49-F238E27FC236}">
                <a16:creationId xmlns:a16="http://schemas.microsoft.com/office/drawing/2014/main" id="{6D2DEB93-ADE1-587C-1C75-97F2B59116AE}"/>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8" name="Rectangle: Single Corner Snipped 7">
            <a:extLst>
              <a:ext uri="{FF2B5EF4-FFF2-40B4-BE49-F238E27FC236}">
                <a16:creationId xmlns:a16="http://schemas.microsoft.com/office/drawing/2014/main" id="{3CC9354D-6B9E-1D84-80B0-C93EC6019CB7}"/>
              </a:ext>
            </a:extLst>
          </p:cNvPr>
          <p:cNvSpPr/>
          <p:nvPr/>
        </p:nvSpPr>
        <p:spPr>
          <a:xfrm>
            <a:off x="811764" y="1306286"/>
            <a:ext cx="1838130"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Mình không biết học viên nghĩ gì về bài giảng này cho đến khi khóa học kết thúc.</a:t>
            </a:r>
          </a:p>
        </p:txBody>
      </p:sp>
      <p:sp>
        <p:nvSpPr>
          <p:cNvPr id="9" name="Rectangle: Single Corner Snipped 8">
            <a:extLst>
              <a:ext uri="{FF2B5EF4-FFF2-40B4-BE49-F238E27FC236}">
                <a16:creationId xmlns:a16="http://schemas.microsoft.com/office/drawing/2014/main" id="{DA7FFDFC-DB06-BBFE-984B-D526213A7C48}"/>
              </a:ext>
            </a:extLst>
          </p:cNvPr>
          <p:cNvSpPr/>
          <p:nvPr/>
        </p:nvSpPr>
        <p:spPr>
          <a:xfrm>
            <a:off x="3212842" y="1306286"/>
            <a:ext cx="1499118"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Giảng online nhưng cảm giác như đang nói một mình.</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angle: Single Corner Snipped 9">
            <a:extLst>
              <a:ext uri="{FF2B5EF4-FFF2-40B4-BE49-F238E27FC236}">
                <a16:creationId xmlns:a16="http://schemas.microsoft.com/office/drawing/2014/main" id="{6C9432A6-3502-266E-CFB8-A0D920E8EC61}"/>
              </a:ext>
            </a:extLst>
          </p:cNvPr>
          <p:cNvSpPr/>
          <p:nvPr/>
        </p:nvSpPr>
        <p:spPr>
          <a:xfrm>
            <a:off x="2054785" y="2466167"/>
            <a:ext cx="1754155"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Chỉ có số sao đánh giá thì quá ít để mình cải thiện nội dung.</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Single Corner Snipped 10">
            <a:extLst>
              <a:ext uri="{FF2B5EF4-FFF2-40B4-BE49-F238E27FC236}">
                <a16:creationId xmlns:a16="http://schemas.microsoft.com/office/drawing/2014/main" id="{818EEDC7-D8A6-EF35-4398-0A62116BDB85}"/>
              </a:ext>
            </a:extLst>
          </p:cNvPr>
          <p:cNvSpPr/>
          <p:nvPr/>
        </p:nvSpPr>
        <p:spPr>
          <a:xfrm>
            <a:off x="6758475" y="993387"/>
            <a:ext cx="1900333"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rPr>
              <a:t>Mình muốn khóa học ngày càng tốt hơn, chứ không chỉ đăng xong là xong.</a:t>
            </a:r>
            <a:endParaRPr lang="en-US" sz="1400">
              <a:solidFill>
                <a:schemeClr val="tx1"/>
              </a:solidFill>
            </a:endParaRPr>
          </a:p>
        </p:txBody>
      </p:sp>
      <p:sp>
        <p:nvSpPr>
          <p:cNvPr id="12" name="Rectangle: Single Corner Snipped 11">
            <a:extLst>
              <a:ext uri="{FF2B5EF4-FFF2-40B4-BE49-F238E27FC236}">
                <a16:creationId xmlns:a16="http://schemas.microsoft.com/office/drawing/2014/main" id="{2FD865BE-C7EE-4334-5397-4B1429C07FA4}"/>
              </a:ext>
            </a:extLst>
          </p:cNvPr>
          <p:cNvSpPr/>
          <p:nvPr/>
        </p:nvSpPr>
        <p:spPr>
          <a:xfrm>
            <a:off x="9626081" y="1492561"/>
            <a:ext cx="1754155"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Nếu có tương tác trực tiếp, người học sẽ gắn bó hơn.</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Rectangle: Single Corner Snipped 12">
            <a:extLst>
              <a:ext uri="{FF2B5EF4-FFF2-40B4-BE49-F238E27FC236}">
                <a16:creationId xmlns:a16="http://schemas.microsoft.com/office/drawing/2014/main" id="{5BE19FDA-42BF-28A7-2140-B1157B417041}"/>
              </a:ext>
            </a:extLst>
          </p:cNvPr>
          <p:cNvSpPr/>
          <p:nvPr/>
        </p:nvSpPr>
        <p:spPr>
          <a:xfrm>
            <a:off x="914401" y="4301843"/>
            <a:ext cx="1987419"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Cập nhật nội dung khóa học muộn, thường sau khi đã nhận nhiều phản hồi tiêu cực.</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Rectangle: Single Corner Snipped 13">
            <a:extLst>
              <a:ext uri="{FF2B5EF4-FFF2-40B4-BE49-F238E27FC236}">
                <a16:creationId xmlns:a16="http://schemas.microsoft.com/office/drawing/2014/main" id="{44612ACE-9084-F8DB-8871-1E7381941FB6}"/>
              </a:ext>
            </a:extLst>
          </p:cNvPr>
          <p:cNvSpPr/>
          <p:nvPr/>
        </p:nvSpPr>
        <p:spPr>
          <a:xfrm>
            <a:off x="3563338" y="4591767"/>
            <a:ext cx="1754155"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Theo dõi đánh giá bằng số sao và lượt đăng ký.</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Rectangle: Single Corner Snipped 15">
            <a:extLst>
              <a:ext uri="{FF2B5EF4-FFF2-40B4-BE49-F238E27FC236}">
                <a16:creationId xmlns:a16="http://schemas.microsoft.com/office/drawing/2014/main" id="{C0BB4079-BCDE-D19D-9611-28C9E673686F}"/>
              </a:ext>
            </a:extLst>
          </p:cNvPr>
          <p:cNvSpPr/>
          <p:nvPr/>
        </p:nvSpPr>
        <p:spPr>
          <a:xfrm>
            <a:off x="7349171" y="3834207"/>
            <a:ext cx="1857783"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Bị động vì không nắm được trải nghiệm người học trong quá trình giảng dạy.</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Rectangle: Single Corner Snipped 16">
            <a:extLst>
              <a:ext uri="{FF2B5EF4-FFF2-40B4-BE49-F238E27FC236}">
                <a16:creationId xmlns:a16="http://schemas.microsoft.com/office/drawing/2014/main" id="{D5D12BB4-D82F-0B90-6388-9D0556A37255}"/>
              </a:ext>
            </a:extLst>
          </p:cNvPr>
          <p:cNvSpPr/>
          <p:nvPr/>
        </p:nvSpPr>
        <p:spPr>
          <a:xfrm>
            <a:off x="9764844" y="3931380"/>
            <a:ext cx="1754155"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Thiếu kết nối với học viên dù đang dạy online toàn thời gian.</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Rectangle: Single Corner Snipped 17">
            <a:extLst>
              <a:ext uri="{FF2B5EF4-FFF2-40B4-BE49-F238E27FC236}">
                <a16:creationId xmlns:a16="http://schemas.microsoft.com/office/drawing/2014/main" id="{32413481-8A66-B8CF-102C-3E5F3234960D}"/>
              </a:ext>
            </a:extLst>
          </p:cNvPr>
          <p:cNvSpPr/>
          <p:nvPr/>
        </p:nvSpPr>
        <p:spPr>
          <a:xfrm>
            <a:off x="8279433" y="5233799"/>
            <a:ext cx="1857783"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Lo lắng chất lượng khóa học không đạt kỳ vọng của người học.</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90D88B14-61CF-D44F-1371-8804B8481994}"/>
              </a:ext>
            </a:extLst>
          </p:cNvPr>
          <p:cNvPicPr>
            <a:picLocks noChangeAspect="1"/>
          </p:cNvPicPr>
          <p:nvPr/>
        </p:nvPicPr>
        <p:blipFill>
          <a:blip r:embed="rId2"/>
          <a:srcRect l="26294" r="32326" b="35093"/>
          <a:stretch>
            <a:fillRect/>
          </a:stretch>
        </p:blipFill>
        <p:spPr>
          <a:xfrm>
            <a:off x="5408679" y="2680294"/>
            <a:ext cx="1754156" cy="1764270"/>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sp>
        <p:nvSpPr>
          <p:cNvPr id="4" name="Rectangle: Single Corner Snipped 3">
            <a:extLst>
              <a:ext uri="{FF2B5EF4-FFF2-40B4-BE49-F238E27FC236}">
                <a16:creationId xmlns:a16="http://schemas.microsoft.com/office/drawing/2014/main" id="{01CE75CF-C532-C2E9-296B-BB6AEAAD5D88}"/>
              </a:ext>
            </a:extLst>
          </p:cNvPr>
          <p:cNvSpPr/>
          <p:nvPr/>
        </p:nvSpPr>
        <p:spPr>
          <a:xfrm>
            <a:off x="7589957" y="2270700"/>
            <a:ext cx="1754155"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Hoàn thiện toàn bộ khóa học trước khi xuất bản là quá rủi ro.</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1792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8D2B-41CB-F219-2357-6D27F891F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1B1F3-4945-4A81-E231-D89870F0EB68}"/>
              </a:ext>
            </a:extLst>
          </p:cNvPr>
          <p:cNvSpPr>
            <a:spLocks noGrp="1"/>
          </p:cNvSpPr>
          <p:nvPr>
            <p:ph type="title"/>
          </p:nvPr>
        </p:nvSpPr>
        <p:spPr/>
        <p:txBody>
          <a:bodyPr/>
          <a:lstStyle/>
          <a:p>
            <a:r>
              <a:rPr lang="en-US"/>
              <a:t>2. Bản đồ hành trình người dùng</a:t>
            </a:r>
          </a:p>
        </p:txBody>
      </p:sp>
      <p:sp>
        <p:nvSpPr>
          <p:cNvPr id="6" name="Slide Number Placeholder 5">
            <a:extLst>
              <a:ext uri="{FF2B5EF4-FFF2-40B4-BE49-F238E27FC236}">
                <a16:creationId xmlns:a16="http://schemas.microsoft.com/office/drawing/2014/main" id="{7BCC6D34-EAB6-1B81-F149-A16CE4FD8442}"/>
              </a:ext>
            </a:extLst>
          </p:cNvPr>
          <p:cNvSpPr>
            <a:spLocks noGrp="1"/>
          </p:cNvSpPr>
          <p:nvPr>
            <p:ph type="sldNum" sz="quarter" idx="12"/>
          </p:nvPr>
        </p:nvSpPr>
        <p:spPr/>
        <p:txBody>
          <a:bodyPr/>
          <a:lstStyle/>
          <a:p>
            <a:fld id="{9EA0BE3B-158A-4EDF-80DC-E394A0D1600F}" type="slidenum">
              <a:rPr lang="en-US" smtClean="0"/>
              <a:pPr/>
              <a:t>15</a:t>
            </a:fld>
            <a:endParaRPr lang="en-US"/>
          </a:p>
        </p:txBody>
      </p:sp>
      <p:sp>
        <p:nvSpPr>
          <p:cNvPr id="4" name="Text Placeholder 2">
            <a:extLst>
              <a:ext uri="{FF2B5EF4-FFF2-40B4-BE49-F238E27FC236}">
                <a16:creationId xmlns:a16="http://schemas.microsoft.com/office/drawing/2014/main" id="{E148E32C-FD88-57F3-5174-08FF64093578}"/>
              </a:ext>
            </a:extLst>
          </p:cNvPr>
          <p:cNvSpPr txBox="1">
            <a:spLocks/>
          </p:cNvSpPr>
          <p:nvPr/>
        </p:nvSpPr>
        <p:spPr>
          <a:xfrm>
            <a:off x="2892490" y="1032511"/>
            <a:ext cx="5673011" cy="758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a:t>Kịch bản</a:t>
            </a:r>
          </a:p>
          <a:p>
            <a:r>
              <a:rPr lang="en-US" sz="1600"/>
              <a:t>Linh đang theo học một khóa học về toán kinh tế trên Coursera.</a:t>
            </a:r>
          </a:p>
          <a:p>
            <a:r>
              <a:rPr lang="en-US" sz="1600"/>
              <a:t>Sau một thời gian, Linh cảm thấy khóa học trở nên khô khan, khó theo kịp và mất động lực. Linh vẫn muốn hoàn thành khóa học nhưng việc học dần trở nên nặng nề.</a:t>
            </a:r>
          </a:p>
        </p:txBody>
      </p:sp>
      <p:sp>
        <p:nvSpPr>
          <p:cNvPr id="5" name="Text Placeholder 2">
            <a:extLst>
              <a:ext uri="{FF2B5EF4-FFF2-40B4-BE49-F238E27FC236}">
                <a16:creationId xmlns:a16="http://schemas.microsoft.com/office/drawing/2014/main" id="{B91C2CBE-34F3-BBEB-B7D9-1091961603BD}"/>
              </a:ext>
            </a:extLst>
          </p:cNvPr>
          <p:cNvSpPr txBox="1">
            <a:spLocks/>
          </p:cNvSpPr>
          <p:nvPr/>
        </p:nvSpPr>
        <p:spPr>
          <a:xfrm>
            <a:off x="8565502" y="1032511"/>
            <a:ext cx="3489485" cy="758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a:t>Kì vọng</a:t>
            </a:r>
          </a:p>
          <a:p>
            <a:r>
              <a:rPr lang="en-US" sz="1600"/>
              <a:t>Việc học mỗi buổi đỡ nhàm chán.</a:t>
            </a:r>
          </a:p>
        </p:txBody>
      </p:sp>
      <p:graphicFrame>
        <p:nvGraphicFramePr>
          <p:cNvPr id="7" name="Table 6">
            <a:extLst>
              <a:ext uri="{FF2B5EF4-FFF2-40B4-BE49-F238E27FC236}">
                <a16:creationId xmlns:a16="http://schemas.microsoft.com/office/drawing/2014/main" id="{900FD060-4831-2EC0-DCDC-EA872C2DCAD9}"/>
              </a:ext>
            </a:extLst>
          </p:cNvPr>
          <p:cNvGraphicFramePr>
            <a:graphicFrameLocks noGrp="1"/>
          </p:cNvGraphicFramePr>
          <p:nvPr>
            <p:extLst>
              <p:ext uri="{D42A27DB-BD31-4B8C-83A1-F6EECF244321}">
                <p14:modId xmlns:p14="http://schemas.microsoft.com/office/powerpoint/2010/main" val="3889860461"/>
              </p:ext>
            </p:extLst>
          </p:nvPr>
        </p:nvGraphicFramePr>
        <p:xfrm>
          <a:off x="314912" y="2709142"/>
          <a:ext cx="11562176" cy="4089610"/>
        </p:xfrm>
        <a:graphic>
          <a:graphicData uri="http://schemas.openxmlformats.org/drawingml/2006/table">
            <a:tbl>
              <a:tblPr firstRow="1" bandRow="1">
                <a:tableStyleId>{5C22544A-7EE6-4342-B048-85BDC9FD1C3A}</a:tableStyleId>
              </a:tblPr>
              <a:tblGrid>
                <a:gridCol w="1517006">
                  <a:extLst>
                    <a:ext uri="{9D8B030D-6E8A-4147-A177-3AD203B41FA5}">
                      <a16:colId xmlns:a16="http://schemas.microsoft.com/office/drawing/2014/main" val="2873042302"/>
                    </a:ext>
                  </a:extLst>
                </a:gridCol>
                <a:gridCol w="2866749">
                  <a:extLst>
                    <a:ext uri="{9D8B030D-6E8A-4147-A177-3AD203B41FA5}">
                      <a16:colId xmlns:a16="http://schemas.microsoft.com/office/drawing/2014/main" val="3367698512"/>
                    </a:ext>
                  </a:extLst>
                </a:gridCol>
                <a:gridCol w="3984171">
                  <a:extLst>
                    <a:ext uri="{9D8B030D-6E8A-4147-A177-3AD203B41FA5}">
                      <a16:colId xmlns:a16="http://schemas.microsoft.com/office/drawing/2014/main" val="3827598608"/>
                    </a:ext>
                  </a:extLst>
                </a:gridCol>
                <a:gridCol w="3194250">
                  <a:extLst>
                    <a:ext uri="{9D8B030D-6E8A-4147-A177-3AD203B41FA5}">
                      <a16:colId xmlns:a16="http://schemas.microsoft.com/office/drawing/2014/main" val="3058568064"/>
                    </a:ext>
                  </a:extLst>
                </a:gridCol>
              </a:tblGrid>
              <a:tr h="381346">
                <a:tc>
                  <a:txBody>
                    <a:bodyPr/>
                    <a:lstStyle/>
                    <a:p>
                      <a:endParaRPr lang="en-US" sz="1600"/>
                    </a:p>
                  </a:txBody>
                  <a:tcPr/>
                </a:tc>
                <a:tc>
                  <a:txBody>
                    <a:bodyPr/>
                    <a:lstStyle/>
                    <a:p>
                      <a:r>
                        <a:rPr lang="en-US" sz="1600"/>
                        <a:t>Truy cập</a:t>
                      </a:r>
                    </a:p>
                  </a:txBody>
                  <a:tcPr/>
                </a:tc>
                <a:tc>
                  <a:txBody>
                    <a:bodyPr/>
                    <a:lstStyle/>
                    <a:p>
                      <a:r>
                        <a:rPr lang="en-US" sz="1600"/>
                        <a:t>Học tập</a:t>
                      </a:r>
                    </a:p>
                  </a:txBody>
                  <a:tcPr/>
                </a:tc>
                <a:tc>
                  <a:txBody>
                    <a:bodyPr/>
                    <a:lstStyle/>
                    <a:p>
                      <a:r>
                        <a:rPr lang="en-US" sz="1600"/>
                        <a:t>Bỏ dở</a:t>
                      </a:r>
                    </a:p>
                  </a:txBody>
                  <a:tcPr/>
                </a:tc>
                <a:extLst>
                  <a:ext uri="{0D108BD9-81ED-4DB2-BD59-A6C34878D82A}">
                    <a16:rowId xmlns:a16="http://schemas.microsoft.com/office/drawing/2014/main" val="83511865"/>
                  </a:ext>
                </a:extLst>
              </a:tr>
              <a:tr h="660366">
                <a:tc>
                  <a:txBody>
                    <a:bodyPr/>
                    <a:lstStyle/>
                    <a:p>
                      <a:r>
                        <a:rPr lang="en-US" sz="1600"/>
                        <a:t>Actions</a:t>
                      </a:r>
                    </a:p>
                  </a:txBody>
                  <a:tcPr/>
                </a:tc>
                <a:tc>
                  <a:txBody>
                    <a:bodyPr/>
                    <a:lstStyle/>
                    <a:p>
                      <a:r>
                        <a:rPr lang="en-US" sz="1600"/>
                        <a:t>Mở trang web Coursera, chọn mục “Khóa học của tôi”.</a:t>
                      </a:r>
                    </a:p>
                  </a:txBody>
                  <a:tcPr/>
                </a:tc>
                <a:tc>
                  <a:txBody>
                    <a:bodyPr/>
                    <a:lstStyle/>
                    <a:p>
                      <a:pPr marL="285750" indent="-285750">
                        <a:buFont typeface="Arial" panose="020B0604020202020204" pitchFamily="34" charset="0"/>
                        <a:buChar char="•"/>
                      </a:pPr>
                      <a:r>
                        <a:rPr lang="en-US" sz="1600"/>
                        <a:t>Xem video bài giảng, đọc tài liệu.</a:t>
                      </a:r>
                    </a:p>
                    <a:p>
                      <a:pPr marL="285750" indent="-285750">
                        <a:buFont typeface="Arial" panose="020B0604020202020204" pitchFamily="34" charset="0"/>
                        <a:buChar char="•"/>
                      </a:pPr>
                      <a:r>
                        <a:rPr lang="en-US" sz="1600"/>
                        <a:t>Làm trắc nghiệm kết thúc bài.</a:t>
                      </a:r>
                    </a:p>
                  </a:txBody>
                  <a:tcPr/>
                </a:tc>
                <a:tc>
                  <a:txBody>
                    <a:bodyPr/>
                    <a:lstStyle/>
                    <a:p>
                      <a:r>
                        <a:rPr lang="en-US" sz="1600"/>
                        <a:t>Tắt bài giảng.</a:t>
                      </a:r>
                    </a:p>
                  </a:txBody>
                  <a:tcPr/>
                </a:tc>
                <a:extLst>
                  <a:ext uri="{0D108BD9-81ED-4DB2-BD59-A6C34878D82A}">
                    <a16:rowId xmlns:a16="http://schemas.microsoft.com/office/drawing/2014/main" val="1802912253"/>
                  </a:ext>
                </a:extLst>
              </a:tr>
              <a:tr h="660366">
                <a:tc>
                  <a:txBody>
                    <a:bodyPr/>
                    <a:lstStyle/>
                    <a:p>
                      <a:r>
                        <a:rPr lang="en-US" sz="1600"/>
                        <a:t>Touchpoints</a:t>
                      </a:r>
                    </a:p>
                  </a:txBody>
                  <a:tcPr/>
                </a:tc>
                <a:tc>
                  <a:txBody>
                    <a:bodyPr/>
                    <a:lstStyle/>
                    <a:p>
                      <a:r>
                        <a:rPr lang="en-US" sz="1600"/>
                        <a:t>Trang web Coursera</a:t>
                      </a:r>
                    </a:p>
                  </a:txBody>
                  <a:tcPr/>
                </a:tc>
                <a:tc>
                  <a:txBody>
                    <a:bodyPr/>
                    <a:lstStyle/>
                    <a:p>
                      <a:pPr marL="285750" indent="-285750">
                        <a:buFont typeface="Arial" panose="020B0604020202020204" pitchFamily="34" charset="0"/>
                        <a:buChar char="•"/>
                      </a:pPr>
                      <a:r>
                        <a:rPr lang="en-US" sz="1600"/>
                        <a:t>Video bài giảng</a:t>
                      </a:r>
                    </a:p>
                    <a:p>
                      <a:pPr marL="285750" indent="-285750">
                        <a:buFont typeface="Arial" panose="020B0604020202020204" pitchFamily="34" charset="0"/>
                        <a:buChar char="•"/>
                      </a:pPr>
                      <a:r>
                        <a:rPr lang="en-US" sz="1600"/>
                        <a:t>Quiz, tài liệu PDF</a:t>
                      </a:r>
                    </a:p>
                  </a:txBody>
                  <a:tcPr/>
                </a:tc>
                <a:tc>
                  <a:txBody>
                    <a:bodyPr/>
                    <a:lstStyle/>
                    <a:p>
                      <a:r>
                        <a:rPr lang="en-US" sz="1600"/>
                        <a:t>Nút thoát</a:t>
                      </a:r>
                    </a:p>
                  </a:txBody>
                  <a:tcPr/>
                </a:tc>
                <a:extLst>
                  <a:ext uri="{0D108BD9-81ED-4DB2-BD59-A6C34878D82A}">
                    <a16:rowId xmlns:a16="http://schemas.microsoft.com/office/drawing/2014/main" val="42554777"/>
                  </a:ext>
                </a:extLst>
              </a:tr>
              <a:tr h="660366">
                <a:tc>
                  <a:txBody>
                    <a:bodyPr/>
                    <a:lstStyle/>
                    <a:p>
                      <a:r>
                        <a:rPr lang="en-US" sz="1600"/>
                        <a:t>Emotions</a:t>
                      </a:r>
                    </a:p>
                  </a:txBody>
                  <a:tcPr/>
                </a:tc>
                <a:tc>
                  <a:txBody>
                    <a:bodyPr/>
                    <a:lstStyle/>
                    <a:p>
                      <a:pPr algn="ctr"/>
                      <a:r>
                        <a:rPr lang="en-US" sz="2800"/>
                        <a:t>😐</a:t>
                      </a:r>
                    </a:p>
                  </a:txBody>
                  <a:tcPr anchor="ctr"/>
                </a:tc>
                <a:tc>
                  <a:txBody>
                    <a:bodyPr/>
                    <a:lstStyle/>
                    <a:p>
                      <a:pPr algn="ctr"/>
                      <a:r>
                        <a:rPr lang="en-US" sz="2800"/>
                        <a:t>🥱</a:t>
                      </a:r>
                    </a:p>
                  </a:txBody>
                  <a:tcPr anchor="b"/>
                </a:tc>
                <a:tc>
                  <a:txBody>
                    <a:bodyPr/>
                    <a:lstStyle/>
                    <a:p>
                      <a:pPr algn="ctr"/>
                      <a:r>
                        <a:rPr lang="en-US" sz="2800"/>
                        <a:t>☹️</a:t>
                      </a:r>
                    </a:p>
                  </a:txBody>
                  <a:tcPr anchor="ctr"/>
                </a:tc>
                <a:extLst>
                  <a:ext uri="{0D108BD9-81ED-4DB2-BD59-A6C34878D82A}">
                    <a16:rowId xmlns:a16="http://schemas.microsoft.com/office/drawing/2014/main" val="2343995013"/>
                  </a:ext>
                </a:extLst>
              </a:tr>
              <a:tr h="660366">
                <a:tc>
                  <a:txBody>
                    <a:bodyPr/>
                    <a:lstStyle/>
                    <a:p>
                      <a:r>
                        <a:rPr lang="en-US" sz="1600"/>
                        <a:t>Painpoints</a:t>
                      </a:r>
                    </a:p>
                  </a:txBody>
                  <a:tcPr/>
                </a:tc>
                <a:tc>
                  <a:txBody>
                    <a:bodyPr/>
                    <a:lstStyle/>
                    <a:p>
                      <a:pPr marL="285750" indent="-285750">
                        <a:buFont typeface="Arial" panose="020B0604020202020204" pitchFamily="34" charset="0"/>
                        <a:buChar char="•"/>
                      </a:pPr>
                      <a:endParaRPr lang="en-US" sz="1600"/>
                    </a:p>
                  </a:txBody>
                  <a:tcPr/>
                </a:tc>
                <a:tc>
                  <a:txBody>
                    <a:bodyPr/>
                    <a:lstStyle/>
                    <a:p>
                      <a:pPr marL="285750" indent="-285750">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Khó hiểu nhưng không biết hỏi ai.</a:t>
                      </a:r>
                      <a:endParaRPr lang="en-US" sz="160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Học một mình, thiếu tương tác.</a:t>
                      </a:r>
                      <a:endParaRPr lang="en-US" sz="16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85750" indent="-285750">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Không có cơ chế khuyến khích khi tiến </a:t>
                      </a:r>
                      <a:r>
                        <a:rPr lang="en-US" sz="1600">
                          <a:latin typeface="Calibri" panose="020F0502020204030204" pitchFamily="34" charset="0"/>
                          <a:ea typeface="Calibri" panose="020F0502020204030204" pitchFamily="34" charset="0"/>
                          <a:cs typeface="Calibri" panose="020F0502020204030204" pitchFamily="34" charset="0"/>
                        </a:rPr>
                        <a:t>độ</a:t>
                      </a:r>
                      <a:r>
                        <a:rPr lang="vi-VN" sz="1600">
                          <a:latin typeface="Calibri" panose="020F0502020204030204" pitchFamily="34" charset="0"/>
                          <a:ea typeface="Calibri" panose="020F0502020204030204" pitchFamily="34" charset="0"/>
                          <a:cs typeface="Calibri" panose="020F0502020204030204" pitchFamily="34" charset="0"/>
                        </a:rPr>
                        <a:t> chậm.</a:t>
                      </a:r>
                      <a:endParaRPr lang="en-US" sz="160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Áp lực khi hệ thống vẫn hiển thị “Chưa hoàn thành bài học”.</a:t>
                      </a:r>
                    </a:p>
                  </a:txBody>
                  <a:tcPr/>
                </a:tc>
                <a:extLst>
                  <a:ext uri="{0D108BD9-81ED-4DB2-BD59-A6C34878D82A}">
                    <a16:rowId xmlns:a16="http://schemas.microsoft.com/office/drawing/2014/main" val="139682283"/>
                  </a:ext>
                </a:extLst>
              </a:tr>
              <a:tr h="660366">
                <a:tc>
                  <a:txBody>
                    <a:bodyPr/>
                    <a:lstStyle/>
                    <a:p>
                      <a:r>
                        <a:rPr lang="en-US" sz="1600"/>
                        <a:t>Opportunities</a:t>
                      </a:r>
                    </a:p>
                  </a:txBody>
                  <a:tcPr/>
                </a:tc>
                <a:tc>
                  <a:txBody>
                    <a:bodyPr/>
                    <a:lstStyle/>
                    <a:p>
                      <a:pPr marL="285750" indent="-285750">
                        <a:buFont typeface="Arial" panose="020B0604020202020204" pitchFamily="34" charset="0"/>
                        <a:buChar char="•"/>
                      </a:pPr>
                      <a:endParaRPr lang="en-US" sz="1600"/>
                    </a:p>
                  </a:txBody>
                  <a:tcPr/>
                </a:tc>
                <a:tc>
                  <a:txBody>
                    <a:bodyPr/>
                    <a:lstStyle/>
                    <a:p>
                      <a:pPr marL="0" indent="0">
                        <a:buFont typeface="Arial" panose="020B0604020202020204" pitchFamily="34" charset="0"/>
                        <a:buNone/>
                      </a:pPr>
                      <a:r>
                        <a:rPr lang="vi-VN" sz="1600">
                          <a:latin typeface="Calibri" panose="020F0502020204030204" pitchFamily="34" charset="0"/>
                          <a:ea typeface="Calibri" panose="020F0502020204030204" pitchFamily="34" charset="0"/>
                          <a:cs typeface="Calibri" panose="020F0502020204030204" pitchFamily="34" charset="0"/>
                        </a:rPr>
                        <a:t>Tăng tương tác: </a:t>
                      </a:r>
                      <a:r>
                        <a:rPr lang="en-US" sz="1600">
                          <a:latin typeface="Calibri" panose="020F0502020204030204" pitchFamily="34" charset="0"/>
                          <a:ea typeface="Calibri" panose="020F0502020204030204" pitchFamily="34" charset="0"/>
                          <a:cs typeface="Calibri" panose="020F0502020204030204" pitchFamily="34" charset="0"/>
                        </a:rPr>
                        <a:t>Q&amp;A thảo luận với những người cùng học bài học.</a:t>
                      </a:r>
                    </a:p>
                  </a:txBody>
                  <a:tcPr/>
                </a:tc>
                <a:tc>
                  <a:txBody>
                    <a:bodyPr/>
                    <a:lstStyle/>
                    <a:p>
                      <a:r>
                        <a:rPr lang="en-US" sz="1600"/>
                        <a:t>Kết nối với người cùng học khóa học để giúp đỡ thúc đẩy lẫn nhau.</a:t>
                      </a:r>
                    </a:p>
                  </a:txBody>
                  <a:tcPr/>
                </a:tc>
                <a:extLst>
                  <a:ext uri="{0D108BD9-81ED-4DB2-BD59-A6C34878D82A}">
                    <a16:rowId xmlns:a16="http://schemas.microsoft.com/office/drawing/2014/main" val="4215407046"/>
                  </a:ext>
                </a:extLst>
              </a:tr>
            </a:tbl>
          </a:graphicData>
        </a:graphic>
      </p:graphicFrame>
      <p:cxnSp>
        <p:nvCxnSpPr>
          <p:cNvPr id="9" name="Straight Arrow Connector 8">
            <a:extLst>
              <a:ext uri="{FF2B5EF4-FFF2-40B4-BE49-F238E27FC236}">
                <a16:creationId xmlns:a16="http://schemas.microsoft.com/office/drawing/2014/main" id="{C272EE6B-3066-4BFE-BF3F-2D7F103524B3}"/>
              </a:ext>
            </a:extLst>
          </p:cNvPr>
          <p:cNvCxnSpPr>
            <a:cxnSpLocks/>
          </p:cNvCxnSpPr>
          <p:nvPr/>
        </p:nvCxnSpPr>
        <p:spPr>
          <a:xfrm>
            <a:off x="3461657" y="4427375"/>
            <a:ext cx="2985796" cy="32657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FC155CB3-7E4D-CCF7-05A5-062939FAD486}"/>
              </a:ext>
            </a:extLst>
          </p:cNvPr>
          <p:cNvCxnSpPr>
            <a:cxnSpLocks/>
          </p:cNvCxnSpPr>
          <p:nvPr/>
        </p:nvCxnSpPr>
        <p:spPr>
          <a:xfrm>
            <a:off x="6974631" y="4753947"/>
            <a:ext cx="3181739" cy="30047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8" name="Picture 2" descr="Sinh viên vùng cao gặp nhiều khó khăn trong việc học online -0">
            <a:extLst>
              <a:ext uri="{FF2B5EF4-FFF2-40B4-BE49-F238E27FC236}">
                <a16:creationId xmlns:a16="http://schemas.microsoft.com/office/drawing/2014/main" id="{757C4709-9D5A-4708-5593-E5BCC6C10B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46" t="1225" r="44003" b="36628"/>
          <a:stretch>
            <a:fillRect/>
          </a:stretch>
        </p:blipFill>
        <p:spPr bwMode="auto">
          <a:xfrm>
            <a:off x="779211" y="932943"/>
            <a:ext cx="1637417" cy="1716951"/>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027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FC17A-F512-3F84-B7D5-9EA2C1C049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21C5DC-8450-BA5C-7A6F-2835175B8163}"/>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solidFill>
                  <a:srgbClr val="C00000"/>
                </a:solidFill>
              </a:rPr>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2E287B8B-3212-9459-EFDF-CE9B470F25D5}"/>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BEC5BBEC-4F3E-F917-E1DD-D67343A5BE98}"/>
              </a:ext>
            </a:extLst>
          </p:cNvPr>
          <p:cNvSpPr>
            <a:spLocks noGrp="1"/>
          </p:cNvSpPr>
          <p:nvPr>
            <p:ph type="sldNum" sz="quarter" idx="12"/>
          </p:nvPr>
        </p:nvSpPr>
        <p:spPr/>
        <p:txBody>
          <a:bodyPr/>
          <a:lstStyle/>
          <a:p>
            <a:fld id="{9EA0BE3B-158A-4EDF-80DC-E394A0D1600F}" type="slidenum">
              <a:rPr lang="en-US" smtClean="0"/>
              <a:pPr/>
              <a:t>16</a:t>
            </a:fld>
            <a:endParaRPr lang="en-US"/>
          </a:p>
        </p:txBody>
      </p:sp>
    </p:spTree>
    <p:extLst>
      <p:ext uri="{BB962C8B-B14F-4D97-AF65-F5344CB8AC3E}">
        <p14:creationId xmlns:p14="http://schemas.microsoft.com/office/powerpoint/2010/main" val="1899996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3. Câu chuyện người dùng – user story</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p:txBody>
          <a:bodyPr/>
          <a:lstStyle/>
          <a:p>
            <a:pPr algn="just"/>
            <a:r>
              <a:rPr lang="en-US"/>
              <a:t>Là một học viên, tôi muốn nhận lời mời tham gia vào phòng học online cùng bạn bè để trao đổi thảo luận tốt hơn mà không phải lên thư viện.</a:t>
            </a:r>
          </a:p>
          <a:p>
            <a:pPr algn="just"/>
            <a:r>
              <a:rPr lang="en-US"/>
              <a:t>Là một học sinh học online, tôi muốn nhận được lời nhắc về các buổi học với giáo viên và các buổi học nhóm để không bỏ lỡ bài học nào.</a:t>
            </a:r>
          </a:p>
          <a:p>
            <a:pPr algn="just"/>
            <a:r>
              <a:rPr lang="en-US"/>
              <a:t>Là một học viên, tôi muốn học thời gian thực với giáo viên thay vì học từ video quay sẵn để tôi có thể hỏi giáo viên bất cứ khi nào cần thiết.</a:t>
            </a:r>
          </a:p>
          <a:p>
            <a:pPr algn="just"/>
            <a:r>
              <a:rPr lang="en-US"/>
              <a:t>Là một giáo viên tự do, tôi muốn giảng dạy thời gian thực với học viên để nhận được phản hồi và thay đổi chất lượng giảng dạy nhanh hơn.</a:t>
            </a:r>
          </a:p>
          <a:p>
            <a:pPr algn="just"/>
            <a:r>
              <a:rPr lang="en-US"/>
              <a:t>Là một giáo viên tự do, tôi muốn tạo lớp học một ngày trước khi dạy và thông báo đến toàn bộ học viên khóa học về lịch học.</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17</a:t>
            </a:fld>
            <a:endParaRPr lang="en-US"/>
          </a:p>
        </p:txBody>
      </p:sp>
    </p:spTree>
    <p:extLst>
      <p:ext uri="{BB962C8B-B14F-4D97-AF65-F5344CB8AC3E}">
        <p14:creationId xmlns:p14="http://schemas.microsoft.com/office/powerpoint/2010/main" val="2227036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3482-FD43-A491-2C17-8D4560EC7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0C845-CDB2-8832-0476-4319EEE84F2B}"/>
              </a:ext>
            </a:extLst>
          </p:cNvPr>
          <p:cNvSpPr>
            <a:spLocks noGrp="1"/>
          </p:cNvSpPr>
          <p:nvPr>
            <p:ph type="title"/>
          </p:nvPr>
        </p:nvSpPr>
        <p:spPr/>
        <p:txBody>
          <a:bodyPr/>
          <a:lstStyle/>
          <a:p>
            <a:r>
              <a:rPr lang="en-US"/>
              <a:t>3. Bản đồ câu chuyện người dùng – user story mapping</a:t>
            </a:r>
          </a:p>
        </p:txBody>
      </p:sp>
      <p:sp>
        <p:nvSpPr>
          <p:cNvPr id="6" name="Slide Number Placeholder 5">
            <a:extLst>
              <a:ext uri="{FF2B5EF4-FFF2-40B4-BE49-F238E27FC236}">
                <a16:creationId xmlns:a16="http://schemas.microsoft.com/office/drawing/2014/main" id="{A9295890-3109-13CE-1CA3-27598BF13D56}"/>
              </a:ext>
            </a:extLst>
          </p:cNvPr>
          <p:cNvSpPr>
            <a:spLocks noGrp="1"/>
          </p:cNvSpPr>
          <p:nvPr>
            <p:ph type="sldNum" sz="quarter" idx="12"/>
          </p:nvPr>
        </p:nvSpPr>
        <p:spPr/>
        <p:txBody>
          <a:bodyPr/>
          <a:lstStyle/>
          <a:p>
            <a:fld id="{9EA0BE3B-158A-4EDF-80DC-E394A0D1600F}" type="slidenum">
              <a:rPr lang="en-US" smtClean="0"/>
              <a:pPr/>
              <a:t>18</a:t>
            </a:fld>
            <a:endParaRPr lang="en-US"/>
          </a:p>
        </p:txBody>
      </p:sp>
      <p:graphicFrame>
        <p:nvGraphicFramePr>
          <p:cNvPr id="4" name="Table 3">
            <a:extLst>
              <a:ext uri="{FF2B5EF4-FFF2-40B4-BE49-F238E27FC236}">
                <a16:creationId xmlns:a16="http://schemas.microsoft.com/office/drawing/2014/main" id="{DCBB4AB7-E2D6-6541-9AAD-41796121D3D9}"/>
              </a:ext>
            </a:extLst>
          </p:cNvPr>
          <p:cNvGraphicFramePr>
            <a:graphicFrameLocks noGrp="1"/>
          </p:cNvGraphicFramePr>
          <p:nvPr>
            <p:extLst>
              <p:ext uri="{D42A27DB-BD31-4B8C-83A1-F6EECF244321}">
                <p14:modId xmlns:p14="http://schemas.microsoft.com/office/powerpoint/2010/main" val="3034730235"/>
              </p:ext>
            </p:extLst>
          </p:nvPr>
        </p:nvGraphicFramePr>
        <p:xfrm>
          <a:off x="337540" y="1032510"/>
          <a:ext cx="11469682" cy="4976404"/>
        </p:xfrm>
        <a:graphic>
          <a:graphicData uri="http://schemas.openxmlformats.org/drawingml/2006/table">
            <a:tbl>
              <a:tblPr>
                <a:tableStyleId>{5C22544A-7EE6-4342-B048-85BDC9FD1C3A}</a:tableStyleId>
              </a:tblPr>
              <a:tblGrid>
                <a:gridCol w="1817878">
                  <a:extLst>
                    <a:ext uri="{9D8B030D-6E8A-4147-A177-3AD203B41FA5}">
                      <a16:colId xmlns:a16="http://schemas.microsoft.com/office/drawing/2014/main" val="2687270458"/>
                    </a:ext>
                  </a:extLst>
                </a:gridCol>
                <a:gridCol w="1975452">
                  <a:extLst>
                    <a:ext uri="{9D8B030D-6E8A-4147-A177-3AD203B41FA5}">
                      <a16:colId xmlns:a16="http://schemas.microsoft.com/office/drawing/2014/main" val="614146068"/>
                    </a:ext>
                  </a:extLst>
                </a:gridCol>
                <a:gridCol w="1919088">
                  <a:extLst>
                    <a:ext uri="{9D8B030D-6E8A-4147-A177-3AD203B41FA5}">
                      <a16:colId xmlns:a16="http://schemas.microsoft.com/office/drawing/2014/main" val="2017165593"/>
                    </a:ext>
                  </a:extLst>
                </a:gridCol>
                <a:gridCol w="1919088">
                  <a:extLst>
                    <a:ext uri="{9D8B030D-6E8A-4147-A177-3AD203B41FA5}">
                      <a16:colId xmlns:a16="http://schemas.microsoft.com/office/drawing/2014/main" val="1655541823"/>
                    </a:ext>
                  </a:extLst>
                </a:gridCol>
                <a:gridCol w="1919088">
                  <a:extLst>
                    <a:ext uri="{9D8B030D-6E8A-4147-A177-3AD203B41FA5}">
                      <a16:colId xmlns:a16="http://schemas.microsoft.com/office/drawing/2014/main" val="3496421162"/>
                    </a:ext>
                  </a:extLst>
                </a:gridCol>
                <a:gridCol w="1919088">
                  <a:extLst>
                    <a:ext uri="{9D8B030D-6E8A-4147-A177-3AD203B41FA5}">
                      <a16:colId xmlns:a16="http://schemas.microsoft.com/office/drawing/2014/main" val="3975075739"/>
                    </a:ext>
                  </a:extLst>
                </a:gridCol>
              </a:tblGrid>
              <a:tr h="916706">
                <a:tc>
                  <a:txBody>
                    <a:bodyPr/>
                    <a:lstStyle/>
                    <a:p>
                      <a:pPr algn="ctr"/>
                      <a:r>
                        <a:rPr lang="en-US" b="1"/>
                        <a:t>Epic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Phòng học nhóm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Dạy học online thời gian thực</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1961808"/>
                  </a:ext>
                </a:extLst>
              </a:tr>
              <a:tr h="1309580">
                <a:tc>
                  <a:txBody>
                    <a:bodyPr/>
                    <a:lstStyle/>
                    <a:p>
                      <a:pPr algn="ctr"/>
                      <a:r>
                        <a:rPr lang="en-US" b="1"/>
                        <a:t>Nhiệm vụ - Tasks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Mời bạn vào phòng học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Thảo luận, trao đổi trong phòng học</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Tạo lớp học</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Phát trực tiếp video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Tương tác với học viên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4026198568"/>
                  </a:ext>
                </a:extLst>
              </a:tr>
              <a:tr h="916706">
                <a:tc>
                  <a:txBody>
                    <a:bodyPr/>
                    <a:lstStyle/>
                    <a:p>
                      <a:pPr algn="ctr"/>
                      <a:r>
                        <a:rPr lang="en-US" b="1"/>
                        <a:t>Release 1</a:t>
                      </a:r>
                    </a:p>
                    <a:p>
                      <a:pPr algn="ctr"/>
                      <a:r>
                        <a:rPr lang="en-US" b="1"/>
                        <a:t>(MVP)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Mời bằng mã phòng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Chia sẻ màn hình</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Tạo lớp học tức thì</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Phát video từ camera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Chat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448047331"/>
                  </a:ext>
                </a:extLst>
              </a:tr>
              <a:tr h="916706">
                <a:tc>
                  <a:txBody>
                    <a:bodyPr/>
                    <a:lstStyle/>
                    <a:p>
                      <a:pPr algn="ctr"/>
                      <a:endParaRPr lang="en-US"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Mời trực tiếp tài khoản bạn bè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Chat</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Tạo lớp học dự kiến</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Phát video từ màn hình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5148040"/>
                  </a:ext>
                </a:extLst>
              </a:tr>
              <a:tr h="916706">
                <a:tc>
                  <a:txBody>
                    <a:bodyPr/>
                    <a:lstStyle/>
                    <a:p>
                      <a:pPr algn="ctr"/>
                      <a:r>
                        <a:rPr lang="en-US" b="1"/>
                        <a:t>Release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Canvas làm việc chung</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Lưu video buổi học vào kho tài liệu của khóa học</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6806857"/>
                  </a:ext>
                </a:extLst>
              </a:tr>
            </a:tbl>
          </a:graphicData>
        </a:graphic>
      </p:graphicFrame>
    </p:spTree>
    <p:extLst>
      <p:ext uri="{BB962C8B-B14F-4D97-AF65-F5344CB8AC3E}">
        <p14:creationId xmlns:p14="http://schemas.microsoft.com/office/powerpoint/2010/main" val="103355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915FB-1233-46FF-85C1-D5098BFD4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D7F13-6A6F-9AF8-929C-DFB31B0C3CE3}"/>
              </a:ext>
            </a:extLst>
          </p:cNvPr>
          <p:cNvSpPr>
            <a:spLocks noGrp="1"/>
          </p:cNvSpPr>
          <p:nvPr>
            <p:ph type="title"/>
          </p:nvPr>
        </p:nvSpPr>
        <p:spPr/>
        <p:txBody>
          <a:bodyPr/>
          <a:lstStyle/>
          <a:p>
            <a:r>
              <a:rPr lang="en-US"/>
              <a:t>3. Sản phẩm khả thi tối thiểu – minimum viable product</a:t>
            </a:r>
          </a:p>
        </p:txBody>
      </p:sp>
      <p:sp>
        <p:nvSpPr>
          <p:cNvPr id="3" name="Text Placeholder 2">
            <a:extLst>
              <a:ext uri="{FF2B5EF4-FFF2-40B4-BE49-F238E27FC236}">
                <a16:creationId xmlns:a16="http://schemas.microsoft.com/office/drawing/2014/main" id="{EF59F199-4A05-C2B4-4592-479F5B8CD2FC}"/>
              </a:ext>
            </a:extLst>
          </p:cNvPr>
          <p:cNvSpPr>
            <a:spLocks noGrp="1"/>
          </p:cNvSpPr>
          <p:nvPr>
            <p:ph type="body" sz="quarter" idx="13"/>
          </p:nvPr>
        </p:nvSpPr>
        <p:spPr/>
        <p:txBody>
          <a:bodyPr/>
          <a:lstStyle/>
          <a:p>
            <a:r>
              <a:rPr lang="en-US" b="1"/>
              <a:t>Các tính năng trong MVP:</a:t>
            </a:r>
          </a:p>
          <a:p>
            <a:endParaRPr lang="en-US"/>
          </a:p>
          <a:p>
            <a:pPr lvl="1" algn="just"/>
            <a:r>
              <a:rPr lang="en-US" b="1"/>
              <a:t>Học nhóm </a:t>
            </a:r>
            <a:r>
              <a:rPr lang="en-US"/>
              <a:t>(học sinh – học sinh): Thảo luận, trao đổi, chia sẻ màn hình, camera, tin nhắn.</a:t>
            </a:r>
          </a:p>
          <a:p>
            <a:pPr lvl="1" algn="just"/>
            <a:endParaRPr lang="en-US"/>
          </a:p>
          <a:p>
            <a:pPr lvl="1" algn="just"/>
            <a:r>
              <a:rPr lang="en-US" b="1"/>
              <a:t>Dạy học online </a:t>
            </a:r>
            <a:r>
              <a:rPr lang="en-US"/>
              <a:t>(giáo viên – học sinh): Tạo, lên lịch buổi học, chia sẻ màn hình, camera, chia sẻ tin nhắn, bài giảng.</a:t>
            </a:r>
          </a:p>
          <a:p>
            <a:pPr lvl="1" algn="just"/>
            <a:endParaRPr lang="en-US"/>
          </a:p>
          <a:p>
            <a:pPr lvl="1" algn="just"/>
            <a:r>
              <a:rPr lang="en-US" b="1"/>
              <a:t>Đăng ký/mua khóa học </a:t>
            </a:r>
            <a:r>
              <a:rPr lang="en-US"/>
              <a:t>để được tiếp cận vào lớp học và phòng học nhóm.</a:t>
            </a:r>
          </a:p>
        </p:txBody>
      </p:sp>
      <p:sp>
        <p:nvSpPr>
          <p:cNvPr id="6" name="Slide Number Placeholder 5">
            <a:extLst>
              <a:ext uri="{FF2B5EF4-FFF2-40B4-BE49-F238E27FC236}">
                <a16:creationId xmlns:a16="http://schemas.microsoft.com/office/drawing/2014/main" id="{9353BEFD-A165-9995-1D3E-D5C59896872F}"/>
              </a:ext>
            </a:extLst>
          </p:cNvPr>
          <p:cNvSpPr>
            <a:spLocks noGrp="1"/>
          </p:cNvSpPr>
          <p:nvPr>
            <p:ph type="sldNum" sz="quarter" idx="12"/>
          </p:nvPr>
        </p:nvSpPr>
        <p:spPr/>
        <p:txBody>
          <a:bodyPr/>
          <a:lstStyle/>
          <a:p>
            <a:fld id="{9EA0BE3B-158A-4EDF-80DC-E394A0D1600F}" type="slidenum">
              <a:rPr lang="en-US" smtClean="0"/>
              <a:pPr/>
              <a:t>19</a:t>
            </a:fld>
            <a:endParaRPr lang="en-US"/>
          </a:p>
        </p:txBody>
      </p:sp>
    </p:spTree>
    <p:extLst>
      <p:ext uri="{BB962C8B-B14F-4D97-AF65-F5344CB8AC3E}">
        <p14:creationId xmlns:p14="http://schemas.microsoft.com/office/powerpoint/2010/main" val="767852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4AF5B-6822-D128-45BB-899A0F083A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1E232C-DF89-4FD9-E567-7AA7E1B04790}"/>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solidFill>
                  <a:srgbClr val="C00000"/>
                </a:solidFill>
              </a:rPr>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96D66069-2C78-4F7F-3E4A-432826DF3D7C}"/>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B748827B-DA90-E337-9297-A8923967FEAD}"/>
              </a:ext>
            </a:extLst>
          </p:cNvPr>
          <p:cNvSpPr>
            <a:spLocks noGrp="1"/>
          </p:cNvSpPr>
          <p:nvPr>
            <p:ph type="sldNum" sz="quarter" idx="12"/>
          </p:nvPr>
        </p:nvSpPr>
        <p:spPr/>
        <p:txBody>
          <a:bodyPr/>
          <a:lstStyle/>
          <a:p>
            <a:fld id="{9EA0BE3B-158A-4EDF-80DC-E394A0D1600F}" type="slidenum">
              <a:rPr lang="en-US" smtClean="0"/>
              <a:pPr/>
              <a:t>20</a:t>
            </a:fld>
            <a:endParaRPr lang="en-US"/>
          </a:p>
        </p:txBody>
      </p:sp>
    </p:spTree>
    <p:extLst>
      <p:ext uri="{BB962C8B-B14F-4D97-AF65-F5344CB8AC3E}">
        <p14:creationId xmlns:p14="http://schemas.microsoft.com/office/powerpoint/2010/main" val="4268790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4. Phân tích nhiệm vụ (Task analysis)</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p:txBody>
          <a:bodyPr/>
          <a:lstStyle/>
          <a:p>
            <a:r>
              <a:rPr lang="en-US"/>
              <a:t>Học viên đăng ký khóa học</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21</a:t>
            </a:fld>
            <a:endParaRPr lang="en-US"/>
          </a:p>
        </p:txBody>
      </p:sp>
      <p:pic>
        <p:nvPicPr>
          <p:cNvPr id="5" name="Picture 4">
            <a:extLst>
              <a:ext uri="{FF2B5EF4-FFF2-40B4-BE49-F238E27FC236}">
                <a16:creationId xmlns:a16="http://schemas.microsoft.com/office/drawing/2014/main" id="{FB36011A-11B5-D71E-BAEA-7EB2F21F2C6A}"/>
              </a:ext>
            </a:extLst>
          </p:cNvPr>
          <p:cNvPicPr>
            <a:picLocks noChangeAspect="1"/>
          </p:cNvPicPr>
          <p:nvPr/>
        </p:nvPicPr>
        <p:blipFill>
          <a:blip r:embed="rId2"/>
          <a:stretch>
            <a:fillRect/>
          </a:stretch>
        </p:blipFill>
        <p:spPr>
          <a:xfrm>
            <a:off x="3089844" y="1853011"/>
            <a:ext cx="6011114" cy="3972479"/>
          </a:xfrm>
          <a:prstGeom prst="rect">
            <a:avLst/>
          </a:prstGeom>
        </p:spPr>
      </p:pic>
    </p:spTree>
    <p:extLst>
      <p:ext uri="{BB962C8B-B14F-4D97-AF65-F5344CB8AC3E}">
        <p14:creationId xmlns:p14="http://schemas.microsoft.com/office/powerpoint/2010/main" val="2911919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477B0-80A8-192B-5B8D-2D6024307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F29D7-5985-9E05-CF18-A213EB9098D6}"/>
              </a:ext>
            </a:extLst>
          </p:cNvPr>
          <p:cNvSpPr>
            <a:spLocks noGrp="1"/>
          </p:cNvSpPr>
          <p:nvPr>
            <p:ph type="title"/>
          </p:nvPr>
        </p:nvSpPr>
        <p:spPr/>
        <p:txBody>
          <a:bodyPr/>
          <a:lstStyle/>
          <a:p>
            <a:r>
              <a:rPr lang="en-US"/>
              <a:t>4. Phân tích nhiệm vụ (Task analysis)</a:t>
            </a:r>
          </a:p>
        </p:txBody>
      </p:sp>
      <p:sp>
        <p:nvSpPr>
          <p:cNvPr id="3" name="Text Placeholder 2">
            <a:extLst>
              <a:ext uri="{FF2B5EF4-FFF2-40B4-BE49-F238E27FC236}">
                <a16:creationId xmlns:a16="http://schemas.microsoft.com/office/drawing/2014/main" id="{F2A48EE1-C9A8-DD95-C34A-0F89B35AD634}"/>
              </a:ext>
            </a:extLst>
          </p:cNvPr>
          <p:cNvSpPr>
            <a:spLocks noGrp="1"/>
          </p:cNvSpPr>
          <p:nvPr>
            <p:ph type="body" sz="quarter" idx="13"/>
          </p:nvPr>
        </p:nvSpPr>
        <p:spPr/>
        <p:txBody>
          <a:bodyPr/>
          <a:lstStyle/>
          <a:p>
            <a:r>
              <a:rPr lang="en-US"/>
              <a:t>Học viên tham gia phòng học</a:t>
            </a:r>
          </a:p>
        </p:txBody>
      </p:sp>
      <p:sp>
        <p:nvSpPr>
          <p:cNvPr id="6" name="Slide Number Placeholder 5">
            <a:extLst>
              <a:ext uri="{FF2B5EF4-FFF2-40B4-BE49-F238E27FC236}">
                <a16:creationId xmlns:a16="http://schemas.microsoft.com/office/drawing/2014/main" id="{278F05DD-AABE-FA1B-0922-A438B1C0DE26}"/>
              </a:ext>
            </a:extLst>
          </p:cNvPr>
          <p:cNvSpPr>
            <a:spLocks noGrp="1"/>
          </p:cNvSpPr>
          <p:nvPr>
            <p:ph type="sldNum" sz="quarter" idx="12"/>
          </p:nvPr>
        </p:nvSpPr>
        <p:spPr/>
        <p:txBody>
          <a:bodyPr/>
          <a:lstStyle/>
          <a:p>
            <a:fld id="{9EA0BE3B-158A-4EDF-80DC-E394A0D1600F}" type="slidenum">
              <a:rPr lang="en-US" smtClean="0"/>
              <a:pPr/>
              <a:t>22</a:t>
            </a:fld>
            <a:endParaRPr lang="en-US"/>
          </a:p>
        </p:txBody>
      </p:sp>
      <p:pic>
        <p:nvPicPr>
          <p:cNvPr id="7" name="Picture 6">
            <a:extLst>
              <a:ext uri="{FF2B5EF4-FFF2-40B4-BE49-F238E27FC236}">
                <a16:creationId xmlns:a16="http://schemas.microsoft.com/office/drawing/2014/main" id="{A6F78191-1FFA-DBFB-E35C-B9A7AE101AB8}"/>
              </a:ext>
            </a:extLst>
          </p:cNvPr>
          <p:cNvPicPr>
            <a:picLocks noChangeAspect="1"/>
          </p:cNvPicPr>
          <p:nvPr/>
        </p:nvPicPr>
        <p:blipFill>
          <a:blip r:embed="rId2"/>
          <a:stretch>
            <a:fillRect/>
          </a:stretch>
        </p:blipFill>
        <p:spPr>
          <a:xfrm>
            <a:off x="1518598" y="2433498"/>
            <a:ext cx="9154803" cy="1991003"/>
          </a:xfrm>
          <a:prstGeom prst="rect">
            <a:avLst/>
          </a:prstGeom>
        </p:spPr>
      </p:pic>
    </p:spTree>
    <p:extLst>
      <p:ext uri="{BB962C8B-B14F-4D97-AF65-F5344CB8AC3E}">
        <p14:creationId xmlns:p14="http://schemas.microsoft.com/office/powerpoint/2010/main" val="797296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C53E6-9468-BB4F-FB20-86C613E38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EBD92-15D0-3791-C3F3-AE97793A6EBF}"/>
              </a:ext>
            </a:extLst>
          </p:cNvPr>
          <p:cNvSpPr>
            <a:spLocks noGrp="1"/>
          </p:cNvSpPr>
          <p:nvPr>
            <p:ph type="title"/>
          </p:nvPr>
        </p:nvSpPr>
        <p:spPr/>
        <p:txBody>
          <a:bodyPr/>
          <a:lstStyle/>
          <a:p>
            <a:r>
              <a:rPr lang="en-US"/>
              <a:t>4. Phân tích nhiệm vụ (Task analysis)</a:t>
            </a:r>
          </a:p>
        </p:txBody>
      </p:sp>
      <p:sp>
        <p:nvSpPr>
          <p:cNvPr id="3" name="Text Placeholder 2">
            <a:extLst>
              <a:ext uri="{FF2B5EF4-FFF2-40B4-BE49-F238E27FC236}">
                <a16:creationId xmlns:a16="http://schemas.microsoft.com/office/drawing/2014/main" id="{1F8B2070-6CAF-7E66-7B4A-77FE451D0010}"/>
              </a:ext>
            </a:extLst>
          </p:cNvPr>
          <p:cNvSpPr>
            <a:spLocks noGrp="1"/>
          </p:cNvSpPr>
          <p:nvPr>
            <p:ph type="body" sz="quarter" idx="13"/>
          </p:nvPr>
        </p:nvSpPr>
        <p:spPr/>
        <p:txBody>
          <a:bodyPr/>
          <a:lstStyle/>
          <a:p>
            <a:r>
              <a:rPr lang="en-US"/>
              <a:t>Giáo viên tạo khóa học</a:t>
            </a:r>
          </a:p>
        </p:txBody>
      </p:sp>
      <p:sp>
        <p:nvSpPr>
          <p:cNvPr id="6" name="Slide Number Placeholder 5">
            <a:extLst>
              <a:ext uri="{FF2B5EF4-FFF2-40B4-BE49-F238E27FC236}">
                <a16:creationId xmlns:a16="http://schemas.microsoft.com/office/drawing/2014/main" id="{0A65DA17-96D7-10B8-3D0A-8423001DB1E8}"/>
              </a:ext>
            </a:extLst>
          </p:cNvPr>
          <p:cNvSpPr>
            <a:spLocks noGrp="1"/>
          </p:cNvSpPr>
          <p:nvPr>
            <p:ph type="sldNum" sz="quarter" idx="12"/>
          </p:nvPr>
        </p:nvSpPr>
        <p:spPr/>
        <p:txBody>
          <a:bodyPr/>
          <a:lstStyle/>
          <a:p>
            <a:fld id="{9EA0BE3B-158A-4EDF-80DC-E394A0D1600F}" type="slidenum">
              <a:rPr lang="en-US" smtClean="0"/>
              <a:pPr/>
              <a:t>23</a:t>
            </a:fld>
            <a:endParaRPr lang="en-US"/>
          </a:p>
        </p:txBody>
      </p:sp>
      <p:pic>
        <p:nvPicPr>
          <p:cNvPr id="5" name="Picture 4" descr="A diagram of a company&#10;&#10;AI-generated content may be incorrect.">
            <a:extLst>
              <a:ext uri="{FF2B5EF4-FFF2-40B4-BE49-F238E27FC236}">
                <a16:creationId xmlns:a16="http://schemas.microsoft.com/office/drawing/2014/main" id="{218802B0-EBC1-6457-0ECB-C86B451901E7}"/>
              </a:ext>
            </a:extLst>
          </p:cNvPr>
          <p:cNvPicPr>
            <a:picLocks noChangeAspect="1"/>
          </p:cNvPicPr>
          <p:nvPr/>
        </p:nvPicPr>
        <p:blipFill>
          <a:blip r:embed="rId2"/>
          <a:stretch>
            <a:fillRect/>
          </a:stretch>
        </p:blipFill>
        <p:spPr>
          <a:xfrm>
            <a:off x="1063690" y="1584539"/>
            <a:ext cx="10235682" cy="4647510"/>
          </a:xfrm>
          <a:prstGeom prst="rect">
            <a:avLst/>
          </a:prstGeom>
        </p:spPr>
      </p:pic>
    </p:spTree>
    <p:extLst>
      <p:ext uri="{BB962C8B-B14F-4D97-AF65-F5344CB8AC3E}">
        <p14:creationId xmlns:p14="http://schemas.microsoft.com/office/powerpoint/2010/main" val="2993228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BD525-451F-600C-4365-ED2F62B46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F5BAC-BF2D-A618-8DDB-0C0F646A085F}"/>
              </a:ext>
            </a:extLst>
          </p:cNvPr>
          <p:cNvSpPr>
            <a:spLocks noGrp="1"/>
          </p:cNvSpPr>
          <p:nvPr>
            <p:ph type="title"/>
          </p:nvPr>
        </p:nvSpPr>
        <p:spPr/>
        <p:txBody>
          <a:bodyPr/>
          <a:lstStyle/>
          <a:p>
            <a:r>
              <a:rPr lang="en-US"/>
              <a:t>4. Phân tích nhiệm vụ (Task analysis)</a:t>
            </a:r>
          </a:p>
        </p:txBody>
      </p:sp>
      <p:sp>
        <p:nvSpPr>
          <p:cNvPr id="3" name="Text Placeholder 2">
            <a:extLst>
              <a:ext uri="{FF2B5EF4-FFF2-40B4-BE49-F238E27FC236}">
                <a16:creationId xmlns:a16="http://schemas.microsoft.com/office/drawing/2014/main" id="{52802CF0-5EB6-FDBB-DD31-23584EB8ACF6}"/>
              </a:ext>
            </a:extLst>
          </p:cNvPr>
          <p:cNvSpPr>
            <a:spLocks noGrp="1"/>
          </p:cNvSpPr>
          <p:nvPr>
            <p:ph type="body" sz="quarter" idx="13"/>
          </p:nvPr>
        </p:nvSpPr>
        <p:spPr/>
        <p:txBody>
          <a:bodyPr/>
          <a:lstStyle/>
          <a:p>
            <a:r>
              <a:rPr lang="en-US"/>
              <a:t>Người dùng (học viên hoặc giáo viên) tạo phòng học</a:t>
            </a:r>
          </a:p>
        </p:txBody>
      </p:sp>
      <p:sp>
        <p:nvSpPr>
          <p:cNvPr id="6" name="Slide Number Placeholder 5">
            <a:extLst>
              <a:ext uri="{FF2B5EF4-FFF2-40B4-BE49-F238E27FC236}">
                <a16:creationId xmlns:a16="http://schemas.microsoft.com/office/drawing/2014/main" id="{5F3B7198-39BA-4C03-39D9-8209ACE68547}"/>
              </a:ext>
            </a:extLst>
          </p:cNvPr>
          <p:cNvSpPr>
            <a:spLocks noGrp="1"/>
          </p:cNvSpPr>
          <p:nvPr>
            <p:ph type="sldNum" sz="quarter" idx="12"/>
          </p:nvPr>
        </p:nvSpPr>
        <p:spPr/>
        <p:txBody>
          <a:bodyPr/>
          <a:lstStyle/>
          <a:p>
            <a:fld id="{9EA0BE3B-158A-4EDF-80DC-E394A0D1600F}" type="slidenum">
              <a:rPr lang="en-US" smtClean="0"/>
              <a:pPr/>
              <a:t>24</a:t>
            </a:fld>
            <a:endParaRPr lang="en-US"/>
          </a:p>
        </p:txBody>
      </p:sp>
      <p:pic>
        <p:nvPicPr>
          <p:cNvPr id="9" name="Picture 8">
            <a:extLst>
              <a:ext uri="{FF2B5EF4-FFF2-40B4-BE49-F238E27FC236}">
                <a16:creationId xmlns:a16="http://schemas.microsoft.com/office/drawing/2014/main" id="{20B80F07-44B5-2811-36BA-6A81C152EE1B}"/>
              </a:ext>
            </a:extLst>
          </p:cNvPr>
          <p:cNvPicPr>
            <a:picLocks noChangeAspect="1"/>
          </p:cNvPicPr>
          <p:nvPr/>
        </p:nvPicPr>
        <p:blipFill>
          <a:blip r:embed="rId2"/>
          <a:stretch>
            <a:fillRect/>
          </a:stretch>
        </p:blipFill>
        <p:spPr>
          <a:xfrm>
            <a:off x="705828" y="1692413"/>
            <a:ext cx="10779145" cy="4278810"/>
          </a:xfrm>
          <a:prstGeom prst="rect">
            <a:avLst/>
          </a:prstGeom>
        </p:spPr>
      </p:pic>
    </p:spTree>
    <p:extLst>
      <p:ext uri="{BB962C8B-B14F-4D97-AF65-F5344CB8AC3E}">
        <p14:creationId xmlns:p14="http://schemas.microsoft.com/office/powerpoint/2010/main" val="1822166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ED831-CDE0-54C0-8B59-5ABD340B8D4B}"/>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A8F1DB2A-D0DD-3437-D274-8B24D7056812}"/>
              </a:ext>
            </a:extLst>
          </p:cNvPr>
          <p:cNvSpPr>
            <a:spLocks noGrp="1"/>
          </p:cNvSpPr>
          <p:nvPr>
            <p:ph type="body" sz="quarter" idx="13"/>
          </p:nvPr>
        </p:nvSpPr>
        <p:spPr>
          <a:xfrm>
            <a:off x="288300" y="1032510"/>
            <a:ext cx="11515725" cy="4938713"/>
          </a:xfrm>
        </p:spPr>
        <p:txBody>
          <a:bodyPr/>
          <a:lstStyle/>
          <a:p>
            <a:r>
              <a:rPr lang="en-US"/>
              <a:t>Học viên đăng ký khóa học</a:t>
            </a:r>
          </a:p>
        </p:txBody>
      </p:sp>
      <p:sp>
        <p:nvSpPr>
          <p:cNvPr id="2" name="Title 1">
            <a:extLst>
              <a:ext uri="{FF2B5EF4-FFF2-40B4-BE49-F238E27FC236}">
                <a16:creationId xmlns:a16="http://schemas.microsoft.com/office/drawing/2014/main" id="{0392B976-5512-36DC-40A4-4794D69A940F}"/>
              </a:ext>
            </a:extLst>
          </p:cNvPr>
          <p:cNvSpPr>
            <a:spLocks noGrp="1"/>
          </p:cNvSpPr>
          <p:nvPr>
            <p:ph type="title"/>
          </p:nvPr>
        </p:nvSpPr>
        <p:spPr/>
        <p:txBody>
          <a:bodyPr/>
          <a:lstStyle/>
          <a:p>
            <a:r>
              <a:rPr lang="en-US"/>
              <a:t>4. Luồng tác vụ (Task flow)</a:t>
            </a:r>
          </a:p>
        </p:txBody>
      </p:sp>
      <p:sp>
        <p:nvSpPr>
          <p:cNvPr id="6" name="Slide Number Placeholder 5">
            <a:extLst>
              <a:ext uri="{FF2B5EF4-FFF2-40B4-BE49-F238E27FC236}">
                <a16:creationId xmlns:a16="http://schemas.microsoft.com/office/drawing/2014/main" id="{494F4D18-C3A7-CAFD-28EE-5D026F337367}"/>
              </a:ext>
            </a:extLst>
          </p:cNvPr>
          <p:cNvSpPr>
            <a:spLocks noGrp="1"/>
          </p:cNvSpPr>
          <p:nvPr>
            <p:ph type="sldNum" sz="quarter" idx="12"/>
          </p:nvPr>
        </p:nvSpPr>
        <p:spPr/>
        <p:txBody>
          <a:bodyPr/>
          <a:lstStyle/>
          <a:p>
            <a:fld id="{9EA0BE3B-158A-4EDF-80DC-E394A0D1600F}" type="slidenum">
              <a:rPr lang="en-US" smtClean="0"/>
              <a:pPr/>
              <a:t>25</a:t>
            </a:fld>
            <a:endParaRPr lang="en-US"/>
          </a:p>
        </p:txBody>
      </p:sp>
      <p:pic>
        <p:nvPicPr>
          <p:cNvPr id="8" name="Picture 7">
            <a:extLst>
              <a:ext uri="{FF2B5EF4-FFF2-40B4-BE49-F238E27FC236}">
                <a16:creationId xmlns:a16="http://schemas.microsoft.com/office/drawing/2014/main" id="{1E634EC3-15F9-AE58-E859-F40E6F86D52E}"/>
              </a:ext>
            </a:extLst>
          </p:cNvPr>
          <p:cNvPicPr>
            <a:picLocks noChangeAspect="1"/>
          </p:cNvPicPr>
          <p:nvPr/>
        </p:nvPicPr>
        <p:blipFill>
          <a:blip r:embed="rId2"/>
          <a:stretch>
            <a:fillRect/>
          </a:stretch>
        </p:blipFill>
        <p:spPr>
          <a:xfrm>
            <a:off x="1212354" y="3031801"/>
            <a:ext cx="9573961" cy="1238423"/>
          </a:xfrm>
          <a:prstGeom prst="rect">
            <a:avLst/>
          </a:prstGeom>
        </p:spPr>
      </p:pic>
      <p:pic>
        <p:nvPicPr>
          <p:cNvPr id="10" name="Picture 9" descr="A black rectangle with colorful text&#10;&#10;AI-generated content may be incorrect.">
            <a:extLst>
              <a:ext uri="{FF2B5EF4-FFF2-40B4-BE49-F238E27FC236}">
                <a16:creationId xmlns:a16="http://schemas.microsoft.com/office/drawing/2014/main" id="{EF928A06-E267-559D-CA2E-EF3FD97A2416}"/>
              </a:ext>
            </a:extLst>
          </p:cNvPr>
          <p:cNvPicPr>
            <a:picLocks noChangeAspect="1"/>
          </p:cNvPicPr>
          <p:nvPr/>
        </p:nvPicPr>
        <p:blipFill>
          <a:blip r:embed="rId3"/>
          <a:srcRect b="30367"/>
          <a:stretch>
            <a:fillRect/>
          </a:stretch>
        </p:blipFill>
        <p:spPr>
          <a:xfrm>
            <a:off x="1237572" y="5032230"/>
            <a:ext cx="9716856" cy="1034814"/>
          </a:xfrm>
          <a:prstGeom prst="rect">
            <a:avLst/>
          </a:prstGeom>
        </p:spPr>
      </p:pic>
      <p:pic>
        <p:nvPicPr>
          <p:cNvPr id="12" name="Picture 11">
            <a:extLst>
              <a:ext uri="{FF2B5EF4-FFF2-40B4-BE49-F238E27FC236}">
                <a16:creationId xmlns:a16="http://schemas.microsoft.com/office/drawing/2014/main" id="{80175740-F016-D6BD-1D4A-40D3745B4E38}"/>
              </a:ext>
            </a:extLst>
          </p:cNvPr>
          <p:cNvPicPr>
            <a:picLocks noChangeAspect="1"/>
          </p:cNvPicPr>
          <p:nvPr/>
        </p:nvPicPr>
        <p:blipFill>
          <a:blip r:embed="rId4"/>
          <a:srcRect t="23019"/>
          <a:stretch>
            <a:fillRect/>
          </a:stretch>
        </p:blipFill>
        <p:spPr>
          <a:xfrm>
            <a:off x="239061" y="1483803"/>
            <a:ext cx="11564964" cy="1144030"/>
          </a:xfrm>
          <a:prstGeom prst="rect">
            <a:avLst/>
          </a:prstGeom>
        </p:spPr>
      </p:pic>
      <p:sp>
        <p:nvSpPr>
          <p:cNvPr id="5" name="Text Placeholder 2">
            <a:extLst>
              <a:ext uri="{FF2B5EF4-FFF2-40B4-BE49-F238E27FC236}">
                <a16:creationId xmlns:a16="http://schemas.microsoft.com/office/drawing/2014/main" id="{DDA60D18-C468-ACAD-8C4C-FB3B636FB946}"/>
              </a:ext>
            </a:extLst>
          </p:cNvPr>
          <p:cNvSpPr txBox="1">
            <a:spLocks/>
          </p:cNvSpPr>
          <p:nvPr/>
        </p:nvSpPr>
        <p:spPr>
          <a:xfrm>
            <a:off x="288300" y="2763047"/>
            <a:ext cx="11515725" cy="49387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Người dùng (học viên hoặc giáo viên) tạo phòng học</a:t>
            </a:r>
          </a:p>
        </p:txBody>
      </p:sp>
      <p:sp>
        <p:nvSpPr>
          <p:cNvPr id="7" name="Text Placeholder 2">
            <a:extLst>
              <a:ext uri="{FF2B5EF4-FFF2-40B4-BE49-F238E27FC236}">
                <a16:creationId xmlns:a16="http://schemas.microsoft.com/office/drawing/2014/main" id="{B1717C17-9A4E-5FFD-4FF7-6EBD4A9A08E0}"/>
              </a:ext>
            </a:extLst>
          </p:cNvPr>
          <p:cNvSpPr txBox="1">
            <a:spLocks/>
          </p:cNvSpPr>
          <p:nvPr/>
        </p:nvSpPr>
        <p:spPr>
          <a:xfrm>
            <a:off x="288300" y="4538978"/>
            <a:ext cx="11515725" cy="49387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Học viên xem bài giảng</a:t>
            </a:r>
          </a:p>
        </p:txBody>
      </p:sp>
    </p:spTree>
    <p:extLst>
      <p:ext uri="{BB962C8B-B14F-4D97-AF65-F5344CB8AC3E}">
        <p14:creationId xmlns:p14="http://schemas.microsoft.com/office/powerpoint/2010/main" val="1610050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76534-1E84-D623-8D97-525AE5131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4AFCF-C9E5-8796-2AFC-89666E53C885}"/>
              </a:ext>
            </a:extLst>
          </p:cNvPr>
          <p:cNvSpPr>
            <a:spLocks noGrp="1"/>
          </p:cNvSpPr>
          <p:nvPr>
            <p:ph type="title"/>
          </p:nvPr>
        </p:nvSpPr>
        <p:spPr/>
        <p:txBody>
          <a:bodyPr/>
          <a:lstStyle/>
          <a:p>
            <a:r>
              <a:rPr lang="en-US"/>
              <a:t>4. Luồng người dùng (User flow)</a:t>
            </a:r>
          </a:p>
        </p:txBody>
      </p:sp>
      <p:sp>
        <p:nvSpPr>
          <p:cNvPr id="3" name="Text Placeholder 2">
            <a:extLst>
              <a:ext uri="{FF2B5EF4-FFF2-40B4-BE49-F238E27FC236}">
                <a16:creationId xmlns:a16="http://schemas.microsoft.com/office/drawing/2014/main" id="{91CE2FCB-839F-4C26-1F02-8AD0ABF32621}"/>
              </a:ext>
            </a:extLst>
          </p:cNvPr>
          <p:cNvSpPr>
            <a:spLocks noGrp="1"/>
          </p:cNvSpPr>
          <p:nvPr>
            <p:ph type="body" sz="quarter" idx="13"/>
          </p:nvPr>
        </p:nvSpPr>
        <p:spPr/>
        <p:txBody>
          <a:bodyPr/>
          <a:lstStyle/>
          <a:p>
            <a:r>
              <a:rPr lang="en-US"/>
              <a:t>Học viên đăng ký khóa học</a:t>
            </a:r>
          </a:p>
        </p:txBody>
      </p:sp>
      <p:sp>
        <p:nvSpPr>
          <p:cNvPr id="6" name="Slide Number Placeholder 5">
            <a:extLst>
              <a:ext uri="{FF2B5EF4-FFF2-40B4-BE49-F238E27FC236}">
                <a16:creationId xmlns:a16="http://schemas.microsoft.com/office/drawing/2014/main" id="{345DCABD-D56C-9994-AB77-44FF32237037}"/>
              </a:ext>
            </a:extLst>
          </p:cNvPr>
          <p:cNvSpPr>
            <a:spLocks noGrp="1"/>
          </p:cNvSpPr>
          <p:nvPr>
            <p:ph type="sldNum" sz="quarter" idx="12"/>
          </p:nvPr>
        </p:nvSpPr>
        <p:spPr/>
        <p:txBody>
          <a:bodyPr/>
          <a:lstStyle/>
          <a:p>
            <a:fld id="{9EA0BE3B-158A-4EDF-80DC-E394A0D1600F}" type="slidenum">
              <a:rPr lang="en-US" smtClean="0"/>
              <a:pPr/>
              <a:t>26</a:t>
            </a:fld>
            <a:endParaRPr lang="en-US"/>
          </a:p>
        </p:txBody>
      </p:sp>
      <p:pic>
        <p:nvPicPr>
          <p:cNvPr id="5" name="Picture 4" descr="A diagram of a flowchart&#10;&#10;AI-generated content may be incorrect.">
            <a:extLst>
              <a:ext uri="{FF2B5EF4-FFF2-40B4-BE49-F238E27FC236}">
                <a16:creationId xmlns:a16="http://schemas.microsoft.com/office/drawing/2014/main" id="{73BC3CDE-9A56-1588-F9CE-2FC4ED1E8DC8}"/>
              </a:ext>
            </a:extLst>
          </p:cNvPr>
          <p:cNvPicPr>
            <a:picLocks noChangeAspect="1"/>
          </p:cNvPicPr>
          <p:nvPr/>
        </p:nvPicPr>
        <p:blipFill>
          <a:blip r:embed="rId2"/>
          <a:stretch>
            <a:fillRect/>
          </a:stretch>
        </p:blipFill>
        <p:spPr>
          <a:xfrm>
            <a:off x="3301646" y="1621789"/>
            <a:ext cx="5588708" cy="4737019"/>
          </a:xfrm>
          <a:prstGeom prst="rect">
            <a:avLst/>
          </a:prstGeom>
        </p:spPr>
      </p:pic>
    </p:spTree>
    <p:extLst>
      <p:ext uri="{BB962C8B-B14F-4D97-AF65-F5344CB8AC3E}">
        <p14:creationId xmlns:p14="http://schemas.microsoft.com/office/powerpoint/2010/main" val="826028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54255-80CD-A5DE-DEBF-65015CE6F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E7459-11F8-225D-1630-A086372AC765}"/>
              </a:ext>
            </a:extLst>
          </p:cNvPr>
          <p:cNvSpPr>
            <a:spLocks noGrp="1"/>
          </p:cNvSpPr>
          <p:nvPr>
            <p:ph type="title"/>
          </p:nvPr>
        </p:nvSpPr>
        <p:spPr/>
        <p:txBody>
          <a:bodyPr/>
          <a:lstStyle/>
          <a:p>
            <a:r>
              <a:rPr lang="en-US"/>
              <a:t>4. Luồng người dùng (User flow)</a:t>
            </a:r>
          </a:p>
        </p:txBody>
      </p:sp>
      <p:sp>
        <p:nvSpPr>
          <p:cNvPr id="3" name="Text Placeholder 2">
            <a:extLst>
              <a:ext uri="{FF2B5EF4-FFF2-40B4-BE49-F238E27FC236}">
                <a16:creationId xmlns:a16="http://schemas.microsoft.com/office/drawing/2014/main" id="{91818E98-C9FC-F7CC-ECAE-E26C73DCAB62}"/>
              </a:ext>
            </a:extLst>
          </p:cNvPr>
          <p:cNvSpPr>
            <a:spLocks noGrp="1"/>
          </p:cNvSpPr>
          <p:nvPr>
            <p:ph type="body" sz="quarter" idx="13"/>
          </p:nvPr>
        </p:nvSpPr>
        <p:spPr/>
        <p:txBody>
          <a:bodyPr/>
          <a:lstStyle/>
          <a:p>
            <a:r>
              <a:rPr lang="en-US"/>
              <a:t>Người dùng tạo phòng học</a:t>
            </a:r>
          </a:p>
        </p:txBody>
      </p:sp>
      <p:sp>
        <p:nvSpPr>
          <p:cNvPr id="6" name="Slide Number Placeholder 5">
            <a:extLst>
              <a:ext uri="{FF2B5EF4-FFF2-40B4-BE49-F238E27FC236}">
                <a16:creationId xmlns:a16="http://schemas.microsoft.com/office/drawing/2014/main" id="{518B5A22-58AD-58E0-6DC9-EB77B58116A0}"/>
              </a:ext>
            </a:extLst>
          </p:cNvPr>
          <p:cNvSpPr>
            <a:spLocks noGrp="1"/>
          </p:cNvSpPr>
          <p:nvPr>
            <p:ph type="sldNum" sz="quarter" idx="12"/>
          </p:nvPr>
        </p:nvSpPr>
        <p:spPr/>
        <p:txBody>
          <a:bodyPr/>
          <a:lstStyle/>
          <a:p>
            <a:fld id="{9EA0BE3B-158A-4EDF-80DC-E394A0D1600F}" type="slidenum">
              <a:rPr lang="en-US" smtClean="0"/>
              <a:pPr/>
              <a:t>27</a:t>
            </a:fld>
            <a:endParaRPr lang="en-US"/>
          </a:p>
        </p:txBody>
      </p:sp>
      <p:pic>
        <p:nvPicPr>
          <p:cNvPr id="10" name="Picture 9" descr="A diagram of a process&#10;&#10;AI-generated content may be incorrect.">
            <a:extLst>
              <a:ext uri="{FF2B5EF4-FFF2-40B4-BE49-F238E27FC236}">
                <a16:creationId xmlns:a16="http://schemas.microsoft.com/office/drawing/2014/main" id="{F8F2D300-A1DA-E9CF-A4ED-39CE7262772E}"/>
              </a:ext>
            </a:extLst>
          </p:cNvPr>
          <p:cNvPicPr>
            <a:picLocks noChangeAspect="1"/>
          </p:cNvPicPr>
          <p:nvPr/>
        </p:nvPicPr>
        <p:blipFill>
          <a:blip r:embed="rId2"/>
          <a:stretch>
            <a:fillRect/>
          </a:stretch>
        </p:blipFill>
        <p:spPr>
          <a:xfrm>
            <a:off x="3035602" y="1623527"/>
            <a:ext cx="6120795" cy="4599192"/>
          </a:xfrm>
          <a:prstGeom prst="rect">
            <a:avLst/>
          </a:prstGeom>
        </p:spPr>
      </p:pic>
    </p:spTree>
    <p:extLst>
      <p:ext uri="{BB962C8B-B14F-4D97-AF65-F5344CB8AC3E}">
        <p14:creationId xmlns:p14="http://schemas.microsoft.com/office/powerpoint/2010/main" val="2593340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81212-754B-52CB-5A59-14457B238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AF658-01CB-DD93-1933-6C9C779FA3DD}"/>
              </a:ext>
            </a:extLst>
          </p:cNvPr>
          <p:cNvSpPr>
            <a:spLocks noGrp="1"/>
          </p:cNvSpPr>
          <p:nvPr>
            <p:ph type="title"/>
          </p:nvPr>
        </p:nvSpPr>
        <p:spPr/>
        <p:txBody>
          <a:bodyPr/>
          <a:lstStyle/>
          <a:p>
            <a:r>
              <a:rPr lang="en-US"/>
              <a:t>4. Luồng người dùng (User flow)</a:t>
            </a:r>
          </a:p>
        </p:txBody>
      </p:sp>
      <p:sp>
        <p:nvSpPr>
          <p:cNvPr id="3" name="Text Placeholder 2">
            <a:extLst>
              <a:ext uri="{FF2B5EF4-FFF2-40B4-BE49-F238E27FC236}">
                <a16:creationId xmlns:a16="http://schemas.microsoft.com/office/drawing/2014/main" id="{54744E14-9FE6-A806-5CFF-FF1065ED57C4}"/>
              </a:ext>
            </a:extLst>
          </p:cNvPr>
          <p:cNvSpPr>
            <a:spLocks noGrp="1"/>
          </p:cNvSpPr>
          <p:nvPr>
            <p:ph type="body" sz="quarter" idx="13"/>
          </p:nvPr>
        </p:nvSpPr>
        <p:spPr/>
        <p:txBody>
          <a:bodyPr/>
          <a:lstStyle/>
          <a:p>
            <a:r>
              <a:rPr lang="en-US"/>
              <a:t>Học viên xem bài giảng</a:t>
            </a:r>
          </a:p>
        </p:txBody>
      </p:sp>
      <p:sp>
        <p:nvSpPr>
          <p:cNvPr id="6" name="Slide Number Placeholder 5">
            <a:extLst>
              <a:ext uri="{FF2B5EF4-FFF2-40B4-BE49-F238E27FC236}">
                <a16:creationId xmlns:a16="http://schemas.microsoft.com/office/drawing/2014/main" id="{DC30AB66-3E6B-49BE-AE7F-6A798F7CEE6C}"/>
              </a:ext>
            </a:extLst>
          </p:cNvPr>
          <p:cNvSpPr>
            <a:spLocks noGrp="1"/>
          </p:cNvSpPr>
          <p:nvPr>
            <p:ph type="sldNum" sz="quarter" idx="12"/>
          </p:nvPr>
        </p:nvSpPr>
        <p:spPr/>
        <p:txBody>
          <a:bodyPr/>
          <a:lstStyle/>
          <a:p>
            <a:fld id="{9EA0BE3B-158A-4EDF-80DC-E394A0D1600F}" type="slidenum">
              <a:rPr lang="en-US" smtClean="0"/>
              <a:pPr/>
              <a:t>28</a:t>
            </a:fld>
            <a:endParaRPr lang="en-US"/>
          </a:p>
        </p:txBody>
      </p:sp>
      <p:pic>
        <p:nvPicPr>
          <p:cNvPr id="5" name="Picture 4" descr="A diagram of a flowchart&#10;&#10;AI-generated content may be incorrect.">
            <a:extLst>
              <a:ext uri="{FF2B5EF4-FFF2-40B4-BE49-F238E27FC236}">
                <a16:creationId xmlns:a16="http://schemas.microsoft.com/office/drawing/2014/main" id="{C03556E0-10B7-F4B2-9CB8-57890F558E33}"/>
              </a:ext>
            </a:extLst>
          </p:cNvPr>
          <p:cNvPicPr>
            <a:picLocks noChangeAspect="1"/>
          </p:cNvPicPr>
          <p:nvPr/>
        </p:nvPicPr>
        <p:blipFill>
          <a:blip r:embed="rId2"/>
          <a:stretch>
            <a:fillRect/>
          </a:stretch>
        </p:blipFill>
        <p:spPr>
          <a:xfrm>
            <a:off x="2523027" y="1677574"/>
            <a:ext cx="7144747" cy="3648584"/>
          </a:xfrm>
          <a:prstGeom prst="rect">
            <a:avLst/>
          </a:prstGeom>
        </p:spPr>
      </p:pic>
    </p:spTree>
    <p:extLst>
      <p:ext uri="{BB962C8B-B14F-4D97-AF65-F5344CB8AC3E}">
        <p14:creationId xmlns:p14="http://schemas.microsoft.com/office/powerpoint/2010/main" val="2701722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47183-EBF2-46CE-1996-4AE4EEB76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8E244-DD70-23CA-409D-5B411920B003}"/>
              </a:ext>
            </a:extLst>
          </p:cNvPr>
          <p:cNvSpPr>
            <a:spLocks noGrp="1"/>
          </p:cNvSpPr>
          <p:nvPr>
            <p:ph type="title"/>
          </p:nvPr>
        </p:nvSpPr>
        <p:spPr/>
        <p:txBody>
          <a:bodyPr/>
          <a:lstStyle/>
          <a:p>
            <a:r>
              <a:rPr lang="en-US"/>
              <a:t>4. Luồng thông tin (Kiến trúc thông tin - Information architecture)</a:t>
            </a:r>
          </a:p>
        </p:txBody>
      </p:sp>
      <p:sp>
        <p:nvSpPr>
          <p:cNvPr id="3" name="Text Placeholder 2">
            <a:extLst>
              <a:ext uri="{FF2B5EF4-FFF2-40B4-BE49-F238E27FC236}">
                <a16:creationId xmlns:a16="http://schemas.microsoft.com/office/drawing/2014/main" id="{526EA15B-5452-E4D4-1320-813E3E5ACD64}"/>
              </a:ext>
            </a:extLst>
          </p:cNvPr>
          <p:cNvSpPr>
            <a:spLocks noGrp="1"/>
          </p:cNvSpPr>
          <p:nvPr>
            <p:ph type="body" sz="quarter" idx="13"/>
          </p:nvPr>
        </p:nvSpPr>
        <p:spPr/>
        <p:txBody>
          <a:bodyPr/>
          <a:lstStyle/>
          <a:p>
            <a:r>
              <a:rPr lang="en-US"/>
              <a:t>Sitemap:</a:t>
            </a:r>
          </a:p>
        </p:txBody>
      </p:sp>
      <p:sp>
        <p:nvSpPr>
          <p:cNvPr id="6" name="Slide Number Placeholder 5">
            <a:extLst>
              <a:ext uri="{FF2B5EF4-FFF2-40B4-BE49-F238E27FC236}">
                <a16:creationId xmlns:a16="http://schemas.microsoft.com/office/drawing/2014/main" id="{0C99A0C4-E760-642A-8090-C1AB122F45C5}"/>
              </a:ext>
            </a:extLst>
          </p:cNvPr>
          <p:cNvSpPr>
            <a:spLocks noGrp="1"/>
          </p:cNvSpPr>
          <p:nvPr>
            <p:ph type="sldNum" sz="quarter" idx="12"/>
          </p:nvPr>
        </p:nvSpPr>
        <p:spPr/>
        <p:txBody>
          <a:bodyPr/>
          <a:lstStyle/>
          <a:p>
            <a:fld id="{9EA0BE3B-158A-4EDF-80DC-E394A0D1600F}" type="slidenum">
              <a:rPr lang="en-US" smtClean="0"/>
              <a:pPr/>
              <a:t>29</a:t>
            </a:fld>
            <a:endParaRPr lang="en-US"/>
          </a:p>
        </p:txBody>
      </p:sp>
      <p:pic>
        <p:nvPicPr>
          <p:cNvPr id="8" name="Picture 7" descr="A diagram of a company&#10;&#10;AI-generated content may be incorrect.">
            <a:extLst>
              <a:ext uri="{FF2B5EF4-FFF2-40B4-BE49-F238E27FC236}">
                <a16:creationId xmlns:a16="http://schemas.microsoft.com/office/drawing/2014/main" id="{B533F612-B84D-F632-BB31-37F49D7F9945}"/>
              </a:ext>
            </a:extLst>
          </p:cNvPr>
          <p:cNvPicPr>
            <a:picLocks noChangeAspect="1"/>
          </p:cNvPicPr>
          <p:nvPr/>
        </p:nvPicPr>
        <p:blipFill>
          <a:blip r:embed="rId2"/>
          <a:stretch>
            <a:fillRect/>
          </a:stretch>
        </p:blipFill>
        <p:spPr>
          <a:xfrm>
            <a:off x="1175651" y="1595181"/>
            <a:ext cx="9840698" cy="3667637"/>
          </a:xfrm>
          <a:prstGeom prst="rect">
            <a:avLst/>
          </a:prstGeom>
        </p:spPr>
      </p:pic>
    </p:spTree>
    <p:extLst>
      <p:ext uri="{BB962C8B-B14F-4D97-AF65-F5344CB8AC3E}">
        <p14:creationId xmlns:p14="http://schemas.microsoft.com/office/powerpoint/2010/main" val="377431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FA94B-BE67-578C-8B79-744824EECC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BD1FE4-891D-9FCD-3B84-90F88819F944}"/>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solidFill>
                  <a:srgbClr val="C00000"/>
                </a:solidFill>
              </a:rPr>
              <a:t>Thiết kế giao diện</a:t>
            </a:r>
          </a:p>
        </p:txBody>
      </p:sp>
      <p:sp>
        <p:nvSpPr>
          <p:cNvPr id="3" name="Title 2">
            <a:extLst>
              <a:ext uri="{FF2B5EF4-FFF2-40B4-BE49-F238E27FC236}">
                <a16:creationId xmlns:a16="http://schemas.microsoft.com/office/drawing/2014/main" id="{0A8F8C65-1874-42C3-11D2-7E7B11D7062B}"/>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FF7E10A4-8796-AFBD-B6F4-529781E69390}"/>
              </a:ext>
            </a:extLst>
          </p:cNvPr>
          <p:cNvSpPr>
            <a:spLocks noGrp="1"/>
          </p:cNvSpPr>
          <p:nvPr>
            <p:ph type="sldNum" sz="quarter" idx="12"/>
          </p:nvPr>
        </p:nvSpPr>
        <p:spPr/>
        <p:txBody>
          <a:bodyPr/>
          <a:lstStyle/>
          <a:p>
            <a:fld id="{9EA0BE3B-158A-4EDF-80DC-E394A0D1600F}" type="slidenum">
              <a:rPr lang="en-US" smtClean="0"/>
              <a:pPr/>
              <a:t>30</a:t>
            </a:fld>
            <a:endParaRPr lang="en-US"/>
          </a:p>
        </p:txBody>
      </p:sp>
    </p:spTree>
    <p:extLst>
      <p:ext uri="{BB962C8B-B14F-4D97-AF65-F5344CB8AC3E}">
        <p14:creationId xmlns:p14="http://schemas.microsoft.com/office/powerpoint/2010/main" val="3656456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5. UI Kit</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p:txBody>
          <a:bodyPr/>
          <a:lstStyle/>
          <a:p>
            <a:r>
              <a:rPr lang="en-US"/>
              <a:t>Logo:</a:t>
            </a:r>
          </a:p>
          <a:p>
            <a:endParaRPr lang="en-US"/>
          </a:p>
          <a:p>
            <a:endParaRPr lang="en-US"/>
          </a:p>
          <a:p>
            <a:endParaRPr lang="en-US"/>
          </a:p>
          <a:p>
            <a:r>
              <a:rPr lang="en-US"/>
              <a:t>Typography:</a:t>
            </a:r>
          </a:p>
          <a:p>
            <a:pPr lvl="1"/>
            <a:r>
              <a:rPr lang="en-US"/>
              <a:t>Font name: Inter</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31</a:t>
            </a:fld>
            <a:endParaRPr lang="en-US"/>
          </a:p>
        </p:txBody>
      </p:sp>
      <p:pic>
        <p:nvPicPr>
          <p:cNvPr id="5" name="Picture 4">
            <a:extLst>
              <a:ext uri="{FF2B5EF4-FFF2-40B4-BE49-F238E27FC236}">
                <a16:creationId xmlns:a16="http://schemas.microsoft.com/office/drawing/2014/main" id="{29842B56-DB0D-17B0-97B1-486F7D35B473}"/>
              </a:ext>
            </a:extLst>
          </p:cNvPr>
          <p:cNvPicPr>
            <a:picLocks noChangeAspect="1"/>
          </p:cNvPicPr>
          <p:nvPr/>
        </p:nvPicPr>
        <p:blipFill>
          <a:blip r:embed="rId2"/>
          <a:stretch>
            <a:fillRect/>
          </a:stretch>
        </p:blipFill>
        <p:spPr>
          <a:xfrm>
            <a:off x="337539" y="1524904"/>
            <a:ext cx="3143689" cy="971686"/>
          </a:xfrm>
          <a:prstGeom prst="rect">
            <a:avLst/>
          </a:prstGeom>
        </p:spPr>
      </p:pic>
      <p:pic>
        <p:nvPicPr>
          <p:cNvPr id="8" name="Picture 7">
            <a:extLst>
              <a:ext uri="{FF2B5EF4-FFF2-40B4-BE49-F238E27FC236}">
                <a16:creationId xmlns:a16="http://schemas.microsoft.com/office/drawing/2014/main" id="{BBA2F136-4568-43CE-EFAF-1F5ABC06E753}"/>
              </a:ext>
            </a:extLst>
          </p:cNvPr>
          <p:cNvPicPr>
            <a:picLocks noChangeAspect="1"/>
          </p:cNvPicPr>
          <p:nvPr/>
        </p:nvPicPr>
        <p:blipFill>
          <a:blip r:embed="rId3"/>
          <a:stretch>
            <a:fillRect/>
          </a:stretch>
        </p:blipFill>
        <p:spPr>
          <a:xfrm>
            <a:off x="6094802" y="1524904"/>
            <a:ext cx="5758461" cy="720591"/>
          </a:xfrm>
          <a:prstGeom prst="rect">
            <a:avLst/>
          </a:prstGeom>
        </p:spPr>
      </p:pic>
      <p:sp>
        <p:nvSpPr>
          <p:cNvPr id="9" name="Text Placeholder 2">
            <a:extLst>
              <a:ext uri="{FF2B5EF4-FFF2-40B4-BE49-F238E27FC236}">
                <a16:creationId xmlns:a16="http://schemas.microsoft.com/office/drawing/2014/main" id="{D28C0C86-49FF-4BE1-E36A-C474422ED8CC}"/>
              </a:ext>
            </a:extLst>
          </p:cNvPr>
          <p:cNvSpPr txBox="1">
            <a:spLocks/>
          </p:cNvSpPr>
          <p:nvPr/>
        </p:nvSpPr>
        <p:spPr>
          <a:xfrm>
            <a:off x="6270171" y="1032509"/>
            <a:ext cx="5583092" cy="49387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Màu sắc:</a:t>
            </a:r>
          </a:p>
        </p:txBody>
      </p:sp>
      <p:pic>
        <p:nvPicPr>
          <p:cNvPr id="11" name="Picture 10">
            <a:extLst>
              <a:ext uri="{FF2B5EF4-FFF2-40B4-BE49-F238E27FC236}">
                <a16:creationId xmlns:a16="http://schemas.microsoft.com/office/drawing/2014/main" id="{861B3E16-2116-B5E3-094A-9236C453E5B3}"/>
              </a:ext>
            </a:extLst>
          </p:cNvPr>
          <p:cNvPicPr>
            <a:picLocks noChangeAspect="1"/>
          </p:cNvPicPr>
          <p:nvPr/>
        </p:nvPicPr>
        <p:blipFill>
          <a:blip r:embed="rId4"/>
          <a:stretch>
            <a:fillRect/>
          </a:stretch>
        </p:blipFill>
        <p:spPr>
          <a:xfrm>
            <a:off x="3656597" y="2245495"/>
            <a:ext cx="3696216" cy="3924848"/>
          </a:xfrm>
          <a:prstGeom prst="rect">
            <a:avLst/>
          </a:prstGeom>
        </p:spPr>
      </p:pic>
    </p:spTree>
    <p:extLst>
      <p:ext uri="{BB962C8B-B14F-4D97-AF65-F5344CB8AC3E}">
        <p14:creationId xmlns:p14="http://schemas.microsoft.com/office/powerpoint/2010/main" val="10587528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F448F-7008-D39F-8807-F68EA13CD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3375D1-3A24-8A9D-B92F-42BED33A790A}"/>
              </a:ext>
            </a:extLst>
          </p:cNvPr>
          <p:cNvSpPr>
            <a:spLocks noGrp="1"/>
          </p:cNvSpPr>
          <p:nvPr>
            <p:ph type="title"/>
          </p:nvPr>
        </p:nvSpPr>
        <p:spPr/>
        <p:txBody>
          <a:bodyPr/>
          <a:lstStyle/>
          <a:p>
            <a:r>
              <a:rPr lang="en-US"/>
              <a:t>5. UI Kit</a:t>
            </a:r>
          </a:p>
        </p:txBody>
      </p:sp>
      <p:sp>
        <p:nvSpPr>
          <p:cNvPr id="3" name="Text Placeholder 2">
            <a:extLst>
              <a:ext uri="{FF2B5EF4-FFF2-40B4-BE49-F238E27FC236}">
                <a16:creationId xmlns:a16="http://schemas.microsoft.com/office/drawing/2014/main" id="{AEC3DE45-1952-CE21-4446-D1D5351FDA3A}"/>
              </a:ext>
            </a:extLst>
          </p:cNvPr>
          <p:cNvSpPr>
            <a:spLocks noGrp="1"/>
          </p:cNvSpPr>
          <p:nvPr>
            <p:ph type="body" sz="quarter" idx="13"/>
          </p:nvPr>
        </p:nvSpPr>
        <p:spPr/>
        <p:txBody>
          <a:bodyPr/>
          <a:lstStyle/>
          <a:p>
            <a:r>
              <a:rPr lang="en-US"/>
              <a:t>Labels, icons &amp; buttons:</a:t>
            </a:r>
          </a:p>
        </p:txBody>
      </p:sp>
      <p:sp>
        <p:nvSpPr>
          <p:cNvPr id="6" name="Slide Number Placeholder 5">
            <a:extLst>
              <a:ext uri="{FF2B5EF4-FFF2-40B4-BE49-F238E27FC236}">
                <a16:creationId xmlns:a16="http://schemas.microsoft.com/office/drawing/2014/main" id="{C4C3C1AB-2DAD-F81B-3E0D-128CD0A1F76A}"/>
              </a:ext>
            </a:extLst>
          </p:cNvPr>
          <p:cNvSpPr>
            <a:spLocks noGrp="1"/>
          </p:cNvSpPr>
          <p:nvPr>
            <p:ph type="sldNum" sz="quarter" idx="12"/>
          </p:nvPr>
        </p:nvSpPr>
        <p:spPr/>
        <p:txBody>
          <a:bodyPr/>
          <a:lstStyle/>
          <a:p>
            <a:fld id="{9EA0BE3B-158A-4EDF-80DC-E394A0D1600F}" type="slidenum">
              <a:rPr lang="en-US" smtClean="0"/>
              <a:pPr/>
              <a:t>32</a:t>
            </a:fld>
            <a:endParaRPr lang="en-US"/>
          </a:p>
        </p:txBody>
      </p:sp>
      <p:pic>
        <p:nvPicPr>
          <p:cNvPr id="7" name="Picture 6">
            <a:extLst>
              <a:ext uri="{FF2B5EF4-FFF2-40B4-BE49-F238E27FC236}">
                <a16:creationId xmlns:a16="http://schemas.microsoft.com/office/drawing/2014/main" id="{EAE4E698-5670-8DD3-E928-4B39C329CC47}"/>
              </a:ext>
            </a:extLst>
          </p:cNvPr>
          <p:cNvPicPr>
            <a:picLocks noChangeAspect="1"/>
          </p:cNvPicPr>
          <p:nvPr/>
        </p:nvPicPr>
        <p:blipFill>
          <a:blip r:embed="rId2"/>
          <a:stretch>
            <a:fillRect/>
          </a:stretch>
        </p:blipFill>
        <p:spPr>
          <a:xfrm>
            <a:off x="4387604" y="1032510"/>
            <a:ext cx="3415594" cy="5312307"/>
          </a:xfrm>
          <a:prstGeom prst="rect">
            <a:avLst/>
          </a:prstGeom>
        </p:spPr>
      </p:pic>
      <p:pic>
        <p:nvPicPr>
          <p:cNvPr id="5" name="Picture 4">
            <a:extLst>
              <a:ext uri="{FF2B5EF4-FFF2-40B4-BE49-F238E27FC236}">
                <a16:creationId xmlns:a16="http://schemas.microsoft.com/office/drawing/2014/main" id="{AFC3E401-9CB4-6616-4417-F8826DD84DB3}"/>
              </a:ext>
            </a:extLst>
          </p:cNvPr>
          <p:cNvPicPr>
            <a:picLocks noChangeAspect="1"/>
          </p:cNvPicPr>
          <p:nvPr/>
        </p:nvPicPr>
        <p:blipFill>
          <a:blip r:embed="rId3"/>
          <a:stretch>
            <a:fillRect/>
          </a:stretch>
        </p:blipFill>
        <p:spPr>
          <a:xfrm>
            <a:off x="6906397" y="4630953"/>
            <a:ext cx="2060322" cy="446403"/>
          </a:xfrm>
          <a:prstGeom prst="rect">
            <a:avLst/>
          </a:prstGeom>
        </p:spPr>
      </p:pic>
    </p:spTree>
    <p:extLst>
      <p:ext uri="{BB962C8B-B14F-4D97-AF65-F5344CB8AC3E}">
        <p14:creationId xmlns:p14="http://schemas.microsoft.com/office/powerpoint/2010/main" val="4169284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45F1A-CB08-F00B-1172-6D22C826B8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F94A3-B9E4-4971-B73C-FE42DAD99516}"/>
              </a:ext>
            </a:extLst>
          </p:cNvPr>
          <p:cNvSpPr>
            <a:spLocks noGrp="1"/>
          </p:cNvSpPr>
          <p:nvPr>
            <p:ph type="title"/>
          </p:nvPr>
        </p:nvSpPr>
        <p:spPr/>
        <p:txBody>
          <a:bodyPr/>
          <a:lstStyle/>
          <a:p>
            <a:r>
              <a:rPr lang="en-US"/>
              <a:t>5. UI Kit</a:t>
            </a:r>
          </a:p>
        </p:txBody>
      </p:sp>
      <p:sp>
        <p:nvSpPr>
          <p:cNvPr id="3" name="Text Placeholder 2">
            <a:extLst>
              <a:ext uri="{FF2B5EF4-FFF2-40B4-BE49-F238E27FC236}">
                <a16:creationId xmlns:a16="http://schemas.microsoft.com/office/drawing/2014/main" id="{21BE3D66-B750-8AFB-2CC6-74DB027ED0AC}"/>
              </a:ext>
            </a:extLst>
          </p:cNvPr>
          <p:cNvSpPr>
            <a:spLocks noGrp="1"/>
          </p:cNvSpPr>
          <p:nvPr>
            <p:ph type="body" sz="quarter" idx="13"/>
          </p:nvPr>
        </p:nvSpPr>
        <p:spPr/>
        <p:txBody>
          <a:bodyPr/>
          <a:lstStyle/>
          <a:p>
            <a:r>
              <a:rPr lang="en-US"/>
              <a:t>Components:</a:t>
            </a:r>
          </a:p>
        </p:txBody>
      </p:sp>
      <p:sp>
        <p:nvSpPr>
          <p:cNvPr id="6" name="Slide Number Placeholder 5">
            <a:extLst>
              <a:ext uri="{FF2B5EF4-FFF2-40B4-BE49-F238E27FC236}">
                <a16:creationId xmlns:a16="http://schemas.microsoft.com/office/drawing/2014/main" id="{21582CED-C0B0-0A2E-5357-1E9278D61CF9}"/>
              </a:ext>
            </a:extLst>
          </p:cNvPr>
          <p:cNvSpPr>
            <a:spLocks noGrp="1"/>
          </p:cNvSpPr>
          <p:nvPr>
            <p:ph type="sldNum" sz="quarter" idx="12"/>
          </p:nvPr>
        </p:nvSpPr>
        <p:spPr/>
        <p:txBody>
          <a:bodyPr/>
          <a:lstStyle/>
          <a:p>
            <a:fld id="{9EA0BE3B-158A-4EDF-80DC-E394A0D1600F}" type="slidenum">
              <a:rPr lang="en-US" smtClean="0"/>
              <a:pPr/>
              <a:t>33</a:t>
            </a:fld>
            <a:endParaRPr lang="en-US"/>
          </a:p>
        </p:txBody>
      </p:sp>
      <p:pic>
        <p:nvPicPr>
          <p:cNvPr id="5" name="Picture 4">
            <a:extLst>
              <a:ext uri="{FF2B5EF4-FFF2-40B4-BE49-F238E27FC236}">
                <a16:creationId xmlns:a16="http://schemas.microsoft.com/office/drawing/2014/main" id="{0A1B23D4-AAD3-3E41-EA94-27A6A89E137A}"/>
              </a:ext>
            </a:extLst>
          </p:cNvPr>
          <p:cNvPicPr>
            <a:picLocks noChangeAspect="1"/>
          </p:cNvPicPr>
          <p:nvPr/>
        </p:nvPicPr>
        <p:blipFill>
          <a:blip r:embed="rId2"/>
          <a:stretch>
            <a:fillRect/>
          </a:stretch>
        </p:blipFill>
        <p:spPr>
          <a:xfrm>
            <a:off x="5606173" y="938025"/>
            <a:ext cx="6134917" cy="5165467"/>
          </a:xfrm>
          <a:prstGeom prst="rect">
            <a:avLst/>
          </a:prstGeom>
        </p:spPr>
      </p:pic>
      <p:pic>
        <p:nvPicPr>
          <p:cNvPr id="9" name="Picture 8">
            <a:extLst>
              <a:ext uri="{FF2B5EF4-FFF2-40B4-BE49-F238E27FC236}">
                <a16:creationId xmlns:a16="http://schemas.microsoft.com/office/drawing/2014/main" id="{963221CB-C617-08F7-7062-CFA1EF4F66EC}"/>
              </a:ext>
            </a:extLst>
          </p:cNvPr>
          <p:cNvPicPr>
            <a:picLocks noChangeAspect="1"/>
          </p:cNvPicPr>
          <p:nvPr/>
        </p:nvPicPr>
        <p:blipFill>
          <a:blip r:embed="rId3"/>
          <a:stretch>
            <a:fillRect/>
          </a:stretch>
        </p:blipFill>
        <p:spPr>
          <a:xfrm>
            <a:off x="2972694" y="855186"/>
            <a:ext cx="2633479" cy="5293360"/>
          </a:xfrm>
          <a:prstGeom prst="rect">
            <a:avLst/>
          </a:prstGeom>
        </p:spPr>
      </p:pic>
    </p:spTree>
    <p:extLst>
      <p:ext uri="{BB962C8B-B14F-4D97-AF65-F5344CB8AC3E}">
        <p14:creationId xmlns:p14="http://schemas.microsoft.com/office/powerpoint/2010/main" val="2693584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7E12-0FEE-21E4-E392-8E3347BA3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97FC6-760A-2D2F-361E-4C279F94608A}"/>
              </a:ext>
            </a:extLst>
          </p:cNvPr>
          <p:cNvSpPr>
            <a:spLocks noGrp="1"/>
          </p:cNvSpPr>
          <p:nvPr>
            <p:ph type="title"/>
          </p:nvPr>
        </p:nvSpPr>
        <p:spPr/>
        <p:txBody>
          <a:bodyPr/>
          <a:lstStyle/>
          <a:p>
            <a:r>
              <a:rPr lang="en-US"/>
              <a:t>5. UI Kit</a:t>
            </a:r>
          </a:p>
        </p:txBody>
      </p:sp>
      <p:sp>
        <p:nvSpPr>
          <p:cNvPr id="3" name="Text Placeholder 2">
            <a:extLst>
              <a:ext uri="{FF2B5EF4-FFF2-40B4-BE49-F238E27FC236}">
                <a16:creationId xmlns:a16="http://schemas.microsoft.com/office/drawing/2014/main" id="{E9ABC79D-00FF-1E1E-5CCA-F40CEA04DE1E}"/>
              </a:ext>
            </a:extLst>
          </p:cNvPr>
          <p:cNvSpPr>
            <a:spLocks noGrp="1"/>
          </p:cNvSpPr>
          <p:nvPr>
            <p:ph type="body" sz="quarter" idx="13"/>
          </p:nvPr>
        </p:nvSpPr>
        <p:spPr/>
        <p:txBody>
          <a:bodyPr/>
          <a:lstStyle/>
          <a:p>
            <a:r>
              <a:rPr lang="en-US"/>
              <a:t>Grids layout:</a:t>
            </a:r>
          </a:p>
        </p:txBody>
      </p:sp>
      <p:sp>
        <p:nvSpPr>
          <p:cNvPr id="6" name="Slide Number Placeholder 5">
            <a:extLst>
              <a:ext uri="{FF2B5EF4-FFF2-40B4-BE49-F238E27FC236}">
                <a16:creationId xmlns:a16="http://schemas.microsoft.com/office/drawing/2014/main" id="{9A92BDCC-57FD-DE74-9884-DC9D16EDE70C}"/>
              </a:ext>
            </a:extLst>
          </p:cNvPr>
          <p:cNvSpPr>
            <a:spLocks noGrp="1"/>
          </p:cNvSpPr>
          <p:nvPr>
            <p:ph type="sldNum" sz="quarter" idx="12"/>
          </p:nvPr>
        </p:nvSpPr>
        <p:spPr/>
        <p:txBody>
          <a:bodyPr/>
          <a:lstStyle/>
          <a:p>
            <a:fld id="{9EA0BE3B-158A-4EDF-80DC-E394A0D1600F}" type="slidenum">
              <a:rPr lang="en-US" smtClean="0"/>
              <a:pPr/>
              <a:t>34</a:t>
            </a:fld>
            <a:endParaRPr lang="en-US"/>
          </a:p>
        </p:txBody>
      </p:sp>
      <p:pic>
        <p:nvPicPr>
          <p:cNvPr id="1026" name="Picture 2">
            <a:extLst>
              <a:ext uri="{FF2B5EF4-FFF2-40B4-BE49-F238E27FC236}">
                <a16:creationId xmlns:a16="http://schemas.microsoft.com/office/drawing/2014/main" id="{B2DD48BD-74B4-6F6E-F1EA-2568D70848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539" y="1634490"/>
            <a:ext cx="5857875" cy="4191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A62FEE9-14AB-2695-21ED-45978D808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1389" y="1396365"/>
            <a:ext cx="3686175" cy="4429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DEBACB8-1949-8D32-ECDD-75CEBD763C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9714" y="1977390"/>
            <a:ext cx="1857375" cy="384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720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999E0-2B35-7C75-F6A6-153D5BEFC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99E06-96B4-F63E-D25C-D49119DCDA3F}"/>
              </a:ext>
            </a:extLst>
          </p:cNvPr>
          <p:cNvSpPr>
            <a:spLocks noGrp="1"/>
          </p:cNvSpPr>
          <p:nvPr>
            <p:ph type="title"/>
          </p:nvPr>
        </p:nvSpPr>
        <p:spPr/>
        <p:txBody>
          <a:bodyPr/>
          <a:lstStyle/>
          <a:p>
            <a:r>
              <a:rPr lang="en-US"/>
              <a:t>5. Wireframe</a:t>
            </a:r>
          </a:p>
        </p:txBody>
      </p:sp>
      <p:sp>
        <p:nvSpPr>
          <p:cNvPr id="3" name="Text Placeholder 2">
            <a:extLst>
              <a:ext uri="{FF2B5EF4-FFF2-40B4-BE49-F238E27FC236}">
                <a16:creationId xmlns:a16="http://schemas.microsoft.com/office/drawing/2014/main" id="{B2A401F3-6BC8-294C-42D1-ED0C02F90047}"/>
              </a:ext>
            </a:extLst>
          </p:cNvPr>
          <p:cNvSpPr>
            <a:spLocks noGrp="1"/>
          </p:cNvSpPr>
          <p:nvPr>
            <p:ph type="body" sz="quarter" idx="13"/>
          </p:nvPr>
        </p:nvSpPr>
        <p:spPr/>
        <p:txBody>
          <a:bodyPr/>
          <a:lstStyle/>
          <a:p>
            <a:r>
              <a:rPr lang="en-US"/>
              <a:t>Homepage và Login page:</a:t>
            </a:r>
          </a:p>
        </p:txBody>
      </p:sp>
      <p:sp>
        <p:nvSpPr>
          <p:cNvPr id="6" name="Slide Number Placeholder 5">
            <a:extLst>
              <a:ext uri="{FF2B5EF4-FFF2-40B4-BE49-F238E27FC236}">
                <a16:creationId xmlns:a16="http://schemas.microsoft.com/office/drawing/2014/main" id="{EFDB9F9E-54B0-F6FC-CE03-475035590990}"/>
              </a:ext>
            </a:extLst>
          </p:cNvPr>
          <p:cNvSpPr>
            <a:spLocks noGrp="1"/>
          </p:cNvSpPr>
          <p:nvPr>
            <p:ph type="sldNum" sz="quarter" idx="12"/>
          </p:nvPr>
        </p:nvSpPr>
        <p:spPr/>
        <p:txBody>
          <a:bodyPr/>
          <a:lstStyle/>
          <a:p>
            <a:fld id="{9EA0BE3B-158A-4EDF-80DC-E394A0D1600F}" type="slidenum">
              <a:rPr lang="en-US" smtClean="0"/>
              <a:pPr/>
              <a:t>35</a:t>
            </a:fld>
            <a:endParaRPr lang="en-US"/>
          </a:p>
        </p:txBody>
      </p:sp>
      <p:pic>
        <p:nvPicPr>
          <p:cNvPr id="8" name="Picture 7">
            <a:extLst>
              <a:ext uri="{FF2B5EF4-FFF2-40B4-BE49-F238E27FC236}">
                <a16:creationId xmlns:a16="http://schemas.microsoft.com/office/drawing/2014/main" id="{EEEAEE2C-5D07-F734-235F-38C504921F0B}"/>
              </a:ext>
            </a:extLst>
          </p:cNvPr>
          <p:cNvPicPr>
            <a:picLocks noChangeAspect="1"/>
          </p:cNvPicPr>
          <p:nvPr/>
        </p:nvPicPr>
        <p:blipFill>
          <a:blip r:embed="rId2"/>
          <a:stretch>
            <a:fillRect/>
          </a:stretch>
        </p:blipFill>
        <p:spPr>
          <a:xfrm>
            <a:off x="1851421" y="1621306"/>
            <a:ext cx="8487960" cy="4610743"/>
          </a:xfrm>
          <a:prstGeom prst="rect">
            <a:avLst/>
          </a:prstGeom>
        </p:spPr>
      </p:pic>
    </p:spTree>
    <p:extLst>
      <p:ext uri="{BB962C8B-B14F-4D97-AF65-F5344CB8AC3E}">
        <p14:creationId xmlns:p14="http://schemas.microsoft.com/office/powerpoint/2010/main" val="32301602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6FE7-DCF2-E0C4-95F0-89EC3AF60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C6A8A-8AC3-3C81-64D0-388C73939069}"/>
              </a:ext>
            </a:extLst>
          </p:cNvPr>
          <p:cNvSpPr>
            <a:spLocks noGrp="1"/>
          </p:cNvSpPr>
          <p:nvPr>
            <p:ph type="title"/>
          </p:nvPr>
        </p:nvSpPr>
        <p:spPr/>
        <p:txBody>
          <a:bodyPr/>
          <a:lstStyle/>
          <a:p>
            <a:r>
              <a:rPr lang="en-US"/>
              <a:t>5. Wireframe</a:t>
            </a:r>
          </a:p>
        </p:txBody>
      </p:sp>
      <p:sp>
        <p:nvSpPr>
          <p:cNvPr id="3" name="Text Placeholder 2">
            <a:extLst>
              <a:ext uri="{FF2B5EF4-FFF2-40B4-BE49-F238E27FC236}">
                <a16:creationId xmlns:a16="http://schemas.microsoft.com/office/drawing/2014/main" id="{E30DB519-E960-3DDA-2854-56AAE5F3B7FA}"/>
              </a:ext>
            </a:extLst>
          </p:cNvPr>
          <p:cNvSpPr>
            <a:spLocks noGrp="1"/>
          </p:cNvSpPr>
          <p:nvPr>
            <p:ph type="body" sz="quarter" idx="13"/>
          </p:nvPr>
        </p:nvSpPr>
        <p:spPr/>
        <p:txBody>
          <a:bodyPr/>
          <a:lstStyle/>
          <a:p>
            <a:r>
              <a:rPr lang="en-US"/>
              <a:t>Forgot password và Sign up page:</a:t>
            </a:r>
          </a:p>
        </p:txBody>
      </p:sp>
      <p:sp>
        <p:nvSpPr>
          <p:cNvPr id="6" name="Slide Number Placeholder 5">
            <a:extLst>
              <a:ext uri="{FF2B5EF4-FFF2-40B4-BE49-F238E27FC236}">
                <a16:creationId xmlns:a16="http://schemas.microsoft.com/office/drawing/2014/main" id="{E5B1879D-1A91-7F12-4A05-C9610BD063F6}"/>
              </a:ext>
            </a:extLst>
          </p:cNvPr>
          <p:cNvSpPr>
            <a:spLocks noGrp="1"/>
          </p:cNvSpPr>
          <p:nvPr>
            <p:ph type="sldNum" sz="quarter" idx="12"/>
          </p:nvPr>
        </p:nvSpPr>
        <p:spPr/>
        <p:txBody>
          <a:bodyPr/>
          <a:lstStyle/>
          <a:p>
            <a:fld id="{9EA0BE3B-158A-4EDF-80DC-E394A0D1600F}" type="slidenum">
              <a:rPr lang="en-US" smtClean="0"/>
              <a:pPr/>
              <a:t>36</a:t>
            </a:fld>
            <a:endParaRPr lang="en-US"/>
          </a:p>
        </p:txBody>
      </p:sp>
      <p:pic>
        <p:nvPicPr>
          <p:cNvPr id="5" name="Picture 4">
            <a:extLst>
              <a:ext uri="{FF2B5EF4-FFF2-40B4-BE49-F238E27FC236}">
                <a16:creationId xmlns:a16="http://schemas.microsoft.com/office/drawing/2014/main" id="{B2D34AA3-846D-E443-893F-75F891A92924}"/>
              </a:ext>
            </a:extLst>
          </p:cNvPr>
          <p:cNvPicPr>
            <a:picLocks noChangeAspect="1"/>
          </p:cNvPicPr>
          <p:nvPr/>
        </p:nvPicPr>
        <p:blipFill>
          <a:blip r:embed="rId2"/>
          <a:stretch>
            <a:fillRect/>
          </a:stretch>
        </p:blipFill>
        <p:spPr>
          <a:xfrm>
            <a:off x="1880000" y="1611779"/>
            <a:ext cx="8430802" cy="4620270"/>
          </a:xfrm>
          <a:prstGeom prst="rect">
            <a:avLst/>
          </a:prstGeom>
        </p:spPr>
      </p:pic>
    </p:spTree>
    <p:extLst>
      <p:ext uri="{BB962C8B-B14F-4D97-AF65-F5344CB8AC3E}">
        <p14:creationId xmlns:p14="http://schemas.microsoft.com/office/powerpoint/2010/main" val="4114604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62AA-CA8B-DD9E-E1A1-8AA096FB96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EA89F-EE34-BA5B-7D4C-2AD08AF9FAB2}"/>
              </a:ext>
            </a:extLst>
          </p:cNvPr>
          <p:cNvSpPr>
            <a:spLocks noGrp="1"/>
          </p:cNvSpPr>
          <p:nvPr>
            <p:ph type="title"/>
          </p:nvPr>
        </p:nvSpPr>
        <p:spPr/>
        <p:txBody>
          <a:bodyPr/>
          <a:lstStyle/>
          <a:p>
            <a:r>
              <a:rPr lang="en-US"/>
              <a:t>5. Wireframe</a:t>
            </a:r>
          </a:p>
        </p:txBody>
      </p:sp>
      <p:sp>
        <p:nvSpPr>
          <p:cNvPr id="3" name="Text Placeholder 2">
            <a:extLst>
              <a:ext uri="{FF2B5EF4-FFF2-40B4-BE49-F238E27FC236}">
                <a16:creationId xmlns:a16="http://schemas.microsoft.com/office/drawing/2014/main" id="{F3CD37C1-2651-93F6-4249-7B5776DA5F15}"/>
              </a:ext>
            </a:extLst>
          </p:cNvPr>
          <p:cNvSpPr>
            <a:spLocks noGrp="1"/>
          </p:cNvSpPr>
          <p:nvPr>
            <p:ph type="body" sz="quarter" idx="13"/>
          </p:nvPr>
        </p:nvSpPr>
        <p:spPr/>
        <p:txBody>
          <a:bodyPr/>
          <a:lstStyle/>
          <a:p>
            <a:r>
              <a:rPr lang="en-US"/>
              <a:t>Manage courses và courses list page:</a:t>
            </a:r>
          </a:p>
        </p:txBody>
      </p:sp>
      <p:sp>
        <p:nvSpPr>
          <p:cNvPr id="6" name="Slide Number Placeholder 5">
            <a:extLst>
              <a:ext uri="{FF2B5EF4-FFF2-40B4-BE49-F238E27FC236}">
                <a16:creationId xmlns:a16="http://schemas.microsoft.com/office/drawing/2014/main" id="{B580292A-C553-7EDB-6DCE-F9D032396AB3}"/>
              </a:ext>
            </a:extLst>
          </p:cNvPr>
          <p:cNvSpPr>
            <a:spLocks noGrp="1"/>
          </p:cNvSpPr>
          <p:nvPr>
            <p:ph type="sldNum" sz="quarter" idx="12"/>
          </p:nvPr>
        </p:nvSpPr>
        <p:spPr/>
        <p:txBody>
          <a:bodyPr/>
          <a:lstStyle/>
          <a:p>
            <a:fld id="{9EA0BE3B-158A-4EDF-80DC-E394A0D1600F}" type="slidenum">
              <a:rPr lang="en-US" smtClean="0"/>
              <a:pPr/>
              <a:t>37</a:t>
            </a:fld>
            <a:endParaRPr lang="en-US"/>
          </a:p>
        </p:txBody>
      </p:sp>
      <p:pic>
        <p:nvPicPr>
          <p:cNvPr id="7" name="Picture 6">
            <a:extLst>
              <a:ext uri="{FF2B5EF4-FFF2-40B4-BE49-F238E27FC236}">
                <a16:creationId xmlns:a16="http://schemas.microsoft.com/office/drawing/2014/main" id="{F6AE1B94-3E9B-98D9-154F-22856008D25E}"/>
              </a:ext>
            </a:extLst>
          </p:cNvPr>
          <p:cNvPicPr>
            <a:picLocks noChangeAspect="1"/>
          </p:cNvPicPr>
          <p:nvPr/>
        </p:nvPicPr>
        <p:blipFill>
          <a:blip r:embed="rId2"/>
          <a:stretch>
            <a:fillRect/>
          </a:stretch>
        </p:blipFill>
        <p:spPr>
          <a:xfrm>
            <a:off x="1841895" y="1692013"/>
            <a:ext cx="8507012" cy="4686954"/>
          </a:xfrm>
          <a:prstGeom prst="rect">
            <a:avLst/>
          </a:prstGeom>
        </p:spPr>
      </p:pic>
    </p:spTree>
    <p:extLst>
      <p:ext uri="{BB962C8B-B14F-4D97-AF65-F5344CB8AC3E}">
        <p14:creationId xmlns:p14="http://schemas.microsoft.com/office/powerpoint/2010/main" val="42088072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51AED-158A-81CA-CE98-D6E0A89B0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8FA3B-2EB0-026B-28A9-B77DB65A5D9F}"/>
              </a:ext>
            </a:extLst>
          </p:cNvPr>
          <p:cNvSpPr>
            <a:spLocks noGrp="1"/>
          </p:cNvSpPr>
          <p:nvPr>
            <p:ph type="title"/>
          </p:nvPr>
        </p:nvSpPr>
        <p:spPr/>
        <p:txBody>
          <a:bodyPr/>
          <a:lstStyle/>
          <a:p>
            <a:r>
              <a:rPr lang="en-US"/>
              <a:t>5. Wireframe</a:t>
            </a:r>
          </a:p>
        </p:txBody>
      </p:sp>
      <p:sp>
        <p:nvSpPr>
          <p:cNvPr id="3" name="Text Placeholder 2">
            <a:extLst>
              <a:ext uri="{FF2B5EF4-FFF2-40B4-BE49-F238E27FC236}">
                <a16:creationId xmlns:a16="http://schemas.microsoft.com/office/drawing/2014/main" id="{375C3D7C-DED2-33DA-A119-DD756587AEF2}"/>
              </a:ext>
            </a:extLst>
          </p:cNvPr>
          <p:cNvSpPr>
            <a:spLocks noGrp="1"/>
          </p:cNvSpPr>
          <p:nvPr>
            <p:ph type="body" sz="quarter" idx="13"/>
          </p:nvPr>
        </p:nvSpPr>
        <p:spPr/>
        <p:txBody>
          <a:bodyPr/>
          <a:lstStyle/>
          <a:p>
            <a:r>
              <a:rPr lang="en-US"/>
              <a:t>Course details và room page:</a:t>
            </a:r>
          </a:p>
        </p:txBody>
      </p:sp>
      <p:sp>
        <p:nvSpPr>
          <p:cNvPr id="6" name="Slide Number Placeholder 5">
            <a:extLst>
              <a:ext uri="{FF2B5EF4-FFF2-40B4-BE49-F238E27FC236}">
                <a16:creationId xmlns:a16="http://schemas.microsoft.com/office/drawing/2014/main" id="{3A8D707A-3F7B-EB8C-0DE4-DDFB428BB0CE}"/>
              </a:ext>
            </a:extLst>
          </p:cNvPr>
          <p:cNvSpPr>
            <a:spLocks noGrp="1"/>
          </p:cNvSpPr>
          <p:nvPr>
            <p:ph type="sldNum" sz="quarter" idx="12"/>
          </p:nvPr>
        </p:nvSpPr>
        <p:spPr/>
        <p:txBody>
          <a:bodyPr/>
          <a:lstStyle/>
          <a:p>
            <a:fld id="{9EA0BE3B-158A-4EDF-80DC-E394A0D1600F}" type="slidenum">
              <a:rPr lang="en-US" smtClean="0"/>
              <a:pPr/>
              <a:t>38</a:t>
            </a:fld>
            <a:endParaRPr lang="en-US"/>
          </a:p>
        </p:txBody>
      </p:sp>
      <p:pic>
        <p:nvPicPr>
          <p:cNvPr id="5" name="Picture 4">
            <a:extLst>
              <a:ext uri="{FF2B5EF4-FFF2-40B4-BE49-F238E27FC236}">
                <a16:creationId xmlns:a16="http://schemas.microsoft.com/office/drawing/2014/main" id="{75ED99EC-5756-A7B6-200B-A0071575550D}"/>
              </a:ext>
            </a:extLst>
          </p:cNvPr>
          <p:cNvPicPr>
            <a:picLocks noChangeAspect="1"/>
          </p:cNvPicPr>
          <p:nvPr/>
        </p:nvPicPr>
        <p:blipFill>
          <a:blip r:embed="rId2"/>
          <a:srcRect r="49993"/>
          <a:stretch>
            <a:fillRect/>
          </a:stretch>
        </p:blipFill>
        <p:spPr>
          <a:xfrm>
            <a:off x="1813316" y="1611779"/>
            <a:ext cx="4282684" cy="4620270"/>
          </a:xfrm>
          <a:prstGeom prst="rect">
            <a:avLst/>
          </a:prstGeom>
        </p:spPr>
      </p:pic>
      <p:pic>
        <p:nvPicPr>
          <p:cNvPr id="9" name="Picture 8">
            <a:extLst>
              <a:ext uri="{FF2B5EF4-FFF2-40B4-BE49-F238E27FC236}">
                <a16:creationId xmlns:a16="http://schemas.microsoft.com/office/drawing/2014/main" id="{A03BC715-73A3-1F43-7492-4D2CFEEF30D5}"/>
              </a:ext>
            </a:extLst>
          </p:cNvPr>
          <p:cNvPicPr>
            <a:picLocks noChangeAspect="1"/>
          </p:cNvPicPr>
          <p:nvPr/>
        </p:nvPicPr>
        <p:blipFill>
          <a:blip r:embed="rId3"/>
          <a:stretch>
            <a:fillRect/>
          </a:stretch>
        </p:blipFill>
        <p:spPr>
          <a:xfrm>
            <a:off x="6095401" y="1611779"/>
            <a:ext cx="5231215" cy="3634442"/>
          </a:xfrm>
          <a:prstGeom prst="rect">
            <a:avLst/>
          </a:prstGeom>
        </p:spPr>
      </p:pic>
    </p:spTree>
    <p:extLst>
      <p:ext uri="{BB962C8B-B14F-4D97-AF65-F5344CB8AC3E}">
        <p14:creationId xmlns:p14="http://schemas.microsoft.com/office/powerpoint/2010/main" val="6972443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FC008-0B64-D969-E18B-74CA8289E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660E8-3979-3F37-EB40-4327A1C3CE9F}"/>
              </a:ext>
            </a:extLst>
          </p:cNvPr>
          <p:cNvSpPr>
            <a:spLocks noGrp="1"/>
          </p:cNvSpPr>
          <p:nvPr>
            <p:ph type="title"/>
          </p:nvPr>
        </p:nvSpPr>
        <p:spPr/>
        <p:txBody>
          <a:bodyPr/>
          <a:lstStyle/>
          <a:p>
            <a:r>
              <a:rPr lang="en-US"/>
              <a:t>5. Prototype</a:t>
            </a:r>
          </a:p>
        </p:txBody>
      </p:sp>
      <p:sp>
        <p:nvSpPr>
          <p:cNvPr id="3" name="Text Placeholder 2">
            <a:extLst>
              <a:ext uri="{FF2B5EF4-FFF2-40B4-BE49-F238E27FC236}">
                <a16:creationId xmlns:a16="http://schemas.microsoft.com/office/drawing/2014/main" id="{7367EBEC-B809-14B6-2EDB-66E5A174DFAC}"/>
              </a:ext>
            </a:extLst>
          </p:cNvPr>
          <p:cNvSpPr>
            <a:spLocks noGrp="1"/>
          </p:cNvSpPr>
          <p:nvPr>
            <p:ph type="body" sz="quarter" idx="13"/>
          </p:nvPr>
        </p:nvSpPr>
        <p:spPr/>
        <p:txBody>
          <a:bodyPr/>
          <a:lstStyle/>
          <a:p>
            <a:pPr marL="0" indent="0">
              <a:buNone/>
            </a:pPr>
            <a:r>
              <a:rPr lang="en-US">
                <a:hlinkClick r:id="rId2"/>
              </a:rPr>
              <a:t>https://www.figma.com/proto/0qDzv8ehPjAlLCPj0Y0Geb/TAKK_Edu?node-id=11-838&amp;t=sPsrQsHqm1LaF8rA-1</a:t>
            </a:r>
            <a:endParaRPr lang="en-US"/>
          </a:p>
          <a:p>
            <a:pPr marL="0" indent="0">
              <a:buNone/>
            </a:pPr>
            <a:endParaRPr lang="en-US"/>
          </a:p>
        </p:txBody>
      </p:sp>
      <p:sp>
        <p:nvSpPr>
          <p:cNvPr id="6" name="Slide Number Placeholder 5">
            <a:extLst>
              <a:ext uri="{FF2B5EF4-FFF2-40B4-BE49-F238E27FC236}">
                <a16:creationId xmlns:a16="http://schemas.microsoft.com/office/drawing/2014/main" id="{309887BC-1D2B-D5AB-DBA6-E2C5C13046DB}"/>
              </a:ext>
            </a:extLst>
          </p:cNvPr>
          <p:cNvSpPr>
            <a:spLocks noGrp="1"/>
          </p:cNvSpPr>
          <p:nvPr>
            <p:ph type="sldNum" sz="quarter" idx="12"/>
          </p:nvPr>
        </p:nvSpPr>
        <p:spPr/>
        <p:txBody>
          <a:bodyPr/>
          <a:lstStyle/>
          <a:p>
            <a:fld id="{9EA0BE3B-158A-4EDF-80DC-E394A0D1600F}" type="slidenum">
              <a:rPr lang="en-US" smtClean="0"/>
              <a:pPr/>
              <a:t>39</a:t>
            </a:fld>
            <a:endParaRPr lang="en-US"/>
          </a:p>
        </p:txBody>
      </p:sp>
      <p:pic>
        <p:nvPicPr>
          <p:cNvPr id="5" name="Picture 4">
            <a:extLst>
              <a:ext uri="{FF2B5EF4-FFF2-40B4-BE49-F238E27FC236}">
                <a16:creationId xmlns:a16="http://schemas.microsoft.com/office/drawing/2014/main" id="{1DDEAD72-950E-DA85-27B2-94D75105A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266" y="2000250"/>
            <a:ext cx="4299468" cy="4299468"/>
          </a:xfrm>
          <a:prstGeom prst="rect">
            <a:avLst/>
          </a:prstGeom>
        </p:spPr>
      </p:pic>
    </p:spTree>
    <p:extLst>
      <p:ext uri="{BB962C8B-B14F-4D97-AF65-F5344CB8AC3E}">
        <p14:creationId xmlns:p14="http://schemas.microsoft.com/office/powerpoint/2010/main" val="17555683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202C4-21D8-68DB-2B28-967DE1832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71C2F-73B2-320D-92CC-13552894DC5A}"/>
              </a:ext>
            </a:extLst>
          </p:cNvPr>
          <p:cNvSpPr>
            <a:spLocks noGrp="1"/>
          </p:cNvSpPr>
          <p:nvPr>
            <p:ph type="title"/>
          </p:nvPr>
        </p:nvSpPr>
        <p:spPr/>
        <p:txBody>
          <a:bodyPr/>
          <a:lstStyle/>
          <a:p>
            <a:r>
              <a:rPr lang="en-US"/>
              <a:t>5. Prototype</a:t>
            </a:r>
          </a:p>
        </p:txBody>
      </p:sp>
      <p:sp>
        <p:nvSpPr>
          <p:cNvPr id="6" name="Slide Number Placeholder 5">
            <a:extLst>
              <a:ext uri="{FF2B5EF4-FFF2-40B4-BE49-F238E27FC236}">
                <a16:creationId xmlns:a16="http://schemas.microsoft.com/office/drawing/2014/main" id="{5876710A-185A-4C46-1342-6BF343D4C4A7}"/>
              </a:ext>
            </a:extLst>
          </p:cNvPr>
          <p:cNvSpPr>
            <a:spLocks noGrp="1"/>
          </p:cNvSpPr>
          <p:nvPr>
            <p:ph type="sldNum" sz="quarter" idx="12"/>
          </p:nvPr>
        </p:nvSpPr>
        <p:spPr/>
        <p:txBody>
          <a:bodyPr/>
          <a:lstStyle/>
          <a:p>
            <a:fld id="{9EA0BE3B-158A-4EDF-80DC-E394A0D1600F}" type="slidenum">
              <a:rPr lang="en-US" smtClean="0"/>
              <a:pPr/>
              <a:t>40</a:t>
            </a:fld>
            <a:endParaRPr lang="en-US"/>
          </a:p>
        </p:txBody>
      </p:sp>
      <p:pic>
        <p:nvPicPr>
          <p:cNvPr id="11" name="Picture 10">
            <a:extLst>
              <a:ext uri="{FF2B5EF4-FFF2-40B4-BE49-F238E27FC236}">
                <a16:creationId xmlns:a16="http://schemas.microsoft.com/office/drawing/2014/main" id="{FCCE10B4-1E07-9FA2-CF1E-1648F20A649A}"/>
              </a:ext>
            </a:extLst>
          </p:cNvPr>
          <p:cNvPicPr>
            <a:picLocks noChangeAspect="1"/>
          </p:cNvPicPr>
          <p:nvPr/>
        </p:nvPicPr>
        <p:blipFill>
          <a:blip r:embed="rId2"/>
          <a:stretch>
            <a:fillRect/>
          </a:stretch>
        </p:blipFill>
        <p:spPr>
          <a:xfrm>
            <a:off x="0" y="696910"/>
            <a:ext cx="12192000" cy="5795965"/>
          </a:xfrm>
          <a:prstGeom prst="rect">
            <a:avLst/>
          </a:prstGeom>
        </p:spPr>
      </p:pic>
    </p:spTree>
    <p:extLst>
      <p:ext uri="{BB962C8B-B14F-4D97-AF65-F5344CB8AC3E}">
        <p14:creationId xmlns:p14="http://schemas.microsoft.com/office/powerpoint/2010/main" val="32243091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F31FF-4536-0BCF-EABA-C82F2DFEA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C06CD-488D-E207-E57A-673400C6F1C2}"/>
              </a:ext>
            </a:extLst>
          </p:cNvPr>
          <p:cNvSpPr>
            <a:spLocks noGrp="1"/>
          </p:cNvSpPr>
          <p:nvPr>
            <p:ph type="title"/>
          </p:nvPr>
        </p:nvSpPr>
        <p:spPr/>
        <p:txBody>
          <a:bodyPr/>
          <a:lstStyle/>
          <a:p>
            <a:r>
              <a:rPr lang="en-US"/>
              <a:t>5. Prototype</a:t>
            </a:r>
          </a:p>
        </p:txBody>
      </p:sp>
      <p:sp>
        <p:nvSpPr>
          <p:cNvPr id="6" name="Slide Number Placeholder 5">
            <a:extLst>
              <a:ext uri="{FF2B5EF4-FFF2-40B4-BE49-F238E27FC236}">
                <a16:creationId xmlns:a16="http://schemas.microsoft.com/office/drawing/2014/main" id="{84D95629-8FCE-B217-A480-3EC9AEA7A0A3}"/>
              </a:ext>
            </a:extLst>
          </p:cNvPr>
          <p:cNvSpPr>
            <a:spLocks noGrp="1"/>
          </p:cNvSpPr>
          <p:nvPr>
            <p:ph type="sldNum" sz="quarter" idx="12"/>
          </p:nvPr>
        </p:nvSpPr>
        <p:spPr/>
        <p:txBody>
          <a:bodyPr/>
          <a:lstStyle/>
          <a:p>
            <a:fld id="{9EA0BE3B-158A-4EDF-80DC-E394A0D1600F}" type="slidenum">
              <a:rPr lang="en-US" smtClean="0"/>
              <a:pPr/>
              <a:t>41</a:t>
            </a:fld>
            <a:endParaRPr lang="en-US"/>
          </a:p>
        </p:txBody>
      </p:sp>
      <p:pic>
        <p:nvPicPr>
          <p:cNvPr id="4" name="Picture 3">
            <a:extLst>
              <a:ext uri="{FF2B5EF4-FFF2-40B4-BE49-F238E27FC236}">
                <a16:creationId xmlns:a16="http://schemas.microsoft.com/office/drawing/2014/main" id="{5C510639-853A-95DC-19DA-D85795695A09}"/>
              </a:ext>
            </a:extLst>
          </p:cNvPr>
          <p:cNvPicPr>
            <a:picLocks noChangeAspect="1"/>
          </p:cNvPicPr>
          <p:nvPr/>
        </p:nvPicPr>
        <p:blipFill>
          <a:blip r:embed="rId2"/>
          <a:stretch>
            <a:fillRect/>
          </a:stretch>
        </p:blipFill>
        <p:spPr>
          <a:xfrm>
            <a:off x="0" y="703104"/>
            <a:ext cx="12192000" cy="5789771"/>
          </a:xfrm>
          <a:prstGeom prst="rect">
            <a:avLst/>
          </a:prstGeom>
        </p:spPr>
      </p:pic>
    </p:spTree>
    <p:extLst>
      <p:ext uri="{BB962C8B-B14F-4D97-AF65-F5344CB8AC3E}">
        <p14:creationId xmlns:p14="http://schemas.microsoft.com/office/powerpoint/2010/main" val="152988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2E9C7-EE36-C646-6334-ACEE910FC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0A705-D03D-B0F1-E06D-B3601D0BF53C}"/>
              </a:ext>
            </a:extLst>
          </p:cNvPr>
          <p:cNvSpPr>
            <a:spLocks noGrp="1"/>
          </p:cNvSpPr>
          <p:nvPr>
            <p:ph type="title"/>
          </p:nvPr>
        </p:nvSpPr>
        <p:spPr/>
        <p:txBody>
          <a:bodyPr/>
          <a:lstStyle/>
          <a:p>
            <a:r>
              <a:rPr lang="en-US"/>
              <a:t>5. Prototype</a:t>
            </a:r>
          </a:p>
        </p:txBody>
      </p:sp>
      <p:sp>
        <p:nvSpPr>
          <p:cNvPr id="3" name="Text Placeholder 2">
            <a:extLst>
              <a:ext uri="{FF2B5EF4-FFF2-40B4-BE49-F238E27FC236}">
                <a16:creationId xmlns:a16="http://schemas.microsoft.com/office/drawing/2014/main" id="{77E3E389-D279-185F-763E-F270BBEDA25A}"/>
              </a:ext>
            </a:extLst>
          </p:cNvPr>
          <p:cNvSpPr>
            <a:spLocks noGrp="1"/>
          </p:cNvSpPr>
          <p:nvPr>
            <p:ph type="body" sz="quarter" idx="13"/>
          </p:nvPr>
        </p:nvSpPr>
        <p:spPr/>
        <p:txBody>
          <a:bodyPr/>
          <a:lstStyle/>
          <a:p>
            <a:pPr marL="0" indent="0">
              <a:buNone/>
            </a:pPr>
            <a:r>
              <a:rPr lang="en-US"/>
              <a:t>Problem statement: tách ra context và user problem (problem chỉ 2 dòng, 1 câu thôi)</a:t>
            </a:r>
          </a:p>
          <a:p>
            <a:pPr marL="0" indent="0">
              <a:buNone/>
            </a:pPr>
            <a:r>
              <a:rPr lang="en-US"/>
              <a:t>Empathy map để lên trên, từ đó mới có persona</a:t>
            </a:r>
          </a:p>
          <a:p>
            <a:pPr marL="0" indent="0">
              <a:buNone/>
            </a:pPr>
            <a:r>
              <a:rPr lang="en-US"/>
              <a:t>Thêm hành trình người dùng cho người dạy (Huy)</a:t>
            </a:r>
          </a:p>
          <a:p>
            <a:pPr marL="0" indent="0">
              <a:buNone/>
            </a:pPr>
            <a:r>
              <a:rPr lang="en-US"/>
              <a:t>Sửa lại hành trình của Linh (cần có nhiều bước hơn, cụ thể hơn)</a:t>
            </a:r>
          </a:p>
          <a:p>
            <a:pPr marL="0" indent="0">
              <a:buNone/>
            </a:pPr>
            <a:r>
              <a:rPr lang="en-US"/>
              <a:t>Sửa lại câu cú ở giải pháp và phân tích đối thủ (làm rõ học theo nhóm là live-stream)</a:t>
            </a:r>
          </a:p>
        </p:txBody>
      </p:sp>
      <p:sp>
        <p:nvSpPr>
          <p:cNvPr id="6" name="Slide Number Placeholder 5">
            <a:extLst>
              <a:ext uri="{FF2B5EF4-FFF2-40B4-BE49-F238E27FC236}">
                <a16:creationId xmlns:a16="http://schemas.microsoft.com/office/drawing/2014/main" id="{F854C7BF-6D73-ABD3-DA4A-BA2D87D9DC77}"/>
              </a:ext>
            </a:extLst>
          </p:cNvPr>
          <p:cNvSpPr>
            <a:spLocks noGrp="1"/>
          </p:cNvSpPr>
          <p:nvPr>
            <p:ph type="sldNum" sz="quarter" idx="12"/>
          </p:nvPr>
        </p:nvSpPr>
        <p:spPr/>
        <p:txBody>
          <a:bodyPr/>
          <a:lstStyle/>
          <a:p>
            <a:fld id="{9EA0BE3B-158A-4EDF-80DC-E394A0D1600F}" type="slidenum">
              <a:rPr lang="en-US" smtClean="0"/>
              <a:pPr/>
              <a:t>42</a:t>
            </a:fld>
            <a:endParaRPr lang="en-US"/>
          </a:p>
        </p:txBody>
      </p:sp>
    </p:spTree>
    <p:extLst>
      <p:ext uri="{BB962C8B-B14F-4D97-AF65-F5344CB8AC3E}">
        <p14:creationId xmlns:p14="http://schemas.microsoft.com/office/powerpoint/2010/main" val="6265691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43</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TotalTime>
  <Words>2885</Words>
  <Application>Microsoft Office PowerPoint</Application>
  <PresentationFormat>Widescreen</PresentationFormat>
  <Paragraphs>373</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Lato</vt:lpstr>
      <vt:lpstr>Office Theme</vt:lpstr>
      <vt:lpstr>PowerPoint Presentation</vt:lpstr>
      <vt:lpstr>Nội dung</vt:lpstr>
      <vt:lpstr>Nội dung</vt:lpstr>
      <vt:lpstr>1. Xác định vấn đề người dùng</vt:lpstr>
      <vt:lpstr>1. Xác định vấn đề người dùng</vt:lpstr>
      <vt:lpstr>1. Xác định vấn đề người dùng</vt:lpstr>
      <vt:lpstr>1. Xác định vấn đề người dùng – Phân tích đối thủ cạnh tranh</vt:lpstr>
      <vt:lpstr>1. Xác định vấn đề người dùng</vt:lpstr>
      <vt:lpstr>1. Xác định vấn đề người dùng</vt:lpstr>
      <vt:lpstr>Nội dung</vt:lpstr>
      <vt:lpstr>2. Persona</vt:lpstr>
      <vt:lpstr>2. Persona</vt:lpstr>
      <vt:lpstr>2. Persona – empathy map</vt:lpstr>
      <vt:lpstr>2. Persona – empathy map</vt:lpstr>
      <vt:lpstr>2. Bản đồ hành trình người dùng</vt:lpstr>
      <vt:lpstr>Nội dung</vt:lpstr>
      <vt:lpstr>3. Câu chuyện người dùng – user story</vt:lpstr>
      <vt:lpstr>3. Bản đồ câu chuyện người dùng – user story mapping</vt:lpstr>
      <vt:lpstr>3. Sản phẩm khả thi tối thiểu – minimum viable product</vt:lpstr>
      <vt:lpstr>Nội dung</vt:lpstr>
      <vt:lpstr>4. Phân tích nhiệm vụ (Task analysis)</vt:lpstr>
      <vt:lpstr>4. Phân tích nhiệm vụ (Task analysis)</vt:lpstr>
      <vt:lpstr>4. Phân tích nhiệm vụ (Task analysis)</vt:lpstr>
      <vt:lpstr>4. Phân tích nhiệm vụ (Task analysis)</vt:lpstr>
      <vt:lpstr>4. Luồng tác vụ (Task flow)</vt:lpstr>
      <vt:lpstr>4. Luồng người dùng (User flow)</vt:lpstr>
      <vt:lpstr>4. Luồng người dùng (User flow)</vt:lpstr>
      <vt:lpstr>4. Luồng người dùng (User flow)</vt:lpstr>
      <vt:lpstr>4. Luồng thông tin (Kiến trúc thông tin - Information architecture)</vt:lpstr>
      <vt:lpstr>Nội dung</vt:lpstr>
      <vt:lpstr>5. UI Kit</vt:lpstr>
      <vt:lpstr>5. UI Kit</vt:lpstr>
      <vt:lpstr>5. UI Kit</vt:lpstr>
      <vt:lpstr>5. UI Kit</vt:lpstr>
      <vt:lpstr>5. Wireframe</vt:lpstr>
      <vt:lpstr>5. Wireframe</vt:lpstr>
      <vt:lpstr>5. Wireframe</vt:lpstr>
      <vt:lpstr>5. Wireframe</vt:lpstr>
      <vt:lpstr>5. Prototype</vt:lpstr>
      <vt:lpstr>5. Prototype</vt:lpstr>
      <vt:lpstr>5. Prototype</vt:lpstr>
      <vt:lpstr>5. Prototype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Nong Quoc Khanh 20226088</cp:lastModifiedBy>
  <cp:revision>180</cp:revision>
  <dcterms:created xsi:type="dcterms:W3CDTF">2021-05-28T04:32:29Z</dcterms:created>
  <dcterms:modified xsi:type="dcterms:W3CDTF">2025-12-24T08:13:32Z</dcterms:modified>
</cp:coreProperties>
</file>