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256" r:id="rId2"/>
    <p:sldId id="470" r:id="rId3"/>
    <p:sldId id="471" r:id="rId4"/>
    <p:sldId id="472" r:id="rId5"/>
    <p:sldId id="473" r:id="rId6"/>
    <p:sldId id="474" r:id="rId7"/>
    <p:sldId id="475" r:id="rId8"/>
    <p:sldId id="491" r:id="rId9"/>
    <p:sldId id="476" r:id="rId10"/>
    <p:sldId id="477" r:id="rId11"/>
    <p:sldId id="478" r:id="rId12"/>
    <p:sldId id="479" r:id="rId13"/>
    <p:sldId id="492" r:id="rId14"/>
    <p:sldId id="480" r:id="rId15"/>
    <p:sldId id="490" r:id="rId16"/>
    <p:sldId id="481" r:id="rId17"/>
    <p:sldId id="482" r:id="rId18"/>
    <p:sldId id="483" r:id="rId19"/>
    <p:sldId id="484" r:id="rId20"/>
    <p:sldId id="485" r:id="rId21"/>
    <p:sldId id="486" r:id="rId22"/>
    <p:sldId id="489" r:id="rId23"/>
    <p:sldId id="487" r:id="rId24"/>
    <p:sldId id="488" r:id="rId25"/>
    <p:sldId id="469" r:id="rId26"/>
    <p:sldId id="263" r:id="rId27"/>
    <p:sldId id="265"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101" d="100"/>
          <a:sy n="101" d="100"/>
        </p:scale>
        <p:origin x="114"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CCE9D8-AD17-496A-8BCF-C3DF0DD793E3}" type="datetimeFigureOut">
              <a:rPr lang="en-US" smtClean="0"/>
              <a:t>3/7/2021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2357B2-E178-4A53-BFBA-492F716E4DA6}" type="slidenum">
              <a:rPr lang="en-US" smtClean="0"/>
              <a:t>‹#›</a:t>
            </a:fld>
            <a:endParaRPr lang="en-US"/>
          </a:p>
        </p:txBody>
      </p:sp>
    </p:spTree>
    <p:extLst>
      <p:ext uri="{BB962C8B-B14F-4D97-AF65-F5344CB8AC3E}">
        <p14:creationId xmlns:p14="http://schemas.microsoft.com/office/powerpoint/2010/main" val="3270971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2357B2-E178-4A53-BFBA-492F716E4DA6}" type="slidenum">
              <a:rPr lang="en-US" smtClean="0"/>
              <a:t>1</a:t>
            </a:fld>
            <a:endParaRPr lang="en-US"/>
          </a:p>
        </p:txBody>
      </p:sp>
    </p:spTree>
    <p:extLst>
      <p:ext uri="{BB962C8B-B14F-4D97-AF65-F5344CB8AC3E}">
        <p14:creationId xmlns:p14="http://schemas.microsoft.com/office/powerpoint/2010/main" val="3242333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5099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95622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35813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76527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9399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99598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80916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35489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09720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11607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417875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9945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801225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61595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94094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90068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69612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89684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14947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25695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07792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871393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939331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257687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CA077768-21C8-4125-A345-258E48D2EED0}"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2357B2-E178-4A53-BFBA-492F716E4DA6}" type="slidenum">
              <a:rPr lang="en-US" smtClean="0"/>
              <a:t>27</a:t>
            </a:fld>
            <a:endParaRPr lang="en-US"/>
          </a:p>
        </p:txBody>
      </p:sp>
    </p:spTree>
    <p:extLst>
      <p:ext uri="{BB962C8B-B14F-4D97-AF65-F5344CB8AC3E}">
        <p14:creationId xmlns:p14="http://schemas.microsoft.com/office/powerpoint/2010/main" val="25672809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F903F-C896-4263-B620-3634DACEBBAC}"/>
              </a:ext>
            </a:extLst>
          </p:cNvPr>
          <p:cNvSpPr>
            <a:spLocks noGrp="1"/>
          </p:cNvSpPr>
          <p:nvPr>
            <p:ph type="ctrTitle"/>
          </p:nvPr>
        </p:nvSpPr>
        <p:spPr>
          <a:xfrm>
            <a:off x="1143000" y="1296267"/>
            <a:ext cx="6858000" cy="2387600"/>
          </a:xfrm>
        </p:spPr>
        <p:txBody>
          <a:bodyPr anchor="b">
            <a:normAutofit/>
          </a:bodyPr>
          <a:lstStyle>
            <a:lvl1pPr algn="ctr">
              <a:defRPr sz="5400">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D3BBC0BC-8A71-4E80-9861-CB334C7E1247}"/>
              </a:ext>
            </a:extLst>
          </p:cNvPr>
          <p:cNvSpPr>
            <a:spLocks noGrp="1"/>
          </p:cNvSpPr>
          <p:nvPr>
            <p:ph type="subTitle" idx="1"/>
          </p:nvPr>
        </p:nvSpPr>
        <p:spPr>
          <a:xfrm>
            <a:off x="1143000" y="3775942"/>
            <a:ext cx="6858000" cy="1655762"/>
          </a:xfrm>
        </p:spPr>
        <p:txBody>
          <a:bodyPr>
            <a:normAutofit/>
          </a:bodyPr>
          <a:lstStyle>
            <a:lvl1pPr marL="0" indent="0" algn="ctr">
              <a:buNone/>
              <a:defRPr sz="36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4FBE195-5F0F-4B62-94FE-2968C87B7186}"/>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B9DD6EFE-EC9D-4634-AC5E-455C4197C655}"/>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86452D0C-9200-494A-A865-05ACBD043781}"/>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6842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D2E49-BABA-46FF-AE97-E0D12399F330}"/>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1000A6EC-E6E2-4C13-8FED-D701074EF997}"/>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156308C-8FAD-4167-8F7E-4BF2A5DCB33B}"/>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AB0721D4-7941-4D48-8143-D9A56E41C05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1DC110F4-2EF6-49B8-8F1A-D13AB636CB64}"/>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1034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882E-0FDC-4362-941A-0CFECD7A8944}"/>
              </a:ext>
            </a:extLst>
          </p:cNvPr>
          <p:cNvSpPr>
            <a:spLocks noGrp="1"/>
          </p:cNvSpPr>
          <p:nvPr>
            <p:ph type="title"/>
          </p:nvPr>
        </p:nvSpPr>
        <p:spPr>
          <a:xfrm>
            <a:off x="623888" y="1709739"/>
            <a:ext cx="7886700" cy="1559242"/>
          </a:xfrm>
        </p:spPr>
        <p:txBody>
          <a:bodyPr anchor="t">
            <a:normAutofit/>
          </a:bodyPr>
          <a:lstStyle>
            <a:lvl1pPr>
              <a:defRPr sz="4400">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0039F4F5-BEC2-4E6D-8E68-DE9151591F95}"/>
              </a:ext>
            </a:extLst>
          </p:cNvPr>
          <p:cNvSpPr>
            <a:spLocks noGrp="1"/>
          </p:cNvSpPr>
          <p:nvPr>
            <p:ph type="body" idx="1"/>
          </p:nvPr>
        </p:nvSpPr>
        <p:spPr>
          <a:xfrm>
            <a:off x="623888" y="3377565"/>
            <a:ext cx="7886700" cy="2712085"/>
          </a:xfrm>
        </p:spPr>
        <p:txBody>
          <a:bodyPr>
            <a:normAutofit/>
          </a:bodyPr>
          <a:lstStyle>
            <a:lvl1pPr marL="0" indent="0">
              <a:buNone/>
              <a:defRPr sz="16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9B0CE05-642B-4F56-ABC2-E70F0BEDC8FB}"/>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1D1828D4-549D-40E8-87C3-65BFBD066365}"/>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CB8FBE7-4EA5-4F81-8BFD-57A33D2FA723}"/>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501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17DD7-4CF0-4C4F-860E-4158DEC2E2F7}"/>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C136398-8452-42CD-AB0B-CDDB7C8CC749}"/>
              </a:ext>
            </a:extLst>
          </p:cNvPr>
          <p:cNvSpPr>
            <a:spLocks noGrp="1"/>
          </p:cNvSpPr>
          <p:nvPr>
            <p:ph sz="half" idx="1"/>
          </p:nvPr>
        </p:nvSpPr>
        <p:spPr>
          <a:xfrm>
            <a:off x="628650" y="1825625"/>
            <a:ext cx="386715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D917360-4730-4057-8C54-DFE36C2AB843}"/>
              </a:ext>
            </a:extLst>
          </p:cNvPr>
          <p:cNvSpPr>
            <a:spLocks noGrp="1"/>
          </p:cNvSpPr>
          <p:nvPr>
            <p:ph sz="half" idx="2"/>
          </p:nvPr>
        </p:nvSpPr>
        <p:spPr>
          <a:xfrm>
            <a:off x="4648200" y="1825625"/>
            <a:ext cx="386715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E3E049-6134-4F61-B42A-27CC67387FF9}"/>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a:latin typeface="Arial" panose="020B0604020202020204" pitchFamily="34" charset="0"/>
              <a:cs typeface="Arial" panose="020B0604020202020204" pitchFamily="34" charset="0"/>
            </a:endParaRPr>
          </a:p>
        </p:txBody>
      </p:sp>
      <p:sp>
        <p:nvSpPr>
          <p:cNvPr id="6" name="Footer Placeholder 5">
            <a:extLst>
              <a:ext uri="{FF2B5EF4-FFF2-40B4-BE49-F238E27FC236}">
                <a16:creationId xmlns:a16="http://schemas.microsoft.com/office/drawing/2014/main" id="{E5642CA0-11BC-4135-AFD8-EB75D44B049B}"/>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latin typeface="Arial" panose="020B0604020202020204" pitchFamily="34" charset="0"/>
              <a:cs typeface="Arial" panose="020B0604020202020204" pitchFamily="34" charset="0"/>
            </a:endParaRPr>
          </a:p>
        </p:txBody>
      </p:sp>
      <p:sp>
        <p:nvSpPr>
          <p:cNvPr id="7" name="Slide Number Placeholder 6">
            <a:extLst>
              <a:ext uri="{FF2B5EF4-FFF2-40B4-BE49-F238E27FC236}">
                <a16:creationId xmlns:a16="http://schemas.microsoft.com/office/drawing/2014/main" id="{FC58E5B4-C4C3-445D-B308-1633B0479593}"/>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2982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99E27-E0EC-4FB0-9437-35C99DC6EFF2}"/>
              </a:ext>
            </a:extLst>
          </p:cNvPr>
          <p:cNvSpPr>
            <a:spLocks noGrp="1"/>
          </p:cNvSpPr>
          <p:nvPr>
            <p:ph type="title"/>
          </p:nvPr>
        </p:nvSpPr>
        <p:spPr>
          <a:xfrm>
            <a:off x="630238" y="365125"/>
            <a:ext cx="7886700"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A8E136CB-A52A-4CFD-9435-B0B4E61E1197}"/>
              </a:ext>
            </a:extLst>
          </p:cNvPr>
          <p:cNvSpPr>
            <a:spLocks noGrp="1"/>
          </p:cNvSpPr>
          <p:nvPr>
            <p:ph type="body" idx="1"/>
          </p:nvPr>
        </p:nvSpPr>
        <p:spPr>
          <a:xfrm>
            <a:off x="630238" y="1681163"/>
            <a:ext cx="386873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77EDD5-A063-45D6-89FA-D9EFBBD5BD4C}"/>
              </a:ext>
            </a:extLst>
          </p:cNvPr>
          <p:cNvSpPr>
            <a:spLocks noGrp="1"/>
          </p:cNvSpPr>
          <p:nvPr>
            <p:ph sz="half" idx="2"/>
          </p:nvPr>
        </p:nvSpPr>
        <p:spPr>
          <a:xfrm>
            <a:off x="630238" y="2505075"/>
            <a:ext cx="386873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98225F-7807-4B86-8A1F-FC7457CBCF37}"/>
              </a:ext>
            </a:extLst>
          </p:cNvPr>
          <p:cNvSpPr>
            <a:spLocks noGrp="1"/>
          </p:cNvSpPr>
          <p:nvPr>
            <p:ph type="body" sz="quarter" idx="3"/>
          </p:nvPr>
        </p:nvSpPr>
        <p:spPr>
          <a:xfrm>
            <a:off x="4629150" y="1681163"/>
            <a:ext cx="38877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1E8555-F59C-4658-BBE0-37A6A373F57B}"/>
              </a:ext>
            </a:extLst>
          </p:cNvPr>
          <p:cNvSpPr>
            <a:spLocks noGrp="1"/>
          </p:cNvSpPr>
          <p:nvPr>
            <p:ph sz="quarter" idx="4"/>
          </p:nvPr>
        </p:nvSpPr>
        <p:spPr>
          <a:xfrm>
            <a:off x="4629150" y="2505075"/>
            <a:ext cx="38877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5BE40B-37A1-4B51-90C5-78EC5D5FEEEC}"/>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a:latin typeface="Arial" panose="020B060402020202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5FBEF363-BF17-4477-917F-E257221CFB5D}"/>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latin typeface="Arial" panose="020B0604020202020204" pitchFamily="34" charset="0"/>
              <a:cs typeface="Arial" panose="020B0604020202020204" pitchFamily="34" charset="0"/>
            </a:endParaRPr>
          </a:p>
        </p:txBody>
      </p:sp>
      <p:sp>
        <p:nvSpPr>
          <p:cNvPr id="9" name="Slide Number Placeholder 8">
            <a:extLst>
              <a:ext uri="{FF2B5EF4-FFF2-40B4-BE49-F238E27FC236}">
                <a16:creationId xmlns:a16="http://schemas.microsoft.com/office/drawing/2014/main" id="{61EC900E-60C2-426B-BD59-5094239B8E5F}"/>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3589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14A49-4AE1-4A9C-B7D5-76183F316AE8}"/>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Date Placeholder 2">
            <a:extLst>
              <a:ext uri="{FF2B5EF4-FFF2-40B4-BE49-F238E27FC236}">
                <a16:creationId xmlns:a16="http://schemas.microsoft.com/office/drawing/2014/main" id="{7B43B799-9F31-4D83-931A-819E4DFB7F2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59DE03E9-A055-4A55-97F9-48A5795BF36A}"/>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6111983-AA44-4AD4-9ADC-6FD6DB623339}"/>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9730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60883D-0B2B-45B8-AB4A-3D562EC7375D}"/>
              </a:ext>
            </a:extLst>
          </p:cNvPr>
          <p:cNvSpPr>
            <a:spLocks noGrp="1"/>
          </p:cNvSpPr>
          <p:nvPr>
            <p:ph type="dt" sz="half" idx="10"/>
          </p:nvPr>
        </p:nvSpPr>
        <p:spPr/>
        <p:txBody>
          <a:bodyPr/>
          <a:lstStyle/>
          <a:p>
            <a:fld id="{971A0906-9B46-414A-AA8D-6FCFA73F8A23}" type="datetimeFigureOut">
              <a:rPr lang="en-US" smtClean="0"/>
              <a:t>3/7/2021</a:t>
            </a:fld>
            <a:endParaRPr lang="en-US"/>
          </a:p>
        </p:txBody>
      </p:sp>
      <p:sp>
        <p:nvSpPr>
          <p:cNvPr id="3" name="Footer Placeholder 2">
            <a:extLst>
              <a:ext uri="{FF2B5EF4-FFF2-40B4-BE49-F238E27FC236}">
                <a16:creationId xmlns:a16="http://schemas.microsoft.com/office/drawing/2014/main" id="{5ECAF9DE-2316-4438-B3A7-45EB104095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9D5CF5-1133-4A98-B802-FE41D7050ED5}"/>
              </a:ext>
            </a:extLst>
          </p:cNvPr>
          <p:cNvSpPr>
            <a:spLocks noGrp="1"/>
          </p:cNvSpPr>
          <p:nvPr>
            <p:ph type="sldNum" sz="quarter" idx="12"/>
          </p:nvPr>
        </p:nvSpPr>
        <p:spPr/>
        <p:txBody>
          <a:bodyPr/>
          <a:lstStyle/>
          <a:p>
            <a:fld id="{339F20C4-FB1E-4753-B207-935DE012D598}" type="slidenum">
              <a:rPr lang="en-US" smtClean="0"/>
              <a:t>‹#›</a:t>
            </a:fld>
            <a:endParaRPr lang="en-US"/>
          </a:p>
        </p:txBody>
      </p:sp>
    </p:spTree>
    <p:extLst>
      <p:ext uri="{BB962C8B-B14F-4D97-AF65-F5344CB8AC3E}">
        <p14:creationId xmlns:p14="http://schemas.microsoft.com/office/powerpoint/2010/main" val="2818791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96C63-B9CC-4F2E-A739-F60ACB7AAE4B}"/>
              </a:ext>
            </a:extLst>
          </p:cNvPr>
          <p:cNvSpPr>
            <a:spLocks noGrp="1"/>
          </p:cNvSpPr>
          <p:nvPr>
            <p:ph type="title"/>
          </p:nvPr>
        </p:nvSpPr>
        <p:spPr>
          <a:xfrm>
            <a:off x="630238" y="457200"/>
            <a:ext cx="2949575" cy="1600200"/>
          </a:xfrm>
        </p:spPr>
        <p:txBody>
          <a:bodyPr anchor="b"/>
          <a:lstStyle>
            <a:lvl1pPr>
              <a:defRPr sz="2800">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13763FB3-973B-4CA8-8223-9ED23B18C4B5}"/>
              </a:ext>
            </a:extLst>
          </p:cNvPr>
          <p:cNvSpPr>
            <a:spLocks noGrp="1"/>
          </p:cNvSpPr>
          <p:nvPr>
            <p:ph idx="1"/>
          </p:nvPr>
        </p:nvSpPr>
        <p:spPr>
          <a:xfrm>
            <a:off x="3887788" y="987425"/>
            <a:ext cx="4629150" cy="4873625"/>
          </a:xfr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CF93B7-FC3D-40CE-8F46-C670F85108B4}"/>
              </a:ext>
            </a:extLst>
          </p:cNvPr>
          <p:cNvSpPr>
            <a:spLocks noGrp="1"/>
          </p:cNvSpPr>
          <p:nvPr>
            <p:ph type="body" sz="half" idx="2"/>
          </p:nvPr>
        </p:nvSpPr>
        <p:spPr>
          <a:xfrm>
            <a:off x="630238" y="2057400"/>
            <a:ext cx="2949575" cy="3811588"/>
          </a:xfrm>
        </p:spPr>
        <p:txBody>
          <a:bodyPr/>
          <a:lstStyle>
            <a:lvl1pPr marL="0" indent="0">
              <a:buNone/>
              <a:defRPr sz="14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928DF5-F259-4A9D-99AB-2840315C9E5C}"/>
              </a:ext>
            </a:extLst>
          </p:cNvPr>
          <p:cNvSpPr>
            <a:spLocks noGrp="1"/>
          </p:cNvSpPr>
          <p:nvPr>
            <p:ph type="dt" sz="half" idx="10"/>
          </p:nvPr>
        </p:nvSpPr>
        <p:spPr/>
        <p:txBody>
          <a:bodyPr/>
          <a:lstStyle>
            <a:lvl1pPr>
              <a:defRPr sz="1100">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sz="1100"/>
          </a:p>
        </p:txBody>
      </p:sp>
      <p:sp>
        <p:nvSpPr>
          <p:cNvPr id="6" name="Footer Placeholder 5">
            <a:extLst>
              <a:ext uri="{FF2B5EF4-FFF2-40B4-BE49-F238E27FC236}">
                <a16:creationId xmlns:a16="http://schemas.microsoft.com/office/drawing/2014/main" id="{F41FF13C-6110-4A5B-8F21-BD48C1F23F9A}"/>
              </a:ext>
            </a:extLst>
          </p:cNvPr>
          <p:cNvSpPr>
            <a:spLocks noGrp="1"/>
          </p:cNvSpPr>
          <p:nvPr>
            <p:ph type="ftr" sz="quarter" idx="11"/>
          </p:nvPr>
        </p:nvSpPr>
        <p:spPr/>
        <p:txBody>
          <a:bodyPr/>
          <a:lstStyle>
            <a:lvl1pPr>
              <a:defRPr sz="1100">
                <a:latin typeface="Arial" panose="020B0604020202020204" pitchFamily="34" charset="0"/>
                <a:cs typeface="Arial" panose="020B0604020202020204" pitchFamily="34" charset="0"/>
              </a:defRPr>
            </a:lvl1pPr>
          </a:lstStyle>
          <a:p>
            <a:endParaRPr lang="en-US" sz="1100"/>
          </a:p>
        </p:txBody>
      </p:sp>
      <p:sp>
        <p:nvSpPr>
          <p:cNvPr id="7" name="Slide Number Placeholder 6">
            <a:extLst>
              <a:ext uri="{FF2B5EF4-FFF2-40B4-BE49-F238E27FC236}">
                <a16:creationId xmlns:a16="http://schemas.microsoft.com/office/drawing/2014/main" id="{F033BBCE-34D2-4090-BA7C-E0CC462652F7}"/>
              </a:ext>
            </a:extLst>
          </p:cNvPr>
          <p:cNvSpPr>
            <a:spLocks noGrp="1"/>
          </p:cNvSpPr>
          <p:nvPr>
            <p:ph type="sldNum" sz="quarter" idx="12"/>
          </p:nvPr>
        </p:nvSpPr>
        <p:spPr/>
        <p:txBody>
          <a:bodyPr/>
          <a:lstStyle>
            <a:lvl1pPr>
              <a:defRPr sz="1100">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sz="1100"/>
          </a:p>
        </p:txBody>
      </p:sp>
    </p:spTree>
    <p:extLst>
      <p:ext uri="{BB962C8B-B14F-4D97-AF65-F5344CB8AC3E}">
        <p14:creationId xmlns:p14="http://schemas.microsoft.com/office/powerpoint/2010/main" val="2913846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6F717-8723-48C7-A028-D0655394408A}"/>
              </a:ext>
            </a:extLst>
          </p:cNvPr>
          <p:cNvSpPr>
            <a:spLocks noGrp="1"/>
          </p:cNvSpPr>
          <p:nvPr>
            <p:ph type="title"/>
          </p:nvPr>
        </p:nvSpPr>
        <p:spPr>
          <a:xfrm>
            <a:off x="630238" y="457200"/>
            <a:ext cx="2949575" cy="1600200"/>
          </a:xfrm>
        </p:spPr>
        <p:txBody>
          <a:bodyPr anchor="b"/>
          <a:lstStyle>
            <a:lvl1pPr>
              <a:defRPr sz="2800">
                <a:latin typeface="Arial" panose="020B0604020202020204" pitchFamily="34" charset="0"/>
                <a:cs typeface="Arial" panose="020B0604020202020204" pitchFamily="34" charset="0"/>
              </a:defRPr>
            </a:lvl1pPr>
          </a:lstStyle>
          <a:p>
            <a:r>
              <a:rPr lang="en-US" dirty="0"/>
              <a:t>Click to edit Master title style</a:t>
            </a:r>
          </a:p>
        </p:txBody>
      </p:sp>
      <p:sp>
        <p:nvSpPr>
          <p:cNvPr id="3" name="Picture Placeholder 2">
            <a:extLst>
              <a:ext uri="{FF2B5EF4-FFF2-40B4-BE49-F238E27FC236}">
                <a16:creationId xmlns:a16="http://schemas.microsoft.com/office/drawing/2014/main" id="{AD9C92EE-0FD6-4783-BD72-9A6D6B72B963}"/>
              </a:ext>
            </a:extLst>
          </p:cNvPr>
          <p:cNvSpPr>
            <a:spLocks noGrp="1"/>
          </p:cNvSpPr>
          <p:nvPr>
            <p:ph type="pic" idx="1"/>
          </p:nvPr>
        </p:nvSpPr>
        <p:spPr>
          <a:xfrm>
            <a:off x="3887788" y="987425"/>
            <a:ext cx="4629150" cy="4873625"/>
          </a:xfrm>
        </p:spPr>
        <p:txBody>
          <a:bodyPr/>
          <a:lstStyle>
            <a:lvl1pPr marL="0" indent="0">
              <a:buNone/>
              <a:defRPr sz="2800">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2E43F9-EB25-497E-B739-9224607AD44E}"/>
              </a:ext>
            </a:extLst>
          </p:cNvPr>
          <p:cNvSpPr>
            <a:spLocks noGrp="1"/>
          </p:cNvSpPr>
          <p:nvPr>
            <p:ph type="body" sz="half" idx="2"/>
          </p:nvPr>
        </p:nvSpPr>
        <p:spPr>
          <a:xfrm>
            <a:off x="630238" y="2057400"/>
            <a:ext cx="2949575" cy="3811588"/>
          </a:xfrm>
        </p:spPr>
        <p:txBody>
          <a:bodyPr/>
          <a:lstStyle>
            <a:lvl1pPr marL="0" indent="0">
              <a:buNone/>
              <a:defRPr sz="14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2885C7-E6FF-4ACE-B78D-B042845D1D49}"/>
              </a:ext>
            </a:extLst>
          </p:cNvPr>
          <p:cNvSpPr>
            <a:spLocks noGrp="1"/>
          </p:cNvSpPr>
          <p:nvPr>
            <p:ph type="dt" sz="half" idx="10"/>
          </p:nvPr>
        </p:nvSpPr>
        <p:spPr/>
        <p:txBody>
          <a:bodyPr/>
          <a:lstStyle>
            <a:lvl1pPr>
              <a:defRPr sz="1100">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sz="1100"/>
          </a:p>
        </p:txBody>
      </p:sp>
      <p:sp>
        <p:nvSpPr>
          <p:cNvPr id="6" name="Footer Placeholder 5">
            <a:extLst>
              <a:ext uri="{FF2B5EF4-FFF2-40B4-BE49-F238E27FC236}">
                <a16:creationId xmlns:a16="http://schemas.microsoft.com/office/drawing/2014/main" id="{68B34199-E080-4977-A082-1EA16357476F}"/>
              </a:ext>
            </a:extLst>
          </p:cNvPr>
          <p:cNvSpPr>
            <a:spLocks noGrp="1"/>
          </p:cNvSpPr>
          <p:nvPr>
            <p:ph type="ftr" sz="quarter" idx="11"/>
          </p:nvPr>
        </p:nvSpPr>
        <p:spPr/>
        <p:txBody>
          <a:bodyPr/>
          <a:lstStyle>
            <a:lvl1pPr>
              <a:defRPr sz="1100">
                <a:latin typeface="Arial" panose="020B0604020202020204" pitchFamily="34" charset="0"/>
                <a:cs typeface="Arial" panose="020B0604020202020204" pitchFamily="34" charset="0"/>
              </a:defRPr>
            </a:lvl1pPr>
          </a:lstStyle>
          <a:p>
            <a:endParaRPr lang="en-US" sz="1100"/>
          </a:p>
        </p:txBody>
      </p:sp>
      <p:sp>
        <p:nvSpPr>
          <p:cNvPr id="7" name="Slide Number Placeholder 6">
            <a:extLst>
              <a:ext uri="{FF2B5EF4-FFF2-40B4-BE49-F238E27FC236}">
                <a16:creationId xmlns:a16="http://schemas.microsoft.com/office/drawing/2014/main" id="{5D345808-A6B9-4272-9EBA-9E5A9CA8640B}"/>
              </a:ext>
            </a:extLst>
          </p:cNvPr>
          <p:cNvSpPr>
            <a:spLocks noGrp="1"/>
          </p:cNvSpPr>
          <p:nvPr>
            <p:ph type="sldNum" sz="quarter" idx="12"/>
          </p:nvPr>
        </p:nvSpPr>
        <p:spPr/>
        <p:txBody>
          <a:bodyPr/>
          <a:lstStyle>
            <a:lvl1pPr>
              <a:defRPr sz="1100">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sz="1100"/>
          </a:p>
        </p:txBody>
      </p:sp>
    </p:spTree>
    <p:extLst>
      <p:ext uri="{BB962C8B-B14F-4D97-AF65-F5344CB8AC3E}">
        <p14:creationId xmlns:p14="http://schemas.microsoft.com/office/powerpoint/2010/main" val="132775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78AC2-1BFE-4995-ADC9-59F8F53120FF}"/>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6F3A656A-A000-4FCF-92A6-8BA5E69B3FEA}"/>
              </a:ext>
            </a:extLst>
          </p:cNvPr>
          <p:cNvSpPr>
            <a:spLocks noGrp="1"/>
          </p:cNvSpPr>
          <p:nvPr>
            <p:ph type="body" orient="vert" idx="1"/>
          </p:nvPr>
        </p:nvSpPr>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442FE95-8DC7-43B3-A6A5-495BFF6F38BA}"/>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513E2D6-5F9A-4F2C-A425-EB7078F4184F}"/>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D2605E20-2430-45D3-85CE-48FB32B8F151}"/>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34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04670E-912C-4B33-A317-BDF9EEC54150}"/>
              </a:ext>
            </a:extLst>
          </p:cNvPr>
          <p:cNvSpPr>
            <a:spLocks noGrp="1"/>
          </p:cNvSpPr>
          <p:nvPr>
            <p:ph type="title" orient="vert"/>
          </p:nvPr>
        </p:nvSpPr>
        <p:spPr>
          <a:xfrm>
            <a:off x="6543675" y="365125"/>
            <a:ext cx="1971675" cy="5811838"/>
          </a:xfrm>
        </p:spPr>
        <p:txBody>
          <a:bodyPr vert="eaVert"/>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0F83234E-B805-4D19-AD28-8DF2A30BE116}"/>
              </a:ext>
            </a:extLst>
          </p:cNvPr>
          <p:cNvSpPr>
            <a:spLocks noGrp="1"/>
          </p:cNvSpPr>
          <p:nvPr>
            <p:ph type="body" orient="vert" idx="1"/>
          </p:nvPr>
        </p:nvSpPr>
        <p:spPr>
          <a:xfrm>
            <a:off x="628650" y="365125"/>
            <a:ext cx="5762625" cy="5811838"/>
          </a:xfrm>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AA84EA6-B1F2-4465-84C4-32C2B585111F}"/>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669B9A23-E0E5-412B-8CB9-B181F9C914F8}"/>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06DB3A43-8BE7-40F2-9D19-4493648190FF}"/>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0755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F012F5-DCF3-492C-BFC4-267BADDED2D4}"/>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6CD5BFB-D949-46B2-AAD0-52ED7D559A48}"/>
              </a:ext>
            </a:extLst>
          </p:cNvPr>
          <p:cNvSpPr>
            <a:spLocks noGrp="1"/>
          </p:cNvSpPr>
          <p:nvPr>
            <p:ph type="body" idx="1"/>
          </p:nvPr>
        </p:nvSpPr>
        <p:spPr>
          <a:xfrm>
            <a:off x="628650" y="1825625"/>
            <a:ext cx="7886700" cy="425541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0BB7971-92ED-4E38-8D35-E41AAAF5E031}"/>
              </a:ext>
            </a:extLst>
          </p:cNvPr>
          <p:cNvSpPr>
            <a:spLocks noGrp="1"/>
          </p:cNvSpPr>
          <p:nvPr>
            <p:ph type="dt" sz="half" idx="2"/>
          </p:nvPr>
        </p:nvSpPr>
        <p:spPr>
          <a:xfrm>
            <a:off x="628650" y="6479770"/>
            <a:ext cx="2057400" cy="365125"/>
          </a:xfrm>
          <a:prstGeom prst="rect">
            <a:avLst/>
          </a:prstGeom>
        </p:spPr>
        <p:txBody>
          <a:bodyPr vert="horz" lIns="91440" tIns="45720" rIns="91440" bIns="45720" rtlCol="0" anchor="ctr"/>
          <a:lstStyle>
            <a:lvl1pPr algn="l">
              <a:defRPr sz="1100">
                <a:solidFill>
                  <a:schemeClr val="tx1">
                    <a:tint val="75000"/>
                  </a:schemeClr>
                </a:solidFill>
                <a:latin typeface="Arial" panose="020B0604020202020204" pitchFamily="34" charset="0"/>
                <a:cs typeface="Arial" panose="020B0604020202020204" pitchFamily="34" charset="0"/>
              </a:defRPr>
            </a:lvl1pPr>
          </a:lstStyle>
          <a:p>
            <a:fld id="{971A0906-9B46-414A-AA8D-6FCFA73F8A23}" type="datetimeFigureOut">
              <a:rPr lang="en-US" smtClean="0"/>
              <a:pPr/>
              <a:t>3/7/2021</a:t>
            </a:fld>
            <a:endParaRPr lang="en-US"/>
          </a:p>
        </p:txBody>
      </p:sp>
      <p:sp>
        <p:nvSpPr>
          <p:cNvPr id="5" name="Footer Placeholder 4">
            <a:extLst>
              <a:ext uri="{FF2B5EF4-FFF2-40B4-BE49-F238E27FC236}">
                <a16:creationId xmlns:a16="http://schemas.microsoft.com/office/drawing/2014/main" id="{9299406C-E88D-4E22-96A0-CFD179F34082}"/>
              </a:ext>
            </a:extLst>
          </p:cNvPr>
          <p:cNvSpPr>
            <a:spLocks noGrp="1"/>
          </p:cNvSpPr>
          <p:nvPr>
            <p:ph type="ftr" sz="quarter" idx="3"/>
          </p:nvPr>
        </p:nvSpPr>
        <p:spPr>
          <a:xfrm>
            <a:off x="3028950" y="6479770"/>
            <a:ext cx="30861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324ECCE8-37E5-4C70-BB48-153A1BBBE73F}"/>
              </a:ext>
            </a:extLst>
          </p:cNvPr>
          <p:cNvSpPr>
            <a:spLocks noGrp="1"/>
          </p:cNvSpPr>
          <p:nvPr>
            <p:ph type="sldNum" sz="quarter" idx="4"/>
          </p:nvPr>
        </p:nvSpPr>
        <p:spPr>
          <a:xfrm>
            <a:off x="6457950" y="6479770"/>
            <a:ext cx="20574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604020202020204" pitchFamily="34" charset="0"/>
                <a:cs typeface="Arial" panose="020B0604020202020204" pitchFamily="34" charset="0"/>
              </a:defRPr>
            </a:lvl1pPr>
          </a:lstStyle>
          <a:p>
            <a:fld id="{339F20C4-FB1E-4753-B207-935DE012D598}" type="slidenum">
              <a:rPr lang="en-US" smtClean="0"/>
              <a:pPr/>
              <a:t>‹#›</a:t>
            </a:fld>
            <a:endParaRPr lang="en-US"/>
          </a:p>
        </p:txBody>
      </p:sp>
    </p:spTree>
    <p:extLst>
      <p:ext uri="{BB962C8B-B14F-4D97-AF65-F5344CB8AC3E}">
        <p14:creationId xmlns:p14="http://schemas.microsoft.com/office/powerpoint/2010/main" val="11463111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0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oamk.fi/~teraisan/K1033BI/02.1User%20interface%20design.ppt"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web.fsktm.um.edu.my/~salwa/HCICourse/lecture3/User-Centered-Design.ppt#:~:text=The%20quality%20of%20interaction%20between,goal%20of%20user%2Dcentered%20design" TargetMode="External"/><Relationship Id="rId5" Type="http://schemas.openxmlformats.org/officeDocument/2006/relationships/hyperlink" Target="https://ddcsubjectmaterial.files.wordpress.com/2014/04/chapter-08_designing-the-interface.ppt" TargetMode="External"/><Relationship Id="rId4" Type="http://schemas.openxmlformats.org/officeDocument/2006/relationships/hyperlink" Target="http://www.mackayhouse.com/Scott/An%20Introduction%20to%20Core%20User%20Experience%20Concepts.ppt"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1351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Appendix (*)</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b="1" dirty="0"/>
              <a:t>User personas</a:t>
            </a:r>
            <a:endParaRPr lang="en-US" dirty="0"/>
          </a:p>
          <a:p>
            <a:pPr marL="457200" indent="-457200">
              <a:buFont typeface="+mj-lt"/>
              <a:buAutoNum type="arabicPeriod"/>
            </a:pPr>
            <a:r>
              <a:rPr lang="en-US" b="1" dirty="0"/>
              <a:t>User stories</a:t>
            </a:r>
            <a:endParaRPr lang="en-US" dirty="0"/>
          </a:p>
          <a:p>
            <a:pPr marL="457200" indent="-457200">
              <a:buFont typeface="+mj-lt"/>
              <a:buAutoNum type="arabicPeriod"/>
            </a:pPr>
            <a:r>
              <a:rPr lang="en-US" b="1" dirty="0"/>
              <a:t>Empathy map</a:t>
            </a:r>
            <a:r>
              <a:rPr lang="en-US" dirty="0"/>
              <a:t> </a:t>
            </a:r>
          </a:p>
          <a:p>
            <a:pPr marL="457200" indent="-457200">
              <a:buFont typeface="+mj-lt"/>
              <a:buAutoNum type="arabicPeriod"/>
            </a:pPr>
            <a:r>
              <a:rPr lang="en-US" b="1" dirty="0"/>
              <a:t>User flows</a:t>
            </a:r>
            <a:r>
              <a:rPr lang="en-US" dirty="0"/>
              <a:t> </a:t>
            </a:r>
          </a:p>
          <a:p>
            <a:pPr marL="457200" indent="-457200">
              <a:buFont typeface="+mj-lt"/>
              <a:buAutoNum type="arabicPeriod"/>
            </a:pPr>
            <a:r>
              <a:rPr lang="en-US" b="1" dirty="0"/>
              <a:t>User scenarios</a:t>
            </a:r>
            <a:r>
              <a:rPr lang="en-US" dirty="0"/>
              <a:t> </a:t>
            </a:r>
          </a:p>
          <a:p>
            <a:pPr marL="457200" lvl="0" indent="-457200">
              <a:buFont typeface="+mj-lt"/>
              <a:buAutoNum type="arabicPeriod"/>
            </a:pPr>
            <a:r>
              <a:rPr lang="en-US" b="1" dirty="0"/>
              <a:t>Sitemap</a:t>
            </a:r>
            <a:endParaRPr lang="en-US" dirty="0"/>
          </a:p>
          <a:p>
            <a:pPr marL="457200" lvl="0" indent="-457200">
              <a:buFont typeface="+mj-lt"/>
              <a:buAutoNum type="arabicPeriod"/>
            </a:pPr>
            <a:r>
              <a:rPr lang="en-US" b="1" dirty="0"/>
              <a:t>Wireframe</a:t>
            </a:r>
            <a:endParaRPr lang="en-US" dirty="0"/>
          </a:p>
          <a:p>
            <a:pPr marL="457200" lvl="0" indent="-457200">
              <a:buFont typeface="+mj-lt"/>
              <a:buAutoNum type="arabicPeriod"/>
            </a:pPr>
            <a:r>
              <a:rPr lang="en-US" b="1" dirty="0"/>
              <a:t>Storyboard</a:t>
            </a:r>
            <a:endParaRPr lang="en-US" dirty="0"/>
          </a:p>
          <a:p>
            <a:pPr marL="457200" lvl="0" indent="-457200">
              <a:buFont typeface="+mj-lt"/>
              <a:buAutoNum type="arabicPeriod"/>
            </a:pPr>
            <a:r>
              <a:rPr lang="en-US" b="1" dirty="0"/>
              <a:t>User journey scenarios</a:t>
            </a:r>
            <a:endParaRPr lang="en-US" dirty="0"/>
          </a:p>
        </p:txBody>
      </p:sp>
      <p:sp>
        <p:nvSpPr>
          <p:cNvPr id="4" name="TextBox 3">
            <a:extLst>
              <a:ext uri="{FF2B5EF4-FFF2-40B4-BE49-F238E27FC236}">
                <a16:creationId xmlns:a16="http://schemas.microsoft.com/office/drawing/2014/main" id="{AA08E97D-8CF9-4B90-BDC0-59F51440B7AE}"/>
              </a:ext>
            </a:extLst>
          </p:cNvPr>
          <p:cNvSpPr txBox="1"/>
          <p:nvPr/>
        </p:nvSpPr>
        <p:spPr>
          <a:xfrm>
            <a:off x="5148064" y="5805264"/>
            <a:ext cx="2574744" cy="307777"/>
          </a:xfrm>
          <a:prstGeom prst="rect">
            <a:avLst/>
          </a:prstGeom>
          <a:noFill/>
        </p:spPr>
        <p:txBody>
          <a:bodyPr wrap="none" rtlCol="0">
            <a:spAutoFit/>
          </a:bodyPr>
          <a:lstStyle/>
          <a:p>
            <a:r>
              <a:rPr lang="en-US" sz="1400" i="1"/>
              <a:t>(*) collected from internet</a:t>
            </a:r>
          </a:p>
        </p:txBody>
      </p:sp>
    </p:spTree>
    <p:extLst>
      <p:ext uri="{BB962C8B-B14F-4D97-AF65-F5344CB8AC3E}">
        <p14:creationId xmlns:p14="http://schemas.microsoft.com/office/powerpoint/2010/main" val="1522591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User personas</a:t>
            </a:r>
            <a:endParaRPr lang="en-US" dirty="0"/>
          </a:p>
        </p:txBody>
      </p:sp>
      <p:sp>
        <p:nvSpPr>
          <p:cNvPr id="3" name="Content Placeholder 2"/>
          <p:cNvSpPr>
            <a:spLocks noGrp="1"/>
          </p:cNvSpPr>
          <p:nvPr>
            <p:ph idx="1"/>
          </p:nvPr>
        </p:nvSpPr>
        <p:spPr/>
        <p:txBody>
          <a:bodyPr>
            <a:normAutofit lnSpcReduction="10000"/>
          </a:bodyPr>
          <a:lstStyle/>
          <a:p>
            <a:r>
              <a:rPr lang="en-US" dirty="0"/>
              <a:t>A user persona is an archetype or character that represents a potential user of the website or app.</a:t>
            </a:r>
          </a:p>
          <a:p>
            <a:r>
              <a:rPr lang="en-US" dirty="0"/>
              <a:t>In user centered-design, personas help the design team to target their designs around users.</a:t>
            </a:r>
          </a:p>
          <a:p>
            <a:r>
              <a:rPr lang="en-US" dirty="0"/>
              <a:t>In user research, </a:t>
            </a:r>
            <a:r>
              <a:rPr lang="en-US" dirty="0" err="1"/>
              <a:t>UXers</a:t>
            </a:r>
            <a:r>
              <a:rPr lang="en-US" dirty="0"/>
              <a:t> will gather data related to the goals and frustrations of their potential users. Then, they create personas to put that data into context. </a:t>
            </a:r>
          </a:p>
          <a:p>
            <a:r>
              <a:rPr lang="en-US" dirty="0"/>
              <a:t>There is usually more than one type of user who will interact with your website or app, and creating personas helps to scope out the range of users.</a:t>
            </a:r>
          </a:p>
          <a:p>
            <a:r>
              <a:rPr lang="en-US" dirty="0"/>
              <a:t>User personas are essential in helping the design of website or app to meet the needs of users.</a:t>
            </a:r>
          </a:p>
        </p:txBody>
      </p:sp>
    </p:spTree>
    <p:extLst>
      <p:ext uri="{BB962C8B-B14F-4D97-AF65-F5344CB8AC3E}">
        <p14:creationId xmlns:p14="http://schemas.microsoft.com/office/powerpoint/2010/main" val="1804221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User personas</a:t>
            </a:r>
            <a:endParaRPr lang="en-US" dirty="0"/>
          </a:p>
        </p:txBody>
      </p:sp>
      <p:graphicFrame>
        <p:nvGraphicFramePr>
          <p:cNvPr id="4" name="Content Placeholder 3"/>
          <p:cNvGraphicFramePr>
            <a:graphicFrameLocks noGrp="1"/>
          </p:cNvGraphicFramePr>
          <p:nvPr>
            <p:ph idx="1"/>
          </p:nvPr>
        </p:nvGraphicFramePr>
        <p:xfrm>
          <a:off x="323528" y="1556792"/>
          <a:ext cx="8568952" cy="4221480"/>
        </p:xfrm>
        <a:graphic>
          <a:graphicData uri="http://schemas.openxmlformats.org/drawingml/2006/table">
            <a:tbl>
              <a:tblPr>
                <a:tableStyleId>{5C22544A-7EE6-4342-B048-85BDC9FD1C3A}</a:tableStyleId>
              </a:tblPr>
              <a:tblGrid>
                <a:gridCol w="1393702">
                  <a:extLst>
                    <a:ext uri="{9D8B030D-6E8A-4147-A177-3AD203B41FA5}">
                      <a16:colId xmlns:a16="http://schemas.microsoft.com/office/drawing/2014/main" val="20000"/>
                    </a:ext>
                  </a:extLst>
                </a:gridCol>
                <a:gridCol w="2390813">
                  <a:extLst>
                    <a:ext uri="{9D8B030D-6E8A-4147-A177-3AD203B41FA5}">
                      <a16:colId xmlns:a16="http://schemas.microsoft.com/office/drawing/2014/main" val="20001"/>
                    </a:ext>
                  </a:extLst>
                </a:gridCol>
                <a:gridCol w="2175505">
                  <a:extLst>
                    <a:ext uri="{9D8B030D-6E8A-4147-A177-3AD203B41FA5}">
                      <a16:colId xmlns:a16="http://schemas.microsoft.com/office/drawing/2014/main" val="20002"/>
                    </a:ext>
                  </a:extLst>
                </a:gridCol>
                <a:gridCol w="2608932">
                  <a:extLst>
                    <a:ext uri="{9D8B030D-6E8A-4147-A177-3AD203B41FA5}">
                      <a16:colId xmlns:a16="http://schemas.microsoft.com/office/drawing/2014/main" val="20003"/>
                    </a:ext>
                  </a:extLst>
                </a:gridCol>
              </a:tblGrid>
              <a:tr h="0">
                <a:tc>
                  <a:txBody>
                    <a:bodyPr/>
                    <a:lstStyle/>
                    <a:p>
                      <a:pPr>
                        <a:spcAft>
                          <a:spcPts val="0"/>
                        </a:spcAft>
                      </a:pPr>
                      <a:r>
                        <a:rPr lang="en-US" sz="1800">
                          <a:effectLst/>
                        </a:rPr>
                        <a:t> </a:t>
                      </a:r>
                      <a:endParaRPr lang="en-US" sz="1600">
                        <a:effectLst/>
                        <a:latin typeface="Times New Roman" charset="0"/>
                        <a:ea typeface="Yu Mincho" charset="-128"/>
                        <a:cs typeface="Times New Roman" charset="0"/>
                      </a:endParaRPr>
                    </a:p>
                  </a:txBody>
                  <a:tcPr marL="63500" marR="63500" marT="63500" marB="63500"/>
                </a:tc>
                <a:tc>
                  <a:txBody>
                    <a:bodyPr/>
                    <a:lstStyle/>
                    <a:p>
                      <a:pPr algn="ctr">
                        <a:spcAft>
                          <a:spcPts val="0"/>
                        </a:spcAft>
                      </a:pPr>
                      <a:r>
                        <a:rPr lang="en-US" sz="1800">
                          <a:effectLst/>
                        </a:rPr>
                        <a:t>Who are they?</a:t>
                      </a:r>
                      <a:endParaRPr lang="en-US" sz="1600">
                        <a:effectLst/>
                        <a:latin typeface="Times New Roman" charset="0"/>
                        <a:ea typeface="Yu Mincho" charset="-128"/>
                        <a:cs typeface="Times New Roman" charset="0"/>
                      </a:endParaRPr>
                    </a:p>
                  </a:txBody>
                  <a:tcPr marL="63500" marR="63500" marT="63500" marB="63500"/>
                </a:tc>
                <a:tc>
                  <a:txBody>
                    <a:bodyPr/>
                    <a:lstStyle/>
                    <a:p>
                      <a:pPr algn="ctr">
                        <a:spcAft>
                          <a:spcPts val="0"/>
                        </a:spcAft>
                      </a:pPr>
                      <a:r>
                        <a:rPr lang="en-US" sz="1800">
                          <a:effectLst/>
                        </a:rPr>
                        <a:t>What is their main goal?</a:t>
                      </a:r>
                      <a:endParaRPr lang="en-US" sz="1600">
                        <a:effectLst/>
                        <a:latin typeface="Times New Roman" charset="0"/>
                        <a:ea typeface="Yu Mincho" charset="-128"/>
                        <a:cs typeface="Times New Roman" charset="0"/>
                      </a:endParaRPr>
                    </a:p>
                  </a:txBody>
                  <a:tcPr marL="63500" marR="63500" marT="63500" marB="63500"/>
                </a:tc>
                <a:tc>
                  <a:txBody>
                    <a:bodyPr/>
                    <a:lstStyle/>
                    <a:p>
                      <a:pPr algn="ctr">
                        <a:spcAft>
                          <a:spcPts val="0"/>
                        </a:spcAft>
                      </a:pPr>
                      <a:r>
                        <a:rPr lang="en-US" sz="1800">
                          <a:effectLst/>
                        </a:rPr>
                        <a:t>What is their main barrier to achieving this goal?</a:t>
                      </a:r>
                      <a:endParaRPr lang="en-US" sz="1600">
                        <a:effectLst/>
                        <a:latin typeface="Times New Roman" charset="0"/>
                        <a:ea typeface="Yu Mincho" charset="-128"/>
                        <a:cs typeface="Times New Roman" charset="0"/>
                      </a:endParaRPr>
                    </a:p>
                  </a:txBody>
                  <a:tcPr marL="63500" marR="63500" marT="63500" marB="63500"/>
                </a:tc>
                <a:extLst>
                  <a:ext uri="{0D108BD9-81ED-4DB2-BD59-A6C34878D82A}">
                    <a16:rowId xmlns:a16="http://schemas.microsoft.com/office/drawing/2014/main" val="10000"/>
                  </a:ext>
                </a:extLst>
              </a:tr>
              <a:tr h="0">
                <a:tc>
                  <a:txBody>
                    <a:bodyPr/>
                    <a:lstStyle/>
                    <a:p>
                      <a:pPr>
                        <a:spcAft>
                          <a:spcPts val="0"/>
                        </a:spcAft>
                      </a:pPr>
                      <a:r>
                        <a:rPr lang="en-US" sz="1800">
                          <a:effectLst/>
                        </a:rPr>
                        <a:t>Simple user persona</a:t>
                      </a:r>
                      <a:endParaRPr lang="en-US" sz="1600">
                        <a:effectLst/>
                      </a:endParaRPr>
                    </a:p>
                    <a:p>
                      <a:pPr>
                        <a:spcAft>
                          <a:spcPts val="0"/>
                        </a:spcAft>
                      </a:pPr>
                      <a:r>
                        <a:rPr lang="en-US" sz="1800">
                          <a:effectLst/>
                        </a:rPr>
                        <a:t> </a:t>
                      </a:r>
                      <a:endParaRPr lang="en-US" sz="1600">
                        <a:effectLst/>
                        <a:latin typeface="Times New Roman" charset="0"/>
                        <a:ea typeface="Yu Mincho" charset="-128"/>
                        <a:cs typeface="Times New Roman" charset="0"/>
                      </a:endParaRPr>
                    </a:p>
                  </a:txBody>
                  <a:tcPr marL="63500" marR="63500" marT="63500" marB="63500"/>
                </a:tc>
                <a:tc>
                  <a:txBody>
                    <a:bodyPr/>
                    <a:lstStyle/>
                    <a:p>
                      <a:pPr>
                        <a:spcAft>
                          <a:spcPts val="0"/>
                        </a:spcAft>
                      </a:pPr>
                      <a:r>
                        <a:rPr lang="en-US" sz="1800">
                          <a:effectLst/>
                        </a:rPr>
                        <a:t>&lt; Write your user persona’s key demographic here &gt;</a:t>
                      </a:r>
                      <a:endParaRPr lang="en-US" sz="1600">
                        <a:effectLst/>
                        <a:latin typeface="Times New Roman" charset="0"/>
                        <a:ea typeface="Yu Mincho" charset="-128"/>
                        <a:cs typeface="Times New Roman" charset="0"/>
                      </a:endParaRPr>
                    </a:p>
                  </a:txBody>
                  <a:tcPr marL="63500" marR="63500" marT="63500" marB="63500"/>
                </a:tc>
                <a:tc>
                  <a:txBody>
                    <a:bodyPr/>
                    <a:lstStyle/>
                    <a:p>
                      <a:pPr>
                        <a:spcAft>
                          <a:spcPts val="0"/>
                        </a:spcAft>
                      </a:pPr>
                      <a:r>
                        <a:rPr lang="en-US" sz="1800">
                          <a:effectLst/>
                        </a:rPr>
                        <a:t>&lt; Write your user persona’s main goal here &gt;</a:t>
                      </a:r>
                      <a:endParaRPr lang="en-US" sz="1600">
                        <a:effectLst/>
                        <a:latin typeface="Times New Roman" charset="0"/>
                        <a:ea typeface="Yu Mincho" charset="-128"/>
                        <a:cs typeface="Times New Roman" charset="0"/>
                      </a:endParaRPr>
                    </a:p>
                  </a:txBody>
                  <a:tcPr marL="63500" marR="63500" marT="63500" marB="63500"/>
                </a:tc>
                <a:tc>
                  <a:txBody>
                    <a:bodyPr/>
                    <a:lstStyle/>
                    <a:p>
                      <a:pPr>
                        <a:spcAft>
                          <a:spcPts val="0"/>
                        </a:spcAft>
                      </a:pPr>
                      <a:r>
                        <a:rPr lang="en-US" sz="1800" dirty="0">
                          <a:effectLst/>
                        </a:rPr>
                        <a:t>&lt; Write your user persona’s main barrier here &gt;</a:t>
                      </a:r>
                      <a:endParaRPr lang="en-US" sz="1600" dirty="0">
                        <a:effectLst/>
                        <a:latin typeface="Times New Roman" charset="0"/>
                        <a:ea typeface="Yu Mincho" charset="-128"/>
                        <a:cs typeface="Times New Roman" charset="0"/>
                      </a:endParaRPr>
                    </a:p>
                  </a:txBody>
                  <a:tcPr marL="63500" marR="63500" marT="63500" marB="63500"/>
                </a:tc>
                <a:extLst>
                  <a:ext uri="{0D108BD9-81ED-4DB2-BD59-A6C34878D82A}">
                    <a16:rowId xmlns:a16="http://schemas.microsoft.com/office/drawing/2014/main" val="10001"/>
                  </a:ext>
                </a:extLst>
              </a:tr>
              <a:tr h="0">
                <a:tc>
                  <a:txBody>
                    <a:bodyPr/>
                    <a:lstStyle/>
                    <a:p>
                      <a:pPr>
                        <a:spcAft>
                          <a:spcPts val="0"/>
                        </a:spcAft>
                      </a:pPr>
                      <a:r>
                        <a:rPr lang="en-US" sz="1800" dirty="0">
                          <a:solidFill>
                            <a:srgbClr val="FF0000"/>
                          </a:solidFill>
                          <a:effectLst/>
                          <a:latin typeface="Times" charset="0"/>
                          <a:ea typeface="Yu Mincho" charset="-128"/>
                          <a:cs typeface="Times New Roman" charset="0"/>
                        </a:rPr>
                        <a:t>Administrative assistant persona</a:t>
                      </a:r>
                      <a:endParaRPr lang="en-US" sz="1600" dirty="0">
                        <a:effectLst/>
                        <a:latin typeface="Times New Roman" charset="0"/>
                        <a:ea typeface="Yu Mincho" charset="-128"/>
                        <a:cs typeface="Times New Roman" charset="0"/>
                      </a:endParaRPr>
                    </a:p>
                  </a:txBody>
                  <a:tcPr marL="63500" marR="63500" marT="63500" marB="63500"/>
                </a:tc>
                <a:tc>
                  <a:txBody>
                    <a:bodyPr/>
                    <a:lstStyle/>
                    <a:p>
                      <a:pPr>
                        <a:spcAft>
                          <a:spcPts val="0"/>
                        </a:spcAft>
                      </a:pPr>
                      <a:r>
                        <a:rPr lang="en-US" sz="1800">
                          <a:solidFill>
                            <a:srgbClr val="FF0000"/>
                          </a:solidFill>
                          <a:effectLst/>
                          <a:latin typeface="Times" charset="0"/>
                          <a:ea typeface="Yu Mincho" charset="-128"/>
                          <a:cs typeface="Times New Roman" charset="0"/>
                        </a:rPr>
                        <a:t>Administrative assistant working for large companies.</a:t>
                      </a:r>
                      <a:endParaRPr lang="en-US" sz="1600">
                        <a:effectLst/>
                        <a:latin typeface="Times New Roman" charset="0"/>
                        <a:ea typeface="Yu Mincho" charset="-128"/>
                        <a:cs typeface="Times New Roman" charset="0"/>
                      </a:endParaRPr>
                    </a:p>
                  </a:txBody>
                  <a:tcPr marL="63500" marR="63500" marT="63500" marB="63500"/>
                </a:tc>
                <a:tc>
                  <a:txBody>
                    <a:bodyPr/>
                    <a:lstStyle/>
                    <a:p>
                      <a:pPr>
                        <a:spcAft>
                          <a:spcPts val="0"/>
                        </a:spcAft>
                      </a:pPr>
                      <a:r>
                        <a:rPr lang="en-US" sz="1800">
                          <a:solidFill>
                            <a:srgbClr val="FF0000"/>
                          </a:solidFill>
                          <a:effectLst/>
                          <a:latin typeface="Times" charset="0"/>
                          <a:ea typeface="Yu Mincho" charset="-128"/>
                          <a:cs typeface="Times New Roman" charset="0"/>
                        </a:rPr>
                        <a:t>They want to create Word documents from printed documents handed over to them or PDF documents where the source has been lost.</a:t>
                      </a:r>
                      <a:endParaRPr lang="en-US" sz="1600">
                        <a:effectLst/>
                        <a:latin typeface="Times New Roman" charset="0"/>
                        <a:ea typeface="Yu Mincho" charset="-128"/>
                        <a:cs typeface="Times New Roman" charset="0"/>
                      </a:endParaRPr>
                    </a:p>
                  </a:txBody>
                  <a:tcPr marL="63500" marR="63500" marT="63500" marB="63500"/>
                </a:tc>
                <a:tc>
                  <a:txBody>
                    <a:bodyPr/>
                    <a:lstStyle/>
                    <a:p>
                      <a:pPr>
                        <a:spcAft>
                          <a:spcPts val="0"/>
                        </a:spcAft>
                      </a:pPr>
                      <a:r>
                        <a:rPr lang="en-US" sz="1800" dirty="0">
                          <a:solidFill>
                            <a:srgbClr val="FF0000"/>
                          </a:solidFill>
                          <a:effectLst/>
                          <a:latin typeface="Times" charset="0"/>
                          <a:ea typeface="Yu Mincho" charset="-128"/>
                          <a:cs typeface="Times New Roman" charset="0"/>
                        </a:rPr>
                        <a:t>They struggle to do so because converting printed docs or PDFs docs to fully editable Word documents is super difficult without Optical Character Recognition (OCR). Most of them end up manually recreating them.</a:t>
                      </a:r>
                      <a:endParaRPr lang="en-US" sz="1600" dirty="0">
                        <a:effectLst/>
                        <a:latin typeface="Times New Roman" charset="0"/>
                        <a:ea typeface="Yu Mincho" charset="-128"/>
                        <a:cs typeface="Times New Roman" charset="0"/>
                      </a:endParaRPr>
                    </a:p>
                  </a:txBody>
                  <a:tcPr marL="63500" marR="63500" marT="63500" marB="6350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87700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User personas</a:t>
            </a:r>
            <a:endParaRPr lang="en-US" dirty="0"/>
          </a:p>
        </p:txBody>
      </p:sp>
      <p:graphicFrame>
        <p:nvGraphicFramePr>
          <p:cNvPr id="5" name="Content Placeholder 4"/>
          <p:cNvGraphicFramePr>
            <a:graphicFrameLocks noGrp="1"/>
          </p:cNvGraphicFramePr>
          <p:nvPr>
            <p:ph idx="1"/>
          </p:nvPr>
        </p:nvGraphicFramePr>
        <p:xfrm>
          <a:off x="971600" y="1417638"/>
          <a:ext cx="7416824" cy="3749548"/>
        </p:xfrm>
        <a:graphic>
          <a:graphicData uri="http://schemas.openxmlformats.org/drawingml/2006/table">
            <a:tbl>
              <a:tblPr firstRow="1" firstCol="1" bandRow="1">
                <a:tableStyleId>{5C22544A-7EE6-4342-B048-85BDC9FD1C3A}</a:tableStyleId>
              </a:tblPr>
              <a:tblGrid>
                <a:gridCol w="1783640">
                  <a:extLst>
                    <a:ext uri="{9D8B030D-6E8A-4147-A177-3AD203B41FA5}">
                      <a16:colId xmlns:a16="http://schemas.microsoft.com/office/drawing/2014/main" val="20000"/>
                    </a:ext>
                  </a:extLst>
                </a:gridCol>
                <a:gridCol w="5633184">
                  <a:extLst>
                    <a:ext uri="{9D8B030D-6E8A-4147-A177-3AD203B41FA5}">
                      <a16:colId xmlns:a16="http://schemas.microsoft.com/office/drawing/2014/main" val="20001"/>
                    </a:ext>
                  </a:extLst>
                </a:gridCol>
              </a:tblGrid>
              <a:tr h="0">
                <a:tc>
                  <a:txBody>
                    <a:bodyPr/>
                    <a:lstStyle/>
                    <a:p>
                      <a:pPr>
                        <a:lnSpc>
                          <a:spcPct val="150000"/>
                        </a:lnSpc>
                        <a:spcAft>
                          <a:spcPts val="0"/>
                        </a:spcAft>
                      </a:pPr>
                      <a:r>
                        <a:rPr lang="en-US" sz="1600" dirty="0">
                          <a:effectLst/>
                        </a:rPr>
                        <a:t>Status</a:t>
                      </a:r>
                      <a:endParaRPr lang="en-US" sz="1400" dirty="0">
                        <a:effectLst/>
                        <a:latin typeface="Times New Roman" charset="0"/>
                        <a:ea typeface="Yu Mincho" charset="-128"/>
                        <a:cs typeface="Times New Roman" charset="0"/>
                      </a:endParaRPr>
                    </a:p>
                  </a:txBody>
                  <a:tcPr marL="68580" marR="68580" marT="0" marB="0"/>
                </a:tc>
                <a:tc>
                  <a:txBody>
                    <a:bodyPr/>
                    <a:lstStyle/>
                    <a:p>
                      <a:pPr>
                        <a:lnSpc>
                          <a:spcPct val="150000"/>
                        </a:lnSpc>
                        <a:spcAft>
                          <a:spcPts val="0"/>
                        </a:spcAft>
                      </a:pPr>
                      <a:r>
                        <a:rPr lang="en-US" sz="1600">
                          <a:effectLst/>
                        </a:rPr>
                        <a:t>de facto King of House Stark</a:t>
                      </a:r>
                      <a:endParaRPr lang="en-US" sz="1400">
                        <a:effectLst/>
                        <a:latin typeface="Times New Roman" charset="0"/>
                        <a:ea typeface="Yu Mincho" charset="-128"/>
                        <a:cs typeface="Times New Roman" charset="0"/>
                      </a:endParaRPr>
                    </a:p>
                  </a:txBody>
                  <a:tcPr marL="68580" marR="68580" marT="0" marB="0"/>
                </a:tc>
                <a:extLst>
                  <a:ext uri="{0D108BD9-81ED-4DB2-BD59-A6C34878D82A}">
                    <a16:rowId xmlns:a16="http://schemas.microsoft.com/office/drawing/2014/main" val="10000"/>
                  </a:ext>
                </a:extLst>
              </a:tr>
              <a:tr h="0">
                <a:tc>
                  <a:txBody>
                    <a:bodyPr/>
                    <a:lstStyle/>
                    <a:p>
                      <a:pPr>
                        <a:lnSpc>
                          <a:spcPct val="150000"/>
                        </a:lnSpc>
                        <a:spcAft>
                          <a:spcPts val="0"/>
                        </a:spcAft>
                      </a:pPr>
                      <a:r>
                        <a:rPr lang="en-US" sz="1600">
                          <a:effectLst/>
                        </a:rPr>
                        <a:t>Archetype</a:t>
                      </a:r>
                      <a:endParaRPr lang="en-US" sz="1400">
                        <a:effectLst/>
                        <a:latin typeface="Times New Roman" charset="0"/>
                        <a:ea typeface="Yu Mincho" charset="-128"/>
                        <a:cs typeface="Times New Roman" charset="0"/>
                      </a:endParaRPr>
                    </a:p>
                  </a:txBody>
                  <a:tcPr marL="68580" marR="68580" marT="0" marB="0"/>
                </a:tc>
                <a:tc>
                  <a:txBody>
                    <a:bodyPr/>
                    <a:lstStyle/>
                    <a:p>
                      <a:pPr>
                        <a:lnSpc>
                          <a:spcPct val="150000"/>
                        </a:lnSpc>
                        <a:spcAft>
                          <a:spcPts val="0"/>
                        </a:spcAft>
                      </a:pPr>
                      <a:r>
                        <a:rPr lang="en-US" sz="1600">
                          <a:effectLst/>
                        </a:rPr>
                        <a:t>dashing hero</a:t>
                      </a:r>
                      <a:endParaRPr lang="en-US" sz="1400">
                        <a:effectLst/>
                        <a:latin typeface="Times New Roman" charset="0"/>
                        <a:ea typeface="Yu Mincho" charset="-128"/>
                        <a:cs typeface="Times New Roman" charset="0"/>
                      </a:endParaRPr>
                    </a:p>
                  </a:txBody>
                  <a:tcPr marL="68580" marR="68580" marT="0" marB="0"/>
                </a:tc>
                <a:extLst>
                  <a:ext uri="{0D108BD9-81ED-4DB2-BD59-A6C34878D82A}">
                    <a16:rowId xmlns:a16="http://schemas.microsoft.com/office/drawing/2014/main" val="10001"/>
                  </a:ext>
                </a:extLst>
              </a:tr>
              <a:tr h="0">
                <a:tc>
                  <a:txBody>
                    <a:bodyPr/>
                    <a:lstStyle/>
                    <a:p>
                      <a:pPr>
                        <a:lnSpc>
                          <a:spcPct val="150000"/>
                        </a:lnSpc>
                        <a:spcAft>
                          <a:spcPts val="0"/>
                        </a:spcAft>
                      </a:pPr>
                      <a:r>
                        <a:rPr lang="en-US" sz="1600">
                          <a:effectLst/>
                        </a:rPr>
                        <a:t>Personality</a:t>
                      </a:r>
                      <a:endParaRPr lang="en-US" sz="1400">
                        <a:effectLst/>
                        <a:latin typeface="Times New Roman" charset="0"/>
                        <a:ea typeface="Yu Mincho" charset="-128"/>
                        <a:cs typeface="Times New Roman" charset="0"/>
                      </a:endParaRPr>
                    </a:p>
                  </a:txBody>
                  <a:tcPr marL="68580" marR="68580" marT="0" marB="0"/>
                </a:tc>
                <a:tc>
                  <a:txBody>
                    <a:bodyPr/>
                    <a:lstStyle/>
                    <a:p>
                      <a:pPr>
                        <a:lnSpc>
                          <a:spcPct val="150000"/>
                        </a:lnSpc>
                        <a:spcAft>
                          <a:spcPts val="0"/>
                        </a:spcAft>
                      </a:pPr>
                      <a:r>
                        <a:rPr lang="en-US" sz="1600">
                          <a:effectLst/>
                        </a:rPr>
                        <a:t>humble, loyal, brave</a:t>
                      </a:r>
                      <a:endParaRPr lang="en-US" sz="1400">
                        <a:effectLst/>
                        <a:latin typeface="Times New Roman" charset="0"/>
                        <a:ea typeface="Yu Mincho" charset="-128"/>
                        <a:cs typeface="Times New Roman" charset="0"/>
                      </a:endParaRPr>
                    </a:p>
                  </a:txBody>
                  <a:tcPr marL="68580" marR="68580" marT="0" marB="0"/>
                </a:tc>
                <a:extLst>
                  <a:ext uri="{0D108BD9-81ED-4DB2-BD59-A6C34878D82A}">
                    <a16:rowId xmlns:a16="http://schemas.microsoft.com/office/drawing/2014/main" val="10002"/>
                  </a:ext>
                </a:extLst>
              </a:tr>
              <a:tr h="0">
                <a:tc>
                  <a:txBody>
                    <a:bodyPr/>
                    <a:lstStyle/>
                    <a:p>
                      <a:pPr>
                        <a:lnSpc>
                          <a:spcPct val="150000"/>
                        </a:lnSpc>
                        <a:spcAft>
                          <a:spcPts val="0"/>
                        </a:spcAft>
                      </a:pPr>
                      <a:r>
                        <a:rPr lang="en-US" sz="1600">
                          <a:effectLst/>
                        </a:rPr>
                        <a:t>Motivations</a:t>
                      </a:r>
                      <a:endParaRPr lang="en-US" sz="1400">
                        <a:effectLst/>
                        <a:latin typeface="Times New Roman" charset="0"/>
                        <a:ea typeface="Yu Mincho" charset="-128"/>
                        <a:cs typeface="Times New Roman" charset="0"/>
                      </a:endParaRPr>
                    </a:p>
                  </a:txBody>
                  <a:tcPr marL="68580" marR="68580" marT="0" marB="0"/>
                </a:tc>
                <a:tc>
                  <a:txBody>
                    <a:bodyPr/>
                    <a:lstStyle/>
                    <a:p>
                      <a:pPr>
                        <a:lnSpc>
                          <a:spcPct val="150000"/>
                        </a:lnSpc>
                        <a:spcAft>
                          <a:spcPts val="0"/>
                        </a:spcAft>
                      </a:pPr>
                      <a:r>
                        <a:rPr lang="en-US" sz="1600">
                          <a:effectLst/>
                        </a:rPr>
                        <a:t>fear, honor, peace</a:t>
                      </a:r>
                      <a:endParaRPr lang="en-US" sz="1400">
                        <a:effectLst/>
                        <a:latin typeface="Times New Roman" charset="0"/>
                        <a:ea typeface="Yu Mincho" charset="-128"/>
                        <a:cs typeface="Times New Roman" charset="0"/>
                      </a:endParaRPr>
                    </a:p>
                  </a:txBody>
                  <a:tcPr marL="68580" marR="68580" marT="0" marB="0"/>
                </a:tc>
                <a:extLst>
                  <a:ext uri="{0D108BD9-81ED-4DB2-BD59-A6C34878D82A}">
                    <a16:rowId xmlns:a16="http://schemas.microsoft.com/office/drawing/2014/main" val="10003"/>
                  </a:ext>
                </a:extLst>
              </a:tr>
              <a:tr h="0">
                <a:tc>
                  <a:txBody>
                    <a:bodyPr/>
                    <a:lstStyle/>
                    <a:p>
                      <a:pPr>
                        <a:lnSpc>
                          <a:spcPct val="150000"/>
                        </a:lnSpc>
                        <a:spcAft>
                          <a:spcPts val="0"/>
                        </a:spcAft>
                      </a:pPr>
                      <a:r>
                        <a:rPr lang="en-US" sz="1600">
                          <a:effectLst/>
                        </a:rPr>
                        <a:t>Goals</a:t>
                      </a:r>
                      <a:endParaRPr lang="en-US" sz="1400">
                        <a:effectLst/>
                        <a:latin typeface="Times New Roman" charset="0"/>
                        <a:ea typeface="Yu Mincho" charset="-128"/>
                        <a:cs typeface="Times New Roman" charset="0"/>
                      </a:endParaRPr>
                    </a:p>
                  </a:txBody>
                  <a:tcPr marL="68580" marR="68580" marT="0" marB="0"/>
                </a:tc>
                <a:tc>
                  <a:txBody>
                    <a:bodyPr/>
                    <a:lstStyle/>
                    <a:p>
                      <a:pPr>
                        <a:lnSpc>
                          <a:spcPct val="150000"/>
                        </a:lnSpc>
                        <a:spcAft>
                          <a:spcPts val="0"/>
                        </a:spcAft>
                      </a:pPr>
                      <a:r>
                        <a:rPr lang="en-US" sz="1600">
                          <a:effectLst/>
                        </a:rPr>
                        <a:t>remove the threat of the White Walkers from the North, incidentally become King of the Iron Throne</a:t>
                      </a:r>
                      <a:endParaRPr lang="en-US" sz="1400">
                        <a:effectLst/>
                        <a:latin typeface="Times New Roman" charset="0"/>
                        <a:ea typeface="Yu Mincho" charset="-128"/>
                        <a:cs typeface="Times New Roman" charset="0"/>
                      </a:endParaRPr>
                    </a:p>
                  </a:txBody>
                  <a:tcPr marL="68580" marR="68580" marT="0" marB="0"/>
                </a:tc>
                <a:extLst>
                  <a:ext uri="{0D108BD9-81ED-4DB2-BD59-A6C34878D82A}">
                    <a16:rowId xmlns:a16="http://schemas.microsoft.com/office/drawing/2014/main" val="10004"/>
                  </a:ext>
                </a:extLst>
              </a:tr>
              <a:tr h="0">
                <a:tc>
                  <a:txBody>
                    <a:bodyPr/>
                    <a:lstStyle/>
                    <a:p>
                      <a:pPr>
                        <a:lnSpc>
                          <a:spcPct val="150000"/>
                        </a:lnSpc>
                        <a:spcAft>
                          <a:spcPts val="0"/>
                        </a:spcAft>
                      </a:pPr>
                      <a:r>
                        <a:rPr lang="en-US" sz="1600">
                          <a:effectLst/>
                        </a:rPr>
                        <a:t>Frustrations</a:t>
                      </a:r>
                      <a:endParaRPr lang="en-US" sz="1400">
                        <a:effectLst/>
                        <a:latin typeface="Times New Roman" charset="0"/>
                        <a:ea typeface="Yu Mincho" charset="-128"/>
                        <a:cs typeface="Times New Roman" charset="0"/>
                      </a:endParaRPr>
                    </a:p>
                  </a:txBody>
                  <a:tcPr marL="68580" marR="68580" marT="0" marB="0"/>
                </a:tc>
                <a:tc>
                  <a:txBody>
                    <a:bodyPr/>
                    <a:lstStyle/>
                    <a:p>
                      <a:pPr>
                        <a:lnSpc>
                          <a:spcPct val="150000"/>
                        </a:lnSpc>
                        <a:spcAft>
                          <a:spcPts val="0"/>
                        </a:spcAft>
                      </a:pPr>
                      <a:r>
                        <a:rPr lang="en-US" sz="1600">
                          <a:effectLst/>
                        </a:rPr>
                        <a:t>he knows nothing, he’s not a true Stark</a:t>
                      </a:r>
                      <a:endParaRPr lang="en-US" sz="1400">
                        <a:effectLst/>
                        <a:latin typeface="Times New Roman" charset="0"/>
                        <a:ea typeface="Yu Mincho" charset="-128"/>
                        <a:cs typeface="Times New Roman" charset="0"/>
                      </a:endParaRPr>
                    </a:p>
                  </a:txBody>
                  <a:tcPr marL="68580" marR="68580" marT="0" marB="0"/>
                </a:tc>
                <a:extLst>
                  <a:ext uri="{0D108BD9-81ED-4DB2-BD59-A6C34878D82A}">
                    <a16:rowId xmlns:a16="http://schemas.microsoft.com/office/drawing/2014/main" val="10005"/>
                  </a:ext>
                </a:extLst>
              </a:tr>
              <a:tr h="0">
                <a:tc>
                  <a:txBody>
                    <a:bodyPr/>
                    <a:lstStyle/>
                    <a:p>
                      <a:pPr>
                        <a:lnSpc>
                          <a:spcPct val="150000"/>
                        </a:lnSpc>
                        <a:spcAft>
                          <a:spcPts val="0"/>
                        </a:spcAft>
                      </a:pPr>
                      <a:r>
                        <a:rPr lang="en-US" sz="1600">
                          <a:effectLst/>
                        </a:rPr>
                        <a:t>Bio</a:t>
                      </a:r>
                      <a:endParaRPr lang="en-US" sz="1400">
                        <a:effectLst/>
                        <a:latin typeface="Times New Roman" charset="0"/>
                        <a:ea typeface="Yu Mincho" charset="-128"/>
                        <a:cs typeface="Times New Roman" charset="0"/>
                      </a:endParaRPr>
                    </a:p>
                  </a:txBody>
                  <a:tcPr marL="68580" marR="68580" marT="0" marB="0"/>
                </a:tc>
                <a:tc>
                  <a:txBody>
                    <a:bodyPr/>
                    <a:lstStyle/>
                    <a:p>
                      <a:pPr>
                        <a:lnSpc>
                          <a:spcPct val="150000"/>
                        </a:lnSpc>
                        <a:spcAft>
                          <a:spcPts val="0"/>
                        </a:spcAft>
                      </a:pPr>
                      <a:r>
                        <a:rPr lang="en-US" sz="1600" dirty="0">
                          <a:effectLst/>
                        </a:rPr>
                        <a:t>Jon has a clear moral compass and a true sense of honor, having learned from a series of difficult life events.  He has a legitimate claim to the Iron Throne and is a great leader. He is also one of the only people to take the White Walker threat seriously.</a:t>
                      </a:r>
                      <a:endParaRPr lang="en-US" sz="1400" dirty="0">
                        <a:effectLst/>
                        <a:latin typeface="Times New Roman" charset="0"/>
                        <a:ea typeface="Yu Mincho" charset="-128"/>
                        <a:cs typeface="Times New Roman"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32972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2. User stories</a:t>
            </a:r>
            <a:endParaRPr lang="en-US" dirty="0"/>
          </a:p>
        </p:txBody>
      </p:sp>
      <p:sp>
        <p:nvSpPr>
          <p:cNvPr id="3" name="Content Placeholder 2"/>
          <p:cNvSpPr>
            <a:spLocks noGrp="1"/>
          </p:cNvSpPr>
          <p:nvPr>
            <p:ph idx="1"/>
          </p:nvPr>
        </p:nvSpPr>
        <p:spPr/>
        <p:txBody>
          <a:bodyPr>
            <a:normAutofit fontScale="92500" lnSpcReduction="10000"/>
          </a:bodyPr>
          <a:lstStyle/>
          <a:p>
            <a:r>
              <a:rPr lang="en-US" dirty="0"/>
              <a:t>Usually one user story per user persona. There are often multiple user personas – it’s a good thing that user stories are brief! </a:t>
            </a:r>
          </a:p>
          <a:p>
            <a:r>
              <a:rPr lang="en-US" dirty="0"/>
              <a:t>It’s super simple to write a user story. Code squeeze has it down pat:</a:t>
            </a:r>
          </a:p>
          <a:p>
            <a:pPr lvl="1"/>
            <a:r>
              <a:rPr lang="en-US" i="1" dirty="0"/>
              <a:t>“As a [role], I want [feature] because [reason].”</a:t>
            </a:r>
            <a:endParaRPr lang="en-US" dirty="0"/>
          </a:p>
          <a:p>
            <a:r>
              <a:rPr lang="en-US" dirty="0"/>
              <a:t>Example:</a:t>
            </a:r>
          </a:p>
          <a:p>
            <a:pPr lvl="1"/>
            <a:r>
              <a:rPr lang="en-US" i="1" dirty="0"/>
              <a:t>“As UX Manager, John wants centralized assets management so that his designers are in sync.”</a:t>
            </a:r>
            <a:endParaRPr lang="en-US" dirty="0"/>
          </a:p>
          <a:p>
            <a:pPr lvl="1"/>
            <a:r>
              <a:rPr lang="en-US" i="1" dirty="0"/>
              <a:t>“As a UX Manager, John oversees all the design projects, including assets creation and prototyping efforts, at the design consultancy where he works. He needs easy access to a design tool that allows him to centralize UI libraries so that multiple designers to work simultaneously on a prototype.”</a:t>
            </a:r>
            <a:r>
              <a:rPr lang="en-US" dirty="0"/>
              <a:t> </a:t>
            </a:r>
          </a:p>
        </p:txBody>
      </p:sp>
    </p:spTree>
    <p:extLst>
      <p:ext uri="{BB962C8B-B14F-4D97-AF65-F5344CB8AC3E}">
        <p14:creationId xmlns:p14="http://schemas.microsoft.com/office/powerpoint/2010/main" val="763555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3. Empathy map</a:t>
            </a:r>
            <a:endParaRPr lang="en-US" dirty="0"/>
          </a:p>
        </p:txBody>
      </p:sp>
      <p:pic>
        <p:nvPicPr>
          <p:cNvPr id="4" name="Content Placeholder 3"/>
          <p:cNvPicPr>
            <a:picLocks noGrp="1"/>
          </p:cNvPicPr>
          <p:nvPr>
            <p:ph idx="1"/>
          </p:nvPr>
        </p:nvPicPr>
        <p:blipFill rotWithShape="1">
          <a:blip r:embed="rId3"/>
          <a:srcRect l="3880" t="3326" r="2988" b="8869"/>
          <a:stretch/>
        </p:blipFill>
        <p:spPr bwMode="auto">
          <a:xfrm>
            <a:off x="2751237" y="1446213"/>
            <a:ext cx="4114754" cy="45259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05211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3. Empathy map</a:t>
            </a:r>
            <a:endParaRPr lang="en-US" dirty="0"/>
          </a:p>
        </p:txBody>
      </p:sp>
      <p:pic>
        <p:nvPicPr>
          <p:cNvPr id="5" name="Picture 4"/>
          <p:cNvPicPr/>
          <p:nvPr/>
        </p:nvPicPr>
        <p:blipFill rotWithShape="1">
          <a:blip r:embed="rId3"/>
          <a:srcRect l="1" r="1853" b="6617"/>
          <a:stretch/>
        </p:blipFill>
        <p:spPr bwMode="auto">
          <a:xfrm>
            <a:off x="2289845" y="1236291"/>
            <a:ext cx="4896544" cy="52565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92292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t>4. User flows</a:t>
            </a:r>
            <a:endParaRPr lang="en-US" dirty="0"/>
          </a:p>
        </p:txBody>
      </p:sp>
      <p:sp>
        <p:nvSpPr>
          <p:cNvPr id="3" name="Content Placeholder 2"/>
          <p:cNvSpPr>
            <a:spLocks noGrp="1"/>
          </p:cNvSpPr>
          <p:nvPr>
            <p:ph idx="1"/>
          </p:nvPr>
        </p:nvSpPr>
        <p:spPr/>
        <p:txBody>
          <a:bodyPr/>
          <a:lstStyle/>
          <a:p>
            <a:r>
              <a:rPr lang="en-US" dirty="0"/>
              <a:t>User flows tend to show a specific persona’s pathway through the design at hand. </a:t>
            </a:r>
          </a:p>
          <a:p>
            <a:r>
              <a:rPr lang="en-US" dirty="0"/>
              <a:t>A set or series of task flows can be embedded within user flows, but unlike task flows, user flows include decision points wherein the persona’s journey to the desired goal can differ, based on decisions the persona need to make in interacting with the design.</a:t>
            </a:r>
          </a:p>
          <a:p>
            <a:endParaRPr lang="en-US" dirty="0"/>
          </a:p>
        </p:txBody>
      </p:sp>
    </p:spTree>
    <p:extLst>
      <p:ext uri="{BB962C8B-B14F-4D97-AF65-F5344CB8AC3E}">
        <p14:creationId xmlns:p14="http://schemas.microsoft.com/office/powerpoint/2010/main" val="113855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t>4. User flows</a:t>
            </a:r>
            <a:endParaRPr lang="en-US" dirty="0"/>
          </a:p>
        </p:txBody>
      </p:sp>
      <p:pic>
        <p:nvPicPr>
          <p:cNvPr id="4" name="Content Placeholder 3" descr="mage for post"/>
          <p:cNvPicPr>
            <a:picLocks noGrp="1"/>
          </p:cNvPicPr>
          <p:nvPr>
            <p:ph idx="1"/>
          </p:nvPr>
        </p:nvPicPr>
        <p:blipFill rotWithShape="1">
          <a:blip r:embed="rId3">
            <a:extLst>
              <a:ext uri="{28A0092B-C50C-407E-A947-70E740481C1C}">
                <a14:useLocalDpi xmlns:a14="http://schemas.microsoft.com/office/drawing/2010/main" val="0"/>
              </a:ext>
            </a:extLst>
          </a:blip>
          <a:srcRect l="4501" t="39429" r="12376" b="-1379"/>
          <a:stretch/>
        </p:blipFill>
        <p:spPr bwMode="auto">
          <a:xfrm>
            <a:off x="827584" y="1700808"/>
            <a:ext cx="7272808" cy="396044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46271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5. User scenarios</a:t>
            </a:r>
            <a:endParaRPr lang="en-US" dirty="0"/>
          </a:p>
        </p:txBody>
      </p:sp>
      <p:sp>
        <p:nvSpPr>
          <p:cNvPr id="3" name="Content Placeholder 2"/>
          <p:cNvSpPr>
            <a:spLocks noGrp="1"/>
          </p:cNvSpPr>
          <p:nvPr>
            <p:ph idx="1"/>
          </p:nvPr>
        </p:nvSpPr>
        <p:spPr/>
        <p:txBody>
          <a:bodyPr/>
          <a:lstStyle/>
          <a:p>
            <a:r>
              <a:rPr lang="en-US" dirty="0"/>
              <a:t>A scenario is a situation that captures how users perform tasks on your site or app. </a:t>
            </a:r>
          </a:p>
          <a:p>
            <a:r>
              <a:rPr lang="en-US" dirty="0"/>
              <a:t>Scenarios describe the user’s motivations for being onsite (their task or goal) and/or a question they need answered, and suggest possible ways to accomplish these objectives.</a:t>
            </a:r>
          </a:p>
          <a:p>
            <a:r>
              <a:rPr lang="en-US" dirty="0"/>
              <a:t>It is essentially a development of the user story, and can relate to multiple target users. However, scenarios can also be broken down into use cases that describe the flow of tasks that any one user takes in a given functionality or path.</a:t>
            </a:r>
          </a:p>
        </p:txBody>
      </p:sp>
    </p:spTree>
    <p:extLst>
      <p:ext uri="{BB962C8B-B14F-4D97-AF65-F5344CB8AC3E}">
        <p14:creationId xmlns:p14="http://schemas.microsoft.com/office/powerpoint/2010/main" val="195622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5. User scenarios</a:t>
            </a:r>
            <a:endParaRPr lang="en-US" dirty="0"/>
          </a:p>
        </p:txBody>
      </p:sp>
      <p:sp>
        <p:nvSpPr>
          <p:cNvPr id="3" name="Content Placeholder 2"/>
          <p:cNvSpPr>
            <a:spLocks noGrp="1"/>
          </p:cNvSpPr>
          <p:nvPr>
            <p:ph idx="1"/>
          </p:nvPr>
        </p:nvSpPr>
        <p:spPr/>
        <p:txBody>
          <a:bodyPr>
            <a:normAutofit lnSpcReduction="10000"/>
          </a:bodyPr>
          <a:lstStyle/>
          <a:p>
            <a:r>
              <a:rPr lang="en-US" dirty="0">
                <a:solidFill>
                  <a:srgbClr val="FF0000"/>
                </a:solidFill>
              </a:rPr>
              <a:t>Mr. and Mrs. Macomb are retired schoolteachers who are now in their 70s</a:t>
            </a:r>
            <a:r>
              <a:rPr lang="en-US">
                <a:solidFill>
                  <a:srgbClr val="FF0000"/>
                </a:solidFill>
              </a:rPr>
              <a:t>. </a:t>
            </a:r>
          </a:p>
          <a:p>
            <a:r>
              <a:rPr lang="en-US">
                <a:solidFill>
                  <a:srgbClr val="FF0000"/>
                </a:solidFill>
              </a:rPr>
              <a:t>Their </a:t>
            </a:r>
            <a:r>
              <a:rPr lang="en-US" dirty="0">
                <a:solidFill>
                  <a:srgbClr val="FF0000"/>
                </a:solidFill>
              </a:rPr>
              <a:t>Social Security checks are an important part of their </a:t>
            </a:r>
            <a:r>
              <a:rPr lang="en-US">
                <a:solidFill>
                  <a:srgbClr val="FF0000"/>
                </a:solidFill>
              </a:rPr>
              <a:t>income.</a:t>
            </a:r>
          </a:p>
          <a:p>
            <a:r>
              <a:rPr lang="en-US">
                <a:solidFill>
                  <a:srgbClr val="FF0000"/>
                </a:solidFill>
              </a:rPr>
              <a:t>They've </a:t>
            </a:r>
            <a:r>
              <a:rPr lang="en-US" dirty="0">
                <a:solidFill>
                  <a:srgbClr val="FF0000"/>
                </a:solidFill>
              </a:rPr>
              <a:t>just sold their big house and moved to a small </a:t>
            </a:r>
            <a:r>
              <a:rPr lang="en-US">
                <a:solidFill>
                  <a:srgbClr val="FF0000"/>
                </a:solidFill>
              </a:rPr>
              <a:t>apartment.</a:t>
            </a:r>
          </a:p>
          <a:p>
            <a:r>
              <a:rPr lang="en-US">
                <a:solidFill>
                  <a:srgbClr val="FF0000"/>
                </a:solidFill>
              </a:rPr>
              <a:t>They </a:t>
            </a:r>
            <a:r>
              <a:rPr lang="en-US" dirty="0">
                <a:solidFill>
                  <a:srgbClr val="FF0000"/>
                </a:solidFill>
              </a:rPr>
              <a:t>know that one of the many chores they need to do now is tell the Social Security Administration that they have moved</a:t>
            </a:r>
            <a:r>
              <a:rPr lang="en-US">
                <a:solidFill>
                  <a:srgbClr val="FF0000"/>
                </a:solidFill>
              </a:rPr>
              <a:t>. </a:t>
            </a:r>
          </a:p>
          <a:p>
            <a:r>
              <a:rPr lang="en-US">
                <a:solidFill>
                  <a:srgbClr val="FF0000"/>
                </a:solidFill>
              </a:rPr>
              <a:t>They </a:t>
            </a:r>
            <a:r>
              <a:rPr lang="en-US" dirty="0">
                <a:solidFill>
                  <a:srgbClr val="FF0000"/>
                </a:solidFill>
              </a:rPr>
              <a:t>don't know where the nearest Social Security office is and it's getting harder for them to do a lot of walking or driving</a:t>
            </a:r>
            <a:r>
              <a:rPr lang="en-US">
                <a:solidFill>
                  <a:srgbClr val="FF0000"/>
                </a:solidFill>
              </a:rPr>
              <a:t>. </a:t>
            </a:r>
          </a:p>
        </p:txBody>
      </p:sp>
    </p:spTree>
    <p:extLst>
      <p:ext uri="{BB962C8B-B14F-4D97-AF65-F5344CB8AC3E}">
        <p14:creationId xmlns:p14="http://schemas.microsoft.com/office/powerpoint/2010/main" val="595712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5. User scenarios</a:t>
            </a:r>
            <a:endParaRPr lang="en-US" dirty="0"/>
          </a:p>
        </p:txBody>
      </p:sp>
      <p:sp>
        <p:nvSpPr>
          <p:cNvPr id="3" name="Content Placeholder 2"/>
          <p:cNvSpPr>
            <a:spLocks noGrp="1"/>
          </p:cNvSpPr>
          <p:nvPr>
            <p:ph idx="1"/>
          </p:nvPr>
        </p:nvSpPr>
        <p:spPr/>
        <p:txBody>
          <a:bodyPr>
            <a:normAutofit fontScale="92500" lnSpcReduction="10000"/>
          </a:bodyPr>
          <a:lstStyle/>
          <a:p>
            <a:r>
              <a:rPr lang="en-US">
                <a:solidFill>
                  <a:srgbClr val="FF0000"/>
                </a:solidFill>
              </a:rPr>
              <a:t>If </a:t>
            </a:r>
            <a:r>
              <a:rPr lang="en-US" dirty="0">
                <a:solidFill>
                  <a:srgbClr val="FF0000"/>
                </a:solidFill>
              </a:rPr>
              <a:t>it is easy and safe enough, they would like to use the computer to notify the Social Security Administration of their move</a:t>
            </a:r>
            <a:r>
              <a:rPr lang="en-US">
                <a:solidFill>
                  <a:srgbClr val="FF0000"/>
                </a:solidFill>
              </a:rPr>
              <a:t>. </a:t>
            </a:r>
          </a:p>
          <a:p>
            <a:r>
              <a:rPr lang="en-US">
                <a:solidFill>
                  <a:srgbClr val="FF0000"/>
                </a:solidFill>
              </a:rPr>
              <a:t>However</a:t>
            </a:r>
            <a:r>
              <a:rPr lang="en-US" dirty="0">
                <a:solidFill>
                  <a:srgbClr val="FF0000"/>
                </a:solidFill>
              </a:rPr>
              <a:t>, they are somewhat nervous about doing a task like this by computer</a:t>
            </a:r>
            <a:r>
              <a:rPr lang="en-US">
                <a:solidFill>
                  <a:srgbClr val="FF0000"/>
                </a:solidFill>
              </a:rPr>
              <a:t>. </a:t>
            </a:r>
          </a:p>
          <a:p>
            <a:r>
              <a:rPr lang="en-US">
                <a:solidFill>
                  <a:srgbClr val="FF0000"/>
                </a:solidFill>
              </a:rPr>
              <a:t>They </a:t>
            </a:r>
            <a:r>
              <a:rPr lang="en-US" dirty="0">
                <a:solidFill>
                  <a:srgbClr val="FF0000"/>
                </a:solidFill>
              </a:rPr>
              <a:t>never used computers in their jobs. However, their son, Steve, gave them a computer last year, set it up for them, and showed them how to use email and go to websites</a:t>
            </a:r>
            <a:r>
              <a:rPr lang="en-US">
                <a:solidFill>
                  <a:srgbClr val="FF0000"/>
                </a:solidFill>
              </a:rPr>
              <a:t>. </a:t>
            </a:r>
          </a:p>
          <a:p>
            <a:r>
              <a:rPr lang="en-US">
                <a:solidFill>
                  <a:srgbClr val="FF0000"/>
                </a:solidFill>
              </a:rPr>
              <a:t>They </a:t>
            </a:r>
            <a:r>
              <a:rPr lang="en-US" dirty="0">
                <a:solidFill>
                  <a:srgbClr val="FF0000"/>
                </a:solidFill>
              </a:rPr>
              <a:t>have never been to the Social Security Administration's website, so they don't know how it is organized. Also, they are reluctant to give out personal information online, so they want to know how safe it is to tell the agency about their new address this way.</a:t>
            </a:r>
          </a:p>
        </p:txBody>
      </p:sp>
    </p:spTree>
    <p:extLst>
      <p:ext uri="{BB962C8B-B14F-4D97-AF65-F5344CB8AC3E}">
        <p14:creationId xmlns:p14="http://schemas.microsoft.com/office/powerpoint/2010/main" val="405223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t>6. Sitemap</a:t>
            </a:r>
            <a:endParaRPr lang="en-US" dirty="0"/>
          </a:p>
        </p:txBody>
      </p:sp>
      <p:sp>
        <p:nvSpPr>
          <p:cNvPr id="3" name="Content Placeholder 2"/>
          <p:cNvSpPr>
            <a:spLocks noGrp="1"/>
          </p:cNvSpPr>
          <p:nvPr>
            <p:ph idx="1"/>
          </p:nvPr>
        </p:nvSpPr>
        <p:spPr/>
        <p:txBody>
          <a:bodyPr>
            <a:normAutofit fontScale="92500"/>
          </a:bodyPr>
          <a:lstStyle/>
          <a:p>
            <a:r>
              <a:rPr lang="en-US" dirty="0"/>
              <a:t>A sitemap contains all documents—in other words, webpages—of a website, and presents them hierarchically.</a:t>
            </a:r>
          </a:p>
          <a:p>
            <a:r>
              <a:rPr lang="en-US" dirty="0"/>
              <a:t>The structure of the entire web presence is duplicated in this overview. </a:t>
            </a:r>
          </a:p>
          <a:p>
            <a:r>
              <a:rPr lang="en-US" dirty="0"/>
              <a:t>To understand it, you should briefly familiarize yourself with the set-up of a website: a basic website is comprised of individual HTML documents, which are stored in various folders and interconnected via hyperlinks. </a:t>
            </a:r>
          </a:p>
          <a:p>
            <a:r>
              <a:rPr lang="en-US" dirty="0"/>
              <a:t>All of them together are found on the </a:t>
            </a:r>
            <a:r>
              <a:rPr lang="en-US" dirty="0" err="1"/>
              <a:t>webspace</a:t>
            </a:r>
            <a:r>
              <a:rPr lang="en-US" dirty="0"/>
              <a:t>. In the sitemap, pages are recorded along with corresponding URLs.</a:t>
            </a:r>
          </a:p>
        </p:txBody>
      </p:sp>
    </p:spTree>
    <p:extLst>
      <p:ext uri="{BB962C8B-B14F-4D97-AF65-F5344CB8AC3E}">
        <p14:creationId xmlns:p14="http://schemas.microsoft.com/office/powerpoint/2010/main" val="1648802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t>6. Sitemap</a:t>
            </a:r>
            <a:endParaRPr lang="en-US" dirty="0"/>
          </a:p>
        </p:txBody>
      </p:sp>
      <p:sp>
        <p:nvSpPr>
          <p:cNvPr id="3" name="Content Placeholder 2"/>
          <p:cNvSpPr>
            <a:spLocks noGrp="1"/>
          </p:cNvSpPr>
          <p:nvPr>
            <p:ph idx="1"/>
          </p:nvPr>
        </p:nvSpPr>
        <p:spPr/>
        <p:txBody>
          <a:bodyPr>
            <a:normAutofit lnSpcReduction="10000"/>
          </a:bodyPr>
          <a:lstStyle/>
          <a:p>
            <a:r>
              <a:rPr lang="en-US" dirty="0"/>
              <a:t>In the early days of the World Wide Web, the sitemap was principally created to make users’ website navigation easier. </a:t>
            </a:r>
          </a:p>
          <a:p>
            <a:r>
              <a:rPr lang="en-US" dirty="0"/>
              <a:t>Often inserted as a frame in addition to the main content, sitemap documents gave visitors the opportunity to move from one site to another at any time, without having to click through individual hyperlinks one after the other. </a:t>
            </a:r>
          </a:p>
          <a:p>
            <a:r>
              <a:rPr lang="en-US" dirty="0"/>
              <a:t>Nowadays, the navigation process is usually solved much more elegantly, but the sitemap is still justified. For one thing, having this additional navigation tool can </a:t>
            </a:r>
            <a:r>
              <a:rPr lang="en-US" b="1" dirty="0"/>
              <a:t>increase user-friendliness</a:t>
            </a:r>
            <a:r>
              <a:rPr lang="en-US" dirty="0"/>
              <a:t>, and for another, search engines make use of these files.</a:t>
            </a:r>
          </a:p>
        </p:txBody>
      </p:sp>
    </p:spTree>
    <p:extLst>
      <p:ext uri="{BB962C8B-B14F-4D97-AF65-F5344CB8AC3E}">
        <p14:creationId xmlns:p14="http://schemas.microsoft.com/office/powerpoint/2010/main" val="965517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t>6. Sitemap</a:t>
            </a:r>
            <a:endParaRPr lang="en-US" dirty="0"/>
          </a:p>
        </p:txBody>
      </p:sp>
      <p:pic>
        <p:nvPicPr>
          <p:cNvPr id="4" name="Content Placeholder 3" descr="ách tạo sitemap cho tất cả các website | Black Diamond"/>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99979" y="1600200"/>
            <a:ext cx="5944041" cy="4525963"/>
          </a:xfrm>
          <a:prstGeom prst="rect">
            <a:avLst/>
          </a:prstGeom>
          <a:noFill/>
          <a:ln>
            <a:noFill/>
          </a:ln>
        </p:spPr>
      </p:pic>
    </p:spTree>
    <p:extLst>
      <p:ext uri="{BB962C8B-B14F-4D97-AF65-F5344CB8AC3E}">
        <p14:creationId xmlns:p14="http://schemas.microsoft.com/office/powerpoint/2010/main" val="1033254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7. Wireframe</a:t>
            </a:r>
            <a:endParaRPr lang="en-US" dirty="0"/>
          </a:p>
        </p:txBody>
      </p:sp>
      <p:sp>
        <p:nvSpPr>
          <p:cNvPr id="3" name="Content Placeholder 2"/>
          <p:cNvSpPr>
            <a:spLocks noGrp="1"/>
          </p:cNvSpPr>
          <p:nvPr>
            <p:ph idx="1"/>
          </p:nvPr>
        </p:nvSpPr>
        <p:spPr/>
        <p:txBody>
          <a:bodyPr>
            <a:normAutofit/>
          </a:bodyPr>
          <a:lstStyle/>
          <a:p>
            <a:r>
              <a:rPr lang="en-US" dirty="0"/>
              <a:t>The process of creating a digital product is similar to the process of building a house. When we think about building a home, we usually mean the process of construction. And the first step of creating this appearance is creating blueprints — outlines of areas that give those involved in building a clear vision of the project structure.</a:t>
            </a:r>
          </a:p>
          <a:p>
            <a:r>
              <a:rPr lang="en-US" dirty="0"/>
              <a:t>A wireframe is like an architectural blueprint in the design process. It serves as a reference point for functional specifications and gives the product team a basis to begin creating screens. </a:t>
            </a:r>
            <a:r>
              <a:rPr lang="en-US" dirty="0" err="1"/>
              <a:t>Wireframing</a:t>
            </a:r>
            <a:r>
              <a:rPr lang="en-US" dirty="0"/>
              <a:t> is a step that should not be skipped.</a:t>
            </a:r>
          </a:p>
          <a:p>
            <a:endParaRPr lang="en-US" dirty="0"/>
          </a:p>
        </p:txBody>
      </p:sp>
    </p:spTree>
    <p:extLst>
      <p:ext uri="{BB962C8B-B14F-4D97-AF65-F5344CB8AC3E}">
        <p14:creationId xmlns:p14="http://schemas.microsoft.com/office/powerpoint/2010/main" val="65581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7. Wireframe</a:t>
            </a:r>
            <a:endParaRPr lang="en-US" dirty="0"/>
          </a:p>
        </p:txBody>
      </p:sp>
      <p:sp>
        <p:nvSpPr>
          <p:cNvPr id="3" name="Content Placeholder 2"/>
          <p:cNvSpPr>
            <a:spLocks noGrp="1"/>
          </p:cNvSpPr>
          <p:nvPr>
            <p:ph idx="1"/>
          </p:nvPr>
        </p:nvSpPr>
        <p:spPr/>
        <p:txBody>
          <a:bodyPr/>
          <a:lstStyle/>
          <a:p>
            <a:r>
              <a:rPr lang="en-US" dirty="0"/>
              <a:t>The products are distributed in an easy-to-scan grid. Each item in the grid contains essential information about the product — product image, name, and price.</a:t>
            </a:r>
          </a:p>
        </p:txBody>
      </p:sp>
      <p:pic>
        <p:nvPicPr>
          <p:cNvPr id="4" name="Picture 3" descr="mage for post"/>
          <p:cNvPicPr/>
          <p:nvPr/>
        </p:nvPicPr>
        <p:blipFill rotWithShape="1">
          <a:blip r:embed="rId3" cstate="print">
            <a:extLst>
              <a:ext uri="{28A0092B-C50C-407E-A947-70E740481C1C}">
                <a14:useLocalDpi xmlns:a14="http://schemas.microsoft.com/office/drawing/2010/main" val="0"/>
              </a:ext>
            </a:extLst>
          </a:blip>
          <a:srcRect l="7648" t="10672" r="2490" b="12853"/>
          <a:stretch/>
        </p:blipFill>
        <p:spPr bwMode="auto">
          <a:xfrm>
            <a:off x="4139952" y="3038947"/>
            <a:ext cx="3384377" cy="3096344"/>
          </a:xfrm>
          <a:prstGeom prst="rect">
            <a:avLst/>
          </a:prstGeom>
          <a:noFill/>
          <a:ln>
            <a:noFill/>
          </a:ln>
        </p:spPr>
      </p:pic>
    </p:spTree>
    <p:extLst>
      <p:ext uri="{BB962C8B-B14F-4D97-AF65-F5344CB8AC3E}">
        <p14:creationId xmlns:p14="http://schemas.microsoft.com/office/powerpoint/2010/main" val="1792237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t>8. Storyboard</a:t>
            </a:r>
            <a:endParaRPr lang="en-US" dirty="0"/>
          </a:p>
        </p:txBody>
      </p:sp>
      <p:sp>
        <p:nvSpPr>
          <p:cNvPr id="3" name="Content Placeholder 2"/>
          <p:cNvSpPr>
            <a:spLocks noGrp="1"/>
          </p:cNvSpPr>
          <p:nvPr>
            <p:ph idx="1"/>
          </p:nvPr>
        </p:nvSpPr>
        <p:spPr/>
        <p:txBody>
          <a:bodyPr/>
          <a:lstStyle/>
          <a:p>
            <a:r>
              <a:rPr lang="en-US" dirty="0"/>
              <a:t>A storyboard is a visual tool for exploring how an example user experiences a product. In a storyboard, a designer visually displays the process that a user may undergo in order to accomplish a goal. The process is called a user journey. </a:t>
            </a:r>
          </a:p>
          <a:p>
            <a:r>
              <a:rPr lang="en-US" dirty="0"/>
              <a:t>Storyboards and user journeys help product designers, engineers, and managers understand how users may interact with their products which, in turn, helps designers create more human-centered products.</a:t>
            </a:r>
          </a:p>
          <a:p>
            <a:endParaRPr lang="en-US" dirty="0"/>
          </a:p>
        </p:txBody>
      </p:sp>
    </p:spTree>
    <p:extLst>
      <p:ext uri="{BB962C8B-B14F-4D97-AF65-F5344CB8AC3E}">
        <p14:creationId xmlns:p14="http://schemas.microsoft.com/office/powerpoint/2010/main" val="418461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t>8. Storyboard</a:t>
            </a:r>
            <a:endParaRPr lang="en-US" dirty="0"/>
          </a:p>
        </p:txBody>
      </p:sp>
      <p:pic>
        <p:nvPicPr>
          <p:cNvPr id="4" name="Content Placeholder 3" descr="ser Journey, Scenarios, Storyboards and Flows — Understanding Your Users…  | by Rohan"/>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05939" y="1600200"/>
            <a:ext cx="7132121" cy="4525963"/>
          </a:xfrm>
          <a:prstGeom prst="rect">
            <a:avLst/>
          </a:prstGeom>
          <a:noFill/>
          <a:ln>
            <a:noFill/>
          </a:ln>
        </p:spPr>
      </p:pic>
    </p:spTree>
    <p:extLst>
      <p:ext uri="{BB962C8B-B14F-4D97-AF65-F5344CB8AC3E}">
        <p14:creationId xmlns:p14="http://schemas.microsoft.com/office/powerpoint/2010/main" val="2048263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9. User journey scenarios</a:t>
            </a:r>
            <a:endParaRPr lang="en-US" dirty="0"/>
          </a:p>
        </p:txBody>
      </p:sp>
      <p:sp>
        <p:nvSpPr>
          <p:cNvPr id="3" name="Content Placeholder 2"/>
          <p:cNvSpPr>
            <a:spLocks noGrp="1"/>
          </p:cNvSpPr>
          <p:nvPr>
            <p:ph idx="1"/>
          </p:nvPr>
        </p:nvSpPr>
        <p:spPr/>
        <p:txBody>
          <a:bodyPr>
            <a:normAutofit fontScale="85000" lnSpcReduction="20000"/>
          </a:bodyPr>
          <a:lstStyle/>
          <a:p>
            <a:r>
              <a:rPr lang="en-US" dirty="0"/>
              <a:t>Jumping right into sketching interfaces or </a:t>
            </a:r>
            <a:r>
              <a:rPr lang="en-US" dirty="0" err="1"/>
              <a:t>wireframing</a:t>
            </a:r>
            <a:r>
              <a:rPr lang="en-US" dirty="0"/>
              <a:t> means that you’d miss an opportunity to find delightful experiences, delightful features that will help users accomplish their tasks easily. </a:t>
            </a:r>
          </a:p>
          <a:p>
            <a:r>
              <a:rPr lang="en-US" dirty="0"/>
              <a:t>Mapping out the user journey will help you define the customer experience of your design from start to end. </a:t>
            </a:r>
          </a:p>
          <a:p>
            <a:r>
              <a:rPr lang="en-US" i="1" dirty="0"/>
              <a:t>A user journey could be defined as a map of the actions and emotions that your user experiences while using your designs from start to finish.</a:t>
            </a:r>
            <a:r>
              <a:rPr lang="en-US" dirty="0"/>
              <a:t> </a:t>
            </a:r>
          </a:p>
          <a:p>
            <a:r>
              <a:rPr lang="en-US" dirty="0"/>
              <a:t>User journeys come under many names, such as Customer Journey, Journey Map, Experience Map; everyone has a different name for it. </a:t>
            </a:r>
          </a:p>
          <a:p>
            <a:r>
              <a:rPr lang="en-US" i="1" dirty="0"/>
              <a:t>User Journeys define the motivations for using your app, they define the problems that your app solves for the user, they define the different phases of your app, and they define the experience from start to finish, as well as emotions and feelings that the user may have along the way.</a:t>
            </a:r>
            <a:endParaRPr lang="en-US" dirty="0"/>
          </a:p>
          <a:p>
            <a:endParaRPr lang="en-US" dirty="0"/>
          </a:p>
        </p:txBody>
      </p:sp>
    </p:spTree>
    <p:extLst>
      <p:ext uri="{BB962C8B-B14F-4D97-AF65-F5344CB8AC3E}">
        <p14:creationId xmlns:p14="http://schemas.microsoft.com/office/powerpoint/2010/main" val="229264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9. User journey scenarios</a:t>
            </a:r>
            <a:endParaRPr lang="en-US" dirty="0"/>
          </a:p>
        </p:txBody>
      </p:sp>
      <p:sp>
        <p:nvSpPr>
          <p:cNvPr id="3" name="Content Placeholder 2"/>
          <p:cNvSpPr>
            <a:spLocks noGrp="1"/>
          </p:cNvSpPr>
          <p:nvPr>
            <p:ph idx="1"/>
          </p:nvPr>
        </p:nvSpPr>
        <p:spPr/>
        <p:txBody>
          <a:bodyPr>
            <a:normAutofit/>
          </a:bodyPr>
          <a:lstStyle/>
          <a:p>
            <a:r>
              <a:rPr lang="en-US" b="1" dirty="0"/>
              <a:t>A Journey Map </a:t>
            </a:r>
            <a:r>
              <a:rPr lang="en-US" dirty="0"/>
              <a:t>will help you plot out your Journey. You’ll see the different stages, and along each way for each state, you can specify the user goals, as well as details and perhaps something about the environment, and maybe what’s going through the user’s mind along the way, as well as their emotions.</a:t>
            </a:r>
          </a:p>
          <a:p>
            <a:r>
              <a:rPr lang="en-US" dirty="0"/>
              <a:t>If any ideas come to you as you’re mapping this out, feel free to write them. Just make this as realistic as possible.</a:t>
            </a:r>
          </a:p>
          <a:p>
            <a:endParaRPr lang="en-US" dirty="0"/>
          </a:p>
        </p:txBody>
      </p:sp>
    </p:spTree>
    <p:extLst>
      <p:ext uri="{BB962C8B-B14F-4D97-AF65-F5344CB8AC3E}">
        <p14:creationId xmlns:p14="http://schemas.microsoft.com/office/powerpoint/2010/main" val="1385187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9. User journey scenarios</a:t>
            </a:r>
            <a:endParaRPr lang="en-US" dirty="0"/>
          </a:p>
        </p:txBody>
      </p:sp>
      <p:pic>
        <p:nvPicPr>
          <p:cNvPr id="4" name="Content Placeholder 3" descr="ustomer Journey Maps - Walking a Mile in Your Customer's Shoes |  I"/>
          <p:cNvPicPr>
            <a:picLocks noGrp="1"/>
          </p:cNvPicPr>
          <p:nvPr>
            <p:ph idx="1"/>
          </p:nvPr>
        </p:nvPicPr>
        <p:blipFill rotWithShape="1">
          <a:blip r:embed="rId3">
            <a:extLst>
              <a:ext uri="{28A0092B-C50C-407E-A947-70E740481C1C}">
                <a14:useLocalDpi xmlns:a14="http://schemas.microsoft.com/office/drawing/2010/main" val="0"/>
              </a:ext>
            </a:extLst>
          </a:blip>
          <a:srcRect l="16912" t="859" r="16585" b="433"/>
          <a:stretch/>
        </p:blipFill>
        <p:spPr bwMode="auto">
          <a:xfrm>
            <a:off x="559766" y="1600200"/>
            <a:ext cx="8024468" cy="452596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6796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9. User journey scenarios</a:t>
            </a:r>
            <a:endParaRPr lang="en-US" dirty="0"/>
          </a:p>
        </p:txBody>
      </p:sp>
      <p:pic>
        <p:nvPicPr>
          <p:cNvPr id="5" name="Picture 4" descr="mage for post"/>
          <p:cNvPicPr/>
          <p:nvPr/>
        </p:nvPicPr>
        <p:blipFill>
          <a:blip r:embed="rId3">
            <a:extLst>
              <a:ext uri="{28A0092B-C50C-407E-A947-70E740481C1C}">
                <a14:useLocalDpi xmlns:a14="http://schemas.microsoft.com/office/drawing/2010/main" val="0"/>
              </a:ext>
            </a:extLst>
          </a:blip>
          <a:srcRect/>
          <a:stretch>
            <a:fillRect/>
          </a:stretch>
        </p:blipFill>
        <p:spPr bwMode="auto">
          <a:xfrm>
            <a:off x="827584" y="1309768"/>
            <a:ext cx="7601847" cy="5514117"/>
          </a:xfrm>
          <a:prstGeom prst="rect">
            <a:avLst/>
          </a:prstGeom>
          <a:noFill/>
          <a:ln>
            <a:noFill/>
          </a:ln>
        </p:spPr>
      </p:pic>
    </p:spTree>
    <p:extLst>
      <p:ext uri="{BB962C8B-B14F-4D97-AF65-F5344CB8AC3E}">
        <p14:creationId xmlns:p14="http://schemas.microsoft.com/office/powerpoint/2010/main" val="1712729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sp>
        <p:nvSpPr>
          <p:cNvPr id="3" name="Content Placeholder 2"/>
          <p:cNvSpPr>
            <a:spLocks noGrp="1"/>
          </p:cNvSpPr>
          <p:nvPr>
            <p:ph idx="1"/>
          </p:nvPr>
        </p:nvSpPr>
        <p:spPr/>
        <p:txBody>
          <a:bodyPr>
            <a:normAutofit lnSpcReduction="10000"/>
          </a:bodyPr>
          <a:lstStyle/>
          <a:p>
            <a:r>
              <a:rPr lang="en-US" dirty="0">
                <a:hlinkClick r:id="rId3" invalidUrl="http://www.oamk.fi/~teraisan/K1033BI/02.1User interface design.ppt"/>
              </a:rPr>
              <a:t>http://www.oamk.fi/~</a:t>
            </a:r>
            <a:r>
              <a:rPr lang="en-US" dirty="0">
                <a:hlinkClick r:id="rId3" invalidUrl="http://www.oamk.fi/~teraisan/K1033BI/02.1User interface design.ppt"/>
              </a:rPr>
              <a:t>teraisan/K1033BI/02.1User%20interface%20design.ppt</a:t>
            </a:r>
            <a:endParaRPr lang="en-US" dirty="0"/>
          </a:p>
          <a:p>
            <a:r>
              <a:rPr lang="en-US" dirty="0">
                <a:hlinkClick r:id="rId4" invalidUrl="http://www.mackayhouse.com/Scott/An Introduction to Core User Experience Concepts.ppt"/>
              </a:rPr>
              <a:t>http://</a:t>
            </a:r>
            <a:r>
              <a:rPr lang="en-US" dirty="0">
                <a:hlinkClick r:id="rId4" invalidUrl="http://www.mackayhouse.com/Scott/An Introduction to Core User Experience Concepts.ppt"/>
              </a:rPr>
              <a:t>www.mackayhouse.com/Scott/An%20Introduction%20to%20Core%20User%20Experience%20Concepts.ppt</a:t>
            </a:r>
            <a:endParaRPr lang="en-US" dirty="0"/>
          </a:p>
          <a:p>
            <a:r>
              <a:rPr lang="en-US" dirty="0">
                <a:hlinkClick r:id="rId5"/>
              </a:rPr>
              <a:t>https://ddcsubjectmaterial.files.wordpress.com/2014/04/chapter-08_designing-the-interface.ppt</a:t>
            </a:r>
            <a:endParaRPr lang="en-US" dirty="0"/>
          </a:p>
          <a:p>
            <a:r>
              <a:rPr lang="en-US" dirty="0">
                <a:hlinkClick r:id="rId6"/>
              </a:rPr>
              <a:t>http://web.fsktm.um.edu.my/~salwa/HCICourse/lecture3/User-Centered-Design.ppt#:~:text=The%20quality%20of%20interaction%20between,goal%20of%20user%2Dcentered%20design</a:t>
            </a:r>
            <a:endParaRPr lang="en-US" dirty="0"/>
          </a:p>
        </p:txBody>
      </p:sp>
    </p:spTree>
    <p:extLst>
      <p:ext uri="{BB962C8B-B14F-4D97-AF65-F5344CB8AC3E}">
        <p14:creationId xmlns:p14="http://schemas.microsoft.com/office/powerpoint/2010/main" val="1806759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49514" y="2967335"/>
            <a:ext cx="5044972" cy="1200329"/>
          </a:xfrm>
          <a:prstGeom prst="rect">
            <a:avLst/>
          </a:prstGeom>
          <a:noFill/>
        </p:spPr>
        <p:txBody>
          <a:bodyPr wrap="none" lIns="91440" tIns="45720" rIns="91440" bIns="45720">
            <a:spAutoFit/>
          </a:bodyPr>
          <a:lstStyle/>
          <a:p>
            <a:pPr algn="ctr"/>
            <a:r>
              <a:rPr lang="en-US" sz="7200" b="1" cap="none" spc="30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Questions</a:t>
            </a:r>
            <a:endParaRPr lang="en-GB" sz="7200" b="1" cap="none" spc="30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
        <p:nvSpPr>
          <p:cNvPr id="6" name="Title 5"/>
          <p:cNvSpPr>
            <a:spLocks noGrp="1"/>
          </p:cNvSpPr>
          <p:nvPr>
            <p:ph type="title"/>
          </p:nvPr>
        </p:nvSpPr>
        <p:spPr/>
        <p:txBody>
          <a:bodyPr/>
          <a:lstStyle/>
          <a:p>
            <a:endParaRPr lang="vi-VN"/>
          </a:p>
        </p:txBody>
      </p:sp>
      <p:sp>
        <p:nvSpPr>
          <p:cNvPr id="7" name="Content Placeholder 6"/>
          <p:cNvSpPr>
            <a:spLocks noGrp="1"/>
          </p:cNvSpPr>
          <p:nvPr>
            <p:ph idx="1"/>
          </p:nvPr>
        </p:nvSpPr>
        <p:spPr/>
        <p:txBody>
          <a:bodyPr/>
          <a:lstStyle/>
          <a:p>
            <a:endParaRPr lang="vi-V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3096B3D-C2D5-4D95-A93F-A7C0D9AAC94B}"/>
              </a:ext>
            </a:extLst>
          </p:cNvPr>
          <p:cNvSpPr txBox="1"/>
          <p:nvPr/>
        </p:nvSpPr>
        <p:spPr>
          <a:xfrm>
            <a:off x="432033" y="2290085"/>
            <a:ext cx="1958829" cy="1384995"/>
          </a:xfrm>
          <a:prstGeom prst="rect">
            <a:avLst/>
          </a:prstGeom>
          <a:noFill/>
        </p:spPr>
        <p:txBody>
          <a:bodyPr wrap="square">
            <a:spAutoFit/>
          </a:bodyPr>
          <a:lstStyle/>
          <a:p>
            <a:pPr algn="l" rtl="0" fontAlgn="base"/>
            <a:r>
              <a:rPr lang="en-US" sz="2800" b="1" i="0" u="none" strike="noStrike">
                <a:solidFill>
                  <a:srgbClr val="FFFFFF"/>
                </a:solidFill>
                <a:effectLst/>
                <a:latin typeface="Linh AvantGarde" panose="02000603030000020004"/>
              </a:rPr>
              <a:t>Thank you for</a:t>
            </a:r>
            <a:r>
              <a:rPr lang="en-US" sz="2800" b="0" i="0">
                <a:solidFill>
                  <a:srgbClr val="000000"/>
                </a:solidFill>
                <a:effectLst/>
                <a:latin typeface="Linh AvantGarde" panose="02000603030000020004"/>
              </a:rPr>
              <a:t>​</a:t>
            </a:r>
            <a:r>
              <a:rPr lang="vi-VN" sz="2800" b="0" i="0">
                <a:solidFill>
                  <a:srgbClr val="000000"/>
                </a:solidFill>
                <a:effectLst/>
                <a:latin typeface="Linh AvantGarde" panose="02000603030000020004"/>
              </a:rPr>
              <a:t> </a:t>
            </a:r>
            <a:r>
              <a:rPr lang="en-US" sz="2800" b="1" i="0" u="none" strike="noStrike">
                <a:solidFill>
                  <a:srgbClr val="FFFFFF"/>
                </a:solidFill>
                <a:effectLst/>
                <a:latin typeface="Linh AvantGarde" panose="02000603030000020004"/>
              </a:rPr>
              <a:t>your attentions</a:t>
            </a:r>
            <a:r>
              <a:rPr lang="en-US" sz="2800" b="1" i="0" u="none" strike="noStrike">
                <a:solidFill>
                  <a:srgbClr val="FFFFFF"/>
                </a:solidFill>
                <a:effectLst/>
                <a:latin typeface="Calibri" panose="020F0502020204030204" pitchFamily="34" charset="0"/>
              </a:rPr>
              <a:t>!</a:t>
            </a:r>
            <a:r>
              <a:rPr lang="en-US" sz="2800" b="0" i="0">
                <a:solidFill>
                  <a:srgbClr val="000000"/>
                </a:solidFill>
                <a:effectLst/>
                <a:latin typeface="Calibri" panose="020F0502020204030204" pitchFamily="34" charset="0"/>
              </a:rPr>
              <a:t>​</a:t>
            </a:r>
            <a:endParaRPr lang="en-US" sz="2800" b="0" i="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333758092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698</TotalTime>
  <Words>1736</Words>
  <Application>Microsoft Office PowerPoint</Application>
  <PresentationFormat>On-screen Show (4:3)</PresentationFormat>
  <Paragraphs>114</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Linh AvantGarde</vt:lpstr>
      <vt:lpstr>Segoe UI</vt:lpstr>
      <vt:lpstr>Times</vt:lpstr>
      <vt:lpstr>Times New Roman</vt:lpstr>
      <vt:lpstr>Custom Design</vt:lpstr>
      <vt:lpstr>PowerPoint Presentation</vt:lpstr>
      <vt:lpstr>Appendix (*)</vt:lpstr>
      <vt:lpstr>1. User personas</vt:lpstr>
      <vt:lpstr>1. User personas</vt:lpstr>
      <vt:lpstr>1. User personas</vt:lpstr>
      <vt:lpstr>2. User stories</vt:lpstr>
      <vt:lpstr>3. Empathy map</vt:lpstr>
      <vt:lpstr>3. Empathy map</vt:lpstr>
      <vt:lpstr>4. User flows</vt:lpstr>
      <vt:lpstr>4. User flows</vt:lpstr>
      <vt:lpstr>5. User scenarios</vt:lpstr>
      <vt:lpstr>5. User scenarios</vt:lpstr>
      <vt:lpstr>5. User scenarios</vt:lpstr>
      <vt:lpstr>6. Sitemap</vt:lpstr>
      <vt:lpstr>6. Sitemap</vt:lpstr>
      <vt:lpstr>6. Sitemap</vt:lpstr>
      <vt:lpstr>7. Wireframe</vt:lpstr>
      <vt:lpstr>7. Wireframe</vt:lpstr>
      <vt:lpstr>8. Storyboard</vt:lpstr>
      <vt:lpstr>8. Storyboard</vt:lpstr>
      <vt:lpstr>9. User journey scenarios</vt:lpstr>
      <vt:lpstr>9. User journey scenarios</vt:lpstr>
      <vt:lpstr>9. User journey scenarios</vt:lpstr>
      <vt:lpstr>9. User journey scenarios</vt:lpstr>
      <vt:lpstr>Reference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Long Long</dc:creator>
  <cp:lastModifiedBy>trannhathoa trannhathoa</cp:lastModifiedBy>
  <cp:revision>160</cp:revision>
  <dcterms:created xsi:type="dcterms:W3CDTF">2020-04-20T02:25:53Z</dcterms:created>
  <dcterms:modified xsi:type="dcterms:W3CDTF">2021-03-07T10:46:30Z</dcterms:modified>
</cp:coreProperties>
</file>