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57" r:id="rId5"/>
    <p:sldId id="258" r:id="rId6"/>
    <p:sldId id="267" r:id="rId7"/>
    <p:sldId id="265" r:id="rId8"/>
    <p:sldId id="266" r:id="rId9"/>
    <p:sldId id="268"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8BD523-173E-A89B-FD34-CEEC14B67CDA}" v="2" dt="2025-11-15T12:56:48.9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n Hoang Long 20225738" userId="S::long.ph225738@sis.hust.edu.vn::3388c3c7-7aae-4cf3-a8b7-595bee86f50b" providerId="AD" clId="Web-{AC8BD523-173E-A89B-FD34-CEEC14B67CDA}"/>
    <pc:docChg chg="modSld">
      <pc:chgData name="Phan Hoang Long 20225738" userId="S::long.ph225738@sis.hust.edu.vn::3388c3c7-7aae-4cf3-a8b7-595bee86f50b" providerId="AD" clId="Web-{AC8BD523-173E-A89B-FD34-CEEC14B67CDA}" dt="2025-11-15T12:56:48.952" v="1" actId="1076"/>
      <pc:docMkLst>
        <pc:docMk/>
      </pc:docMkLst>
      <pc:sldChg chg="modSp">
        <pc:chgData name="Phan Hoang Long 20225738" userId="S::long.ph225738@sis.hust.edu.vn::3388c3c7-7aae-4cf3-a8b7-595bee86f50b" providerId="AD" clId="Web-{AC8BD523-173E-A89B-FD34-CEEC14B67CDA}" dt="2025-11-15T12:56:48.952" v="1" actId="1076"/>
        <pc:sldMkLst>
          <pc:docMk/>
          <pc:sldMk cId="371895813" sldId="266"/>
        </pc:sldMkLst>
        <pc:grpChg chg="mod">
          <ac:chgData name="Phan Hoang Long 20225738" userId="S::long.ph225738@sis.hust.edu.vn::3388c3c7-7aae-4cf3-a8b7-595bee86f50b" providerId="AD" clId="Web-{AC8BD523-173E-A89B-FD34-CEEC14B67CDA}" dt="2025-11-15T12:56:48.952" v="1" actId="1076"/>
          <ac:grpSpMkLst>
            <pc:docMk/>
            <pc:sldMk cId="371895813" sldId="266"/>
            <ac:grpSpMk id="10" creationId="{46604D21-DE0B-4F27-E828-1E4A6B663412}"/>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11/15/2025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11/15/2025</a:t>
            </a:fld>
            <a:endParaRPr lang="en-US"/>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11/15/2025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11/15/2025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11/15/2025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11/15/2025</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11/15/2025</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11/15/2025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11/15/2025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11/15/2025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11/15/2025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11/15/2025</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5" y="2219413"/>
            <a:ext cx="6844590"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PERSONA VÀ USER JOURNEY MAP</a:t>
            </a:r>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4" y="4003263"/>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a:t>Nhóm 05 – TAKK Edu</a:t>
            </a:r>
          </a:p>
          <a:p>
            <a:r>
              <a:rPr lang="en-US" sz="2800" b="0"/>
              <a:t>Nông Quốc Khánh	20226088</a:t>
            </a:r>
          </a:p>
          <a:p>
            <a:r>
              <a:rPr lang="en-US" sz="2800" b="0"/>
              <a:t>Đỗ Quang Bắc Kỳ	20226111</a:t>
            </a:r>
          </a:p>
          <a:p>
            <a:r>
              <a:rPr lang="en-US" sz="2800" b="0"/>
              <a:t>Nguyễn Minh Tuấn	20226095</a:t>
            </a:r>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1</a:t>
            </a:fld>
            <a:endParaRPr lang="en-US"/>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en-US"/>
              <a:t>Persona – Chân dung người dùng</a:t>
            </a:r>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a:xfrm>
            <a:off x="337539" y="1032510"/>
            <a:ext cx="8147168" cy="4938713"/>
          </a:xfrm>
        </p:spPr>
        <p:txBody>
          <a:bodyPr/>
          <a:lstStyle/>
          <a:p>
            <a:pPr marL="0" indent="0">
              <a:spcBef>
                <a:spcPts val="400"/>
              </a:spcBef>
              <a:buNone/>
            </a:pPr>
            <a:r>
              <a:rPr lang="en-US" sz="1400" b="1"/>
              <a:t>Persona 1: Linh – Sinh viên năm cuối bận rộn</a:t>
            </a:r>
          </a:p>
          <a:p>
            <a:pPr marL="457200" indent="-457200">
              <a:spcBef>
                <a:spcPts val="400"/>
              </a:spcBef>
              <a:buFont typeface="+mj-lt"/>
              <a:buAutoNum type="arabicPeriod"/>
            </a:pPr>
            <a:r>
              <a:rPr lang="en-US" sz="1400" b="1"/>
              <a:t>Thông tin cơ bản</a:t>
            </a:r>
          </a:p>
          <a:p>
            <a:pPr lvl="1">
              <a:spcBef>
                <a:spcPts val="400"/>
              </a:spcBef>
            </a:pPr>
            <a:r>
              <a:rPr lang="en-US" sz="1400"/>
              <a:t>Tuổi: 22</a:t>
            </a:r>
          </a:p>
          <a:p>
            <a:pPr lvl="1">
              <a:spcBef>
                <a:spcPts val="400"/>
              </a:spcBef>
            </a:pPr>
            <a:r>
              <a:rPr lang="en-US" sz="1400"/>
              <a:t>Nghề nghiệp: Sinh viên năm cuối chuyên ngành kinh tế</a:t>
            </a:r>
          </a:p>
          <a:p>
            <a:pPr lvl="1">
              <a:spcBef>
                <a:spcPts val="400"/>
              </a:spcBef>
            </a:pPr>
            <a:r>
              <a:rPr lang="en-US" sz="1400"/>
              <a:t>Nơi sống: Hà Nội</a:t>
            </a:r>
          </a:p>
          <a:p>
            <a:pPr lvl="1">
              <a:spcBef>
                <a:spcPts val="400"/>
              </a:spcBef>
            </a:pPr>
            <a:r>
              <a:rPr lang="en-US" sz="1400"/>
              <a:t>Tình trạng: sống một mình, đi học giờ hành chính từ sáng đến chiều</a:t>
            </a:r>
          </a:p>
          <a:p>
            <a:pPr lvl="1">
              <a:spcBef>
                <a:spcPts val="400"/>
              </a:spcBef>
            </a:pPr>
            <a:r>
              <a:rPr lang="en-US" sz="1400"/>
              <a:t>Thiết bị sử dụng chủ yếu: laptop</a:t>
            </a:r>
          </a:p>
          <a:p>
            <a:pPr lvl="1">
              <a:spcBef>
                <a:spcPts val="400"/>
              </a:spcBef>
            </a:pPr>
            <a:r>
              <a:rPr lang="en-US" sz="1400"/>
              <a:t>Nền tảng sử dụng chủ yếu: Coursera</a:t>
            </a:r>
          </a:p>
          <a:p>
            <a:pPr marL="457200" indent="-457200">
              <a:spcBef>
                <a:spcPts val="400"/>
              </a:spcBef>
              <a:buFont typeface="+mj-lt"/>
              <a:buAutoNum type="arabicPeriod" startAt="2"/>
            </a:pPr>
            <a:r>
              <a:rPr lang="en-US" sz="1400" b="1"/>
              <a:t>Hành vi &amp; thái độ</a:t>
            </a:r>
          </a:p>
          <a:p>
            <a:pPr lvl="1">
              <a:spcBef>
                <a:spcPts val="400"/>
              </a:spcBef>
            </a:pPr>
            <a:r>
              <a:rPr lang="en-US" sz="1400"/>
              <a:t>Học khóa học online mỗi tối để cải thiện CV của bản thân.</a:t>
            </a:r>
          </a:p>
          <a:p>
            <a:pPr lvl="1">
              <a:spcBef>
                <a:spcPts val="400"/>
              </a:spcBef>
            </a:pPr>
            <a:r>
              <a:rPr lang="en-US" sz="1400"/>
              <a:t>Thường chọn đăng ký những khóa học được đề xuất từ hệ thống.</a:t>
            </a:r>
          </a:p>
          <a:p>
            <a:pPr lvl="1">
              <a:spcBef>
                <a:spcPts val="400"/>
              </a:spcBef>
            </a:pPr>
            <a:r>
              <a:rPr lang="en-US" sz="1400"/>
              <a:t>Băn khoăn trước các khóa học đề xuất; mất thời gian lựa chọn, so sánh các khóa học.</a:t>
            </a:r>
          </a:p>
          <a:p>
            <a:pPr marL="457200" indent="-457200">
              <a:spcBef>
                <a:spcPts val="400"/>
              </a:spcBef>
              <a:buFont typeface="+mj-lt"/>
              <a:buAutoNum type="arabicPeriod" startAt="2"/>
            </a:pPr>
            <a:r>
              <a:rPr lang="en-US" sz="1400" b="1"/>
              <a:t>Mục tiêu</a:t>
            </a:r>
          </a:p>
          <a:p>
            <a:pPr lvl="1">
              <a:spcBef>
                <a:spcPts val="400"/>
              </a:spcBef>
            </a:pPr>
            <a:r>
              <a:rPr lang="en-US" sz="1400"/>
              <a:t>Lựa chọn khóa học nhanh hơn.</a:t>
            </a:r>
          </a:p>
          <a:p>
            <a:pPr lvl="1">
              <a:spcBef>
                <a:spcPts val="400"/>
              </a:spcBef>
            </a:pPr>
            <a:r>
              <a:rPr lang="en-US" sz="1400"/>
              <a:t>Khi đã chọn và đăng ký một khóa học thì không có nguyện vọng tìm hiểu các khóa học khác.</a:t>
            </a:r>
          </a:p>
          <a:p>
            <a:pPr marL="457200" indent="-457200">
              <a:spcBef>
                <a:spcPts val="400"/>
              </a:spcBef>
              <a:buFont typeface="+mj-lt"/>
              <a:buAutoNum type="arabicPeriod" startAt="2"/>
            </a:pPr>
            <a:r>
              <a:rPr lang="en-US" sz="1400" b="1"/>
              <a:t>Pain points</a:t>
            </a:r>
          </a:p>
          <a:p>
            <a:pPr lvl="1">
              <a:spcBef>
                <a:spcPts val="400"/>
              </a:spcBef>
            </a:pPr>
            <a:r>
              <a:rPr lang="en-US" sz="1400"/>
              <a:t>Các khóa học được đề xuất không đúng nguyện vọng cụ thể.</a:t>
            </a:r>
          </a:p>
          <a:p>
            <a:pPr lvl="1">
              <a:spcBef>
                <a:spcPts val="400"/>
              </a:spcBef>
            </a:pPr>
            <a:r>
              <a:rPr lang="en-US" sz="1400"/>
              <a:t>Mô tả không trùng khớp với nội dung khóa học.</a:t>
            </a:r>
          </a:p>
          <a:p>
            <a:pPr marL="457200" indent="-457200">
              <a:spcBef>
                <a:spcPts val="400"/>
              </a:spcBef>
              <a:buFont typeface="+mj-lt"/>
              <a:buAutoNum type="arabicPeriod" startAt="2"/>
            </a:pPr>
            <a:r>
              <a:rPr lang="en-US" sz="1400" b="1"/>
              <a:t>Nhu cầu</a:t>
            </a:r>
          </a:p>
          <a:p>
            <a:pPr lvl="1">
              <a:spcBef>
                <a:spcPts val="400"/>
              </a:spcBef>
            </a:pPr>
            <a:r>
              <a:rPr lang="en-US" sz="1400"/>
              <a:t>Thuật toán đề xuất khóa học tốt hơn với số lượng khóa học đề xuất ít hơn.</a:t>
            </a:r>
          </a:p>
          <a:p>
            <a:pPr lvl="1">
              <a:spcBef>
                <a:spcPts val="400"/>
              </a:spcBef>
            </a:pPr>
            <a:r>
              <a:rPr lang="en-US" sz="1400"/>
              <a:t>Mô tả khóa học chính xác với nội dung khóa học.</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2</a:t>
            </a:fld>
            <a:endParaRPr lang="en-US"/>
          </a:p>
        </p:txBody>
      </p:sp>
      <p:pic>
        <p:nvPicPr>
          <p:cNvPr id="1026" name="Picture 2" descr="Sinh viên vùng cao gặp nhiều khó khăn trong việc học online -0">
            <a:extLst>
              <a:ext uri="{FF2B5EF4-FFF2-40B4-BE49-F238E27FC236}">
                <a16:creationId xmlns:a16="http://schemas.microsoft.com/office/drawing/2014/main" id="{42667851-4E76-DB57-CC9B-886AD9E920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956" r="9034"/>
          <a:stretch>
            <a:fillRect/>
          </a:stretch>
        </p:blipFill>
        <p:spPr bwMode="auto">
          <a:xfrm>
            <a:off x="8484707" y="1977477"/>
            <a:ext cx="3415004" cy="3048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952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4B81C-4C49-F8FC-374D-6963E2DA6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A0597-8198-8730-BA7E-328F79F90EC3}"/>
              </a:ext>
            </a:extLst>
          </p:cNvPr>
          <p:cNvSpPr>
            <a:spLocks noGrp="1"/>
          </p:cNvSpPr>
          <p:nvPr>
            <p:ph type="title"/>
          </p:nvPr>
        </p:nvSpPr>
        <p:spPr/>
        <p:txBody>
          <a:bodyPr/>
          <a:lstStyle/>
          <a:p>
            <a:r>
              <a:rPr lang="en-US"/>
              <a:t>Persona – Chân dung người dùng</a:t>
            </a:r>
          </a:p>
        </p:txBody>
      </p:sp>
      <p:sp>
        <p:nvSpPr>
          <p:cNvPr id="3" name="Text Placeholder 2">
            <a:extLst>
              <a:ext uri="{FF2B5EF4-FFF2-40B4-BE49-F238E27FC236}">
                <a16:creationId xmlns:a16="http://schemas.microsoft.com/office/drawing/2014/main" id="{060A6B5F-AAF7-CC85-67CF-2132FD8D3E81}"/>
              </a:ext>
            </a:extLst>
          </p:cNvPr>
          <p:cNvSpPr>
            <a:spLocks noGrp="1"/>
          </p:cNvSpPr>
          <p:nvPr>
            <p:ph type="body" sz="quarter" idx="13"/>
          </p:nvPr>
        </p:nvSpPr>
        <p:spPr>
          <a:xfrm>
            <a:off x="338735" y="1209791"/>
            <a:ext cx="8817775" cy="4938713"/>
          </a:xfrm>
        </p:spPr>
        <p:txBody>
          <a:bodyPr/>
          <a:lstStyle/>
          <a:p>
            <a:pPr marL="0" indent="0">
              <a:spcBef>
                <a:spcPts val="400"/>
              </a:spcBef>
              <a:buNone/>
            </a:pPr>
            <a:r>
              <a:rPr lang="en-US" sz="1400" b="1"/>
              <a:t>Persona 2: Huy – Giáo viên tự do</a:t>
            </a:r>
          </a:p>
          <a:p>
            <a:pPr marL="457200" indent="-457200">
              <a:spcBef>
                <a:spcPts val="400"/>
              </a:spcBef>
              <a:buFont typeface="+mj-lt"/>
              <a:buAutoNum type="arabicPeriod"/>
            </a:pPr>
            <a:r>
              <a:rPr lang="en-US" sz="1400" b="1"/>
              <a:t>Thông tin cơ bản</a:t>
            </a:r>
          </a:p>
          <a:p>
            <a:pPr lvl="1">
              <a:spcBef>
                <a:spcPts val="400"/>
              </a:spcBef>
            </a:pPr>
            <a:r>
              <a:rPr lang="en-US" sz="1400"/>
              <a:t>Tuổi: 31</a:t>
            </a:r>
          </a:p>
          <a:p>
            <a:pPr lvl="1">
              <a:spcBef>
                <a:spcPts val="400"/>
              </a:spcBef>
            </a:pPr>
            <a:r>
              <a:rPr lang="en-US" sz="1400"/>
              <a:t>Nghề nghiệp: Giáo viên online</a:t>
            </a:r>
          </a:p>
          <a:p>
            <a:pPr lvl="1">
              <a:spcBef>
                <a:spcPts val="400"/>
              </a:spcBef>
            </a:pPr>
            <a:r>
              <a:rPr lang="en-US" sz="1400"/>
              <a:t>Nơi sống: Hà Nội</a:t>
            </a:r>
          </a:p>
          <a:p>
            <a:pPr lvl="1">
              <a:spcBef>
                <a:spcPts val="400"/>
              </a:spcBef>
            </a:pPr>
            <a:r>
              <a:rPr lang="en-US" sz="1400"/>
              <a:t>Tình trạng: Sáng tạo nội dung khóa học và giảng dạy online toàn thời gian</a:t>
            </a:r>
          </a:p>
          <a:p>
            <a:pPr lvl="1">
              <a:spcBef>
                <a:spcPts val="400"/>
              </a:spcBef>
            </a:pPr>
            <a:r>
              <a:rPr lang="en-US" sz="1400"/>
              <a:t>Thiết bị sử dụng chủ yếu: PC, tablet</a:t>
            </a:r>
          </a:p>
          <a:p>
            <a:pPr lvl="1">
              <a:spcBef>
                <a:spcPts val="400"/>
              </a:spcBef>
            </a:pPr>
            <a:r>
              <a:rPr lang="en-US" sz="1400"/>
              <a:t>Nền tảng sử dụng chủ yếu: Coursera, Udemy</a:t>
            </a:r>
          </a:p>
          <a:p>
            <a:pPr marL="457200" indent="-457200">
              <a:spcBef>
                <a:spcPts val="400"/>
              </a:spcBef>
              <a:buFont typeface="+mj-lt"/>
              <a:buAutoNum type="arabicPeriod" startAt="2"/>
            </a:pPr>
            <a:r>
              <a:rPr lang="en-US" sz="1400" b="1"/>
              <a:t>Hành vi &amp; thái độ</a:t>
            </a:r>
          </a:p>
          <a:p>
            <a:pPr lvl="1">
              <a:spcBef>
                <a:spcPts val="400"/>
              </a:spcBef>
            </a:pPr>
            <a:r>
              <a:rPr lang="en-US" sz="1400"/>
              <a:t>Quay video, soạn tài liệu và đăng tải nội dung khóa học.</a:t>
            </a:r>
          </a:p>
          <a:p>
            <a:pPr lvl="1">
              <a:spcBef>
                <a:spcPts val="400"/>
              </a:spcBef>
            </a:pPr>
            <a:r>
              <a:rPr lang="en-US" sz="1400"/>
              <a:t>Không biết phản ứng của người học đối với khóa học (ngoại trừ đánh giá bằng số sao), dẫn đến khó khăn trong việc cải thiện chất lượng của các bài giảng sau.</a:t>
            </a:r>
          </a:p>
          <a:p>
            <a:pPr marL="457200" indent="-457200">
              <a:spcBef>
                <a:spcPts val="400"/>
              </a:spcBef>
              <a:buFont typeface="+mj-lt"/>
              <a:buAutoNum type="arabicPeriod" startAt="2"/>
            </a:pPr>
            <a:r>
              <a:rPr lang="en-US" sz="1400" b="1"/>
              <a:t>Mục tiêu</a:t>
            </a:r>
          </a:p>
          <a:p>
            <a:pPr lvl="1">
              <a:spcBef>
                <a:spcPts val="400"/>
              </a:spcBef>
            </a:pPr>
            <a:r>
              <a:rPr lang="en-US" sz="1400"/>
              <a:t>Trao đổi với người học theo thời gian thực trong lúc khóa học vẫn đang được hoàn thiện.</a:t>
            </a:r>
          </a:p>
          <a:p>
            <a:pPr marL="457200" indent="-457200">
              <a:spcBef>
                <a:spcPts val="400"/>
              </a:spcBef>
              <a:buFont typeface="+mj-lt"/>
              <a:buAutoNum type="arabicPeriod" startAt="2"/>
            </a:pPr>
            <a:r>
              <a:rPr lang="en-US" sz="1400" b="1"/>
              <a:t>Pain points</a:t>
            </a:r>
          </a:p>
          <a:p>
            <a:pPr lvl="1">
              <a:spcBef>
                <a:spcPts val="400"/>
              </a:spcBef>
            </a:pPr>
            <a:r>
              <a:rPr lang="en-US" sz="1400"/>
              <a:t>Toàn bộ khóa học phải được hoàn thiện trước khi xuất bản, dẫn đến không biết phản hồi của người học trong các bài giảng đầu để cải thiện các bài giảng sau.</a:t>
            </a:r>
          </a:p>
          <a:p>
            <a:pPr marL="457200" indent="-457200">
              <a:spcBef>
                <a:spcPts val="400"/>
              </a:spcBef>
              <a:buFont typeface="+mj-lt"/>
              <a:buAutoNum type="arabicPeriod" startAt="2"/>
            </a:pPr>
            <a:r>
              <a:rPr lang="en-US" sz="1400" b="1"/>
              <a:t>Nhu cầu</a:t>
            </a:r>
          </a:p>
          <a:p>
            <a:pPr lvl="1">
              <a:spcBef>
                <a:spcPts val="400"/>
              </a:spcBef>
            </a:pPr>
            <a:r>
              <a:rPr lang="en-US" sz="1400"/>
              <a:t>Tính năng xuất bản khóa học trong lúc khóa học vẫn được cập nhật.</a:t>
            </a:r>
          </a:p>
          <a:p>
            <a:pPr lvl="1">
              <a:spcBef>
                <a:spcPts val="400"/>
              </a:spcBef>
            </a:pPr>
            <a:r>
              <a:rPr lang="en-US" sz="1400"/>
              <a:t>Tính năng tương tác đa dạng (chat, bình luận, community note…) trong từng bài giảng.</a:t>
            </a:r>
          </a:p>
        </p:txBody>
      </p:sp>
      <p:sp>
        <p:nvSpPr>
          <p:cNvPr id="6" name="Slide Number Placeholder 5">
            <a:extLst>
              <a:ext uri="{FF2B5EF4-FFF2-40B4-BE49-F238E27FC236}">
                <a16:creationId xmlns:a16="http://schemas.microsoft.com/office/drawing/2014/main" id="{EA67F5A0-5C84-9E79-E7B4-E16668C83FE9}"/>
              </a:ext>
            </a:extLst>
          </p:cNvPr>
          <p:cNvSpPr>
            <a:spLocks noGrp="1"/>
          </p:cNvSpPr>
          <p:nvPr>
            <p:ph type="sldNum" sz="quarter" idx="12"/>
          </p:nvPr>
        </p:nvSpPr>
        <p:spPr/>
        <p:txBody>
          <a:bodyPr/>
          <a:lstStyle/>
          <a:p>
            <a:fld id="{9EA0BE3B-158A-4EDF-80DC-E394A0D1600F}" type="slidenum">
              <a:rPr lang="en-US" smtClean="0"/>
              <a:pPr/>
              <a:t>3</a:t>
            </a:fld>
            <a:endParaRPr lang="en-US"/>
          </a:p>
        </p:txBody>
      </p:sp>
      <p:pic>
        <p:nvPicPr>
          <p:cNvPr id="5" name="Picture 4">
            <a:extLst>
              <a:ext uri="{FF2B5EF4-FFF2-40B4-BE49-F238E27FC236}">
                <a16:creationId xmlns:a16="http://schemas.microsoft.com/office/drawing/2014/main" id="{FAF71C35-6026-BCB2-A9FF-FC681AD25B01}"/>
              </a:ext>
            </a:extLst>
          </p:cNvPr>
          <p:cNvPicPr>
            <a:picLocks noChangeAspect="1"/>
          </p:cNvPicPr>
          <p:nvPr/>
        </p:nvPicPr>
        <p:blipFill>
          <a:blip r:embed="rId2"/>
          <a:stretch>
            <a:fillRect/>
          </a:stretch>
        </p:blipFill>
        <p:spPr>
          <a:xfrm>
            <a:off x="7613986" y="893012"/>
            <a:ext cx="4239278" cy="2718126"/>
          </a:xfrm>
          <a:prstGeom prst="rect">
            <a:avLst/>
          </a:prstGeom>
        </p:spPr>
      </p:pic>
    </p:spTree>
    <p:extLst>
      <p:ext uri="{BB962C8B-B14F-4D97-AF65-F5344CB8AC3E}">
        <p14:creationId xmlns:p14="http://schemas.microsoft.com/office/powerpoint/2010/main" val="2681518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78D2B-41CB-F219-2357-6D27F891F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1B1F3-4945-4A81-E231-D89870F0EB68}"/>
              </a:ext>
            </a:extLst>
          </p:cNvPr>
          <p:cNvSpPr>
            <a:spLocks noGrp="1"/>
          </p:cNvSpPr>
          <p:nvPr>
            <p:ph type="title"/>
          </p:nvPr>
        </p:nvSpPr>
        <p:spPr/>
        <p:txBody>
          <a:bodyPr/>
          <a:lstStyle/>
          <a:p>
            <a:r>
              <a:rPr lang="en-US"/>
              <a:t>User journey map – Bản đồ hành trình người dùng</a:t>
            </a:r>
          </a:p>
        </p:txBody>
      </p:sp>
      <p:sp>
        <p:nvSpPr>
          <p:cNvPr id="3" name="Text Placeholder 2">
            <a:extLst>
              <a:ext uri="{FF2B5EF4-FFF2-40B4-BE49-F238E27FC236}">
                <a16:creationId xmlns:a16="http://schemas.microsoft.com/office/drawing/2014/main" id="{2B7684C3-2916-6056-540A-66B3449F18AC}"/>
              </a:ext>
            </a:extLst>
          </p:cNvPr>
          <p:cNvSpPr>
            <a:spLocks noGrp="1"/>
          </p:cNvSpPr>
          <p:nvPr>
            <p:ph type="body" sz="quarter" idx="13"/>
          </p:nvPr>
        </p:nvSpPr>
        <p:spPr>
          <a:xfrm>
            <a:off x="337539" y="1032511"/>
            <a:ext cx="2554951" cy="758968"/>
          </a:xfrm>
        </p:spPr>
        <p:txBody>
          <a:bodyPr/>
          <a:lstStyle/>
          <a:p>
            <a:pPr marL="0" indent="0">
              <a:buNone/>
            </a:pPr>
            <a:r>
              <a:rPr lang="en-US" sz="1600"/>
              <a:t>Linh – Sinh viên năm cuối chuyên ngành kinh tế</a:t>
            </a:r>
          </a:p>
        </p:txBody>
      </p:sp>
      <p:sp>
        <p:nvSpPr>
          <p:cNvPr id="6" name="Slide Number Placeholder 5">
            <a:extLst>
              <a:ext uri="{FF2B5EF4-FFF2-40B4-BE49-F238E27FC236}">
                <a16:creationId xmlns:a16="http://schemas.microsoft.com/office/drawing/2014/main" id="{7BCC6D34-EAB6-1B81-F149-A16CE4FD8442}"/>
              </a:ext>
            </a:extLst>
          </p:cNvPr>
          <p:cNvSpPr>
            <a:spLocks noGrp="1"/>
          </p:cNvSpPr>
          <p:nvPr>
            <p:ph type="sldNum" sz="quarter" idx="12"/>
          </p:nvPr>
        </p:nvSpPr>
        <p:spPr/>
        <p:txBody>
          <a:bodyPr/>
          <a:lstStyle/>
          <a:p>
            <a:fld id="{9EA0BE3B-158A-4EDF-80DC-E394A0D1600F}" type="slidenum">
              <a:rPr lang="en-US" smtClean="0"/>
              <a:pPr/>
              <a:t>4</a:t>
            </a:fld>
            <a:endParaRPr lang="en-US"/>
          </a:p>
        </p:txBody>
      </p:sp>
      <p:sp>
        <p:nvSpPr>
          <p:cNvPr id="4" name="Text Placeholder 2">
            <a:extLst>
              <a:ext uri="{FF2B5EF4-FFF2-40B4-BE49-F238E27FC236}">
                <a16:creationId xmlns:a16="http://schemas.microsoft.com/office/drawing/2014/main" id="{E148E32C-FD88-57F3-5174-08FF64093578}"/>
              </a:ext>
            </a:extLst>
          </p:cNvPr>
          <p:cNvSpPr txBox="1">
            <a:spLocks/>
          </p:cNvSpPr>
          <p:nvPr/>
        </p:nvSpPr>
        <p:spPr>
          <a:xfrm>
            <a:off x="2892490" y="1032511"/>
            <a:ext cx="5673011" cy="7589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a:t>Kịch bản</a:t>
            </a:r>
          </a:p>
          <a:p>
            <a:r>
              <a:rPr lang="en-US" sz="1600"/>
              <a:t>Linh vừa hoàn thành một khóa học về toán tối ưu trong kinh tế vào tối hôm trước và muốn tìm kiếm một khóa học tiếp theo.</a:t>
            </a:r>
          </a:p>
          <a:p>
            <a:r>
              <a:rPr lang="en-US" sz="1600"/>
              <a:t>Linh không muốn phí buổi tối không học được gì, vì vậy cô muốn việc tìm kiếm là nhanh chóng.</a:t>
            </a:r>
          </a:p>
        </p:txBody>
      </p:sp>
      <p:sp>
        <p:nvSpPr>
          <p:cNvPr id="5" name="Text Placeholder 2">
            <a:extLst>
              <a:ext uri="{FF2B5EF4-FFF2-40B4-BE49-F238E27FC236}">
                <a16:creationId xmlns:a16="http://schemas.microsoft.com/office/drawing/2014/main" id="{B91C2CBE-34F3-BBEB-B7D9-1091961603BD}"/>
              </a:ext>
            </a:extLst>
          </p:cNvPr>
          <p:cNvSpPr txBox="1">
            <a:spLocks/>
          </p:cNvSpPr>
          <p:nvPr/>
        </p:nvSpPr>
        <p:spPr>
          <a:xfrm>
            <a:off x="8565502" y="1032511"/>
            <a:ext cx="3489485" cy="7589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a:t>Kì vọng</a:t>
            </a:r>
          </a:p>
          <a:p>
            <a:r>
              <a:rPr lang="en-US" sz="1600"/>
              <a:t>Việc tìm kiếm và so sánh khóa học chỉ mất khoảng 20 phút.</a:t>
            </a:r>
          </a:p>
          <a:p>
            <a:r>
              <a:rPr lang="en-US" sz="1600"/>
              <a:t>Các khóa học được đề xuất phù hợp với mong muốn của Linh.</a:t>
            </a:r>
          </a:p>
        </p:txBody>
      </p:sp>
      <p:graphicFrame>
        <p:nvGraphicFramePr>
          <p:cNvPr id="7" name="Table 6">
            <a:extLst>
              <a:ext uri="{FF2B5EF4-FFF2-40B4-BE49-F238E27FC236}">
                <a16:creationId xmlns:a16="http://schemas.microsoft.com/office/drawing/2014/main" id="{900FD060-4831-2EC0-DCDC-EA872C2DCAD9}"/>
              </a:ext>
            </a:extLst>
          </p:cNvPr>
          <p:cNvGraphicFramePr>
            <a:graphicFrameLocks noGrp="1"/>
          </p:cNvGraphicFramePr>
          <p:nvPr>
            <p:extLst>
              <p:ext uri="{D42A27DB-BD31-4B8C-83A1-F6EECF244321}">
                <p14:modId xmlns:p14="http://schemas.microsoft.com/office/powerpoint/2010/main" val="1402269691"/>
              </p:ext>
            </p:extLst>
          </p:nvPr>
        </p:nvGraphicFramePr>
        <p:xfrm>
          <a:off x="337535" y="2837715"/>
          <a:ext cx="11562176" cy="3845770"/>
        </p:xfrm>
        <a:graphic>
          <a:graphicData uri="http://schemas.openxmlformats.org/drawingml/2006/table">
            <a:tbl>
              <a:tblPr firstRow="1" bandRow="1">
                <a:tableStyleId>{5C22544A-7EE6-4342-B048-85BDC9FD1C3A}</a:tableStyleId>
              </a:tblPr>
              <a:tblGrid>
                <a:gridCol w="1517006">
                  <a:extLst>
                    <a:ext uri="{9D8B030D-6E8A-4147-A177-3AD203B41FA5}">
                      <a16:colId xmlns:a16="http://schemas.microsoft.com/office/drawing/2014/main" val="2873042302"/>
                    </a:ext>
                  </a:extLst>
                </a:gridCol>
                <a:gridCol w="2866749">
                  <a:extLst>
                    <a:ext uri="{9D8B030D-6E8A-4147-A177-3AD203B41FA5}">
                      <a16:colId xmlns:a16="http://schemas.microsoft.com/office/drawing/2014/main" val="3367698512"/>
                    </a:ext>
                  </a:extLst>
                </a:gridCol>
                <a:gridCol w="3984171">
                  <a:extLst>
                    <a:ext uri="{9D8B030D-6E8A-4147-A177-3AD203B41FA5}">
                      <a16:colId xmlns:a16="http://schemas.microsoft.com/office/drawing/2014/main" val="3827598608"/>
                    </a:ext>
                  </a:extLst>
                </a:gridCol>
                <a:gridCol w="3194250">
                  <a:extLst>
                    <a:ext uri="{9D8B030D-6E8A-4147-A177-3AD203B41FA5}">
                      <a16:colId xmlns:a16="http://schemas.microsoft.com/office/drawing/2014/main" val="3058568064"/>
                    </a:ext>
                  </a:extLst>
                </a:gridCol>
              </a:tblGrid>
              <a:tr h="381346">
                <a:tc>
                  <a:txBody>
                    <a:bodyPr/>
                    <a:lstStyle/>
                    <a:p>
                      <a:endParaRPr lang="en-US" sz="1600"/>
                    </a:p>
                  </a:txBody>
                  <a:tcPr/>
                </a:tc>
                <a:tc>
                  <a:txBody>
                    <a:bodyPr/>
                    <a:lstStyle/>
                    <a:p>
                      <a:r>
                        <a:rPr lang="en-US" sz="1600"/>
                        <a:t>Truy cập</a:t>
                      </a:r>
                    </a:p>
                  </a:txBody>
                  <a:tcPr/>
                </a:tc>
                <a:tc>
                  <a:txBody>
                    <a:bodyPr/>
                    <a:lstStyle/>
                    <a:p>
                      <a:r>
                        <a:rPr lang="en-US" sz="1600"/>
                        <a:t>So sánh</a:t>
                      </a:r>
                    </a:p>
                  </a:txBody>
                  <a:tcPr/>
                </a:tc>
                <a:tc>
                  <a:txBody>
                    <a:bodyPr/>
                    <a:lstStyle/>
                    <a:p>
                      <a:r>
                        <a:rPr lang="en-US" sz="1600"/>
                        <a:t>Lựa chọn</a:t>
                      </a:r>
                    </a:p>
                  </a:txBody>
                  <a:tcPr/>
                </a:tc>
                <a:extLst>
                  <a:ext uri="{0D108BD9-81ED-4DB2-BD59-A6C34878D82A}">
                    <a16:rowId xmlns:a16="http://schemas.microsoft.com/office/drawing/2014/main" val="83511865"/>
                  </a:ext>
                </a:extLst>
              </a:tr>
              <a:tr h="660366">
                <a:tc>
                  <a:txBody>
                    <a:bodyPr/>
                    <a:lstStyle/>
                    <a:p>
                      <a:r>
                        <a:rPr lang="en-US" sz="1600"/>
                        <a:t>Actions</a:t>
                      </a:r>
                    </a:p>
                  </a:txBody>
                  <a:tcPr/>
                </a:tc>
                <a:tc>
                  <a:txBody>
                    <a:bodyPr/>
                    <a:lstStyle/>
                    <a:p>
                      <a:r>
                        <a:rPr lang="en-US" sz="1600"/>
                        <a:t>Mở trang web Coursera, chọn mục “Dành cho tôi”.</a:t>
                      </a:r>
                    </a:p>
                  </a:txBody>
                  <a:tcPr/>
                </a:tc>
                <a:tc>
                  <a:txBody>
                    <a:bodyPr/>
                    <a:lstStyle/>
                    <a:p>
                      <a:r>
                        <a:rPr lang="en-US" sz="1600"/>
                        <a:t>Click xem từng khóa học và so sánh thủ công.</a:t>
                      </a:r>
                    </a:p>
                  </a:txBody>
                  <a:tcPr/>
                </a:tc>
                <a:tc>
                  <a:txBody>
                    <a:bodyPr/>
                    <a:lstStyle/>
                    <a:p>
                      <a:r>
                        <a:rPr lang="en-US" sz="1600"/>
                        <a:t>Đăng ký một khóa học sau khi đã so sánh xong.</a:t>
                      </a:r>
                    </a:p>
                  </a:txBody>
                  <a:tcPr/>
                </a:tc>
                <a:extLst>
                  <a:ext uri="{0D108BD9-81ED-4DB2-BD59-A6C34878D82A}">
                    <a16:rowId xmlns:a16="http://schemas.microsoft.com/office/drawing/2014/main" val="1802912253"/>
                  </a:ext>
                </a:extLst>
              </a:tr>
              <a:tr h="660366">
                <a:tc>
                  <a:txBody>
                    <a:bodyPr/>
                    <a:lstStyle/>
                    <a:p>
                      <a:r>
                        <a:rPr lang="en-US" sz="1600"/>
                        <a:t>Touchpoints</a:t>
                      </a:r>
                    </a:p>
                  </a:txBody>
                  <a:tcPr/>
                </a:tc>
                <a:tc>
                  <a:txBody>
                    <a:bodyPr/>
                    <a:lstStyle/>
                    <a:p>
                      <a:r>
                        <a:rPr lang="en-US" sz="1600"/>
                        <a:t>Trang web Coursera</a:t>
                      </a:r>
                    </a:p>
                  </a:txBody>
                  <a:tcPr/>
                </a:tc>
                <a:tc>
                  <a:txBody>
                    <a:bodyPr/>
                    <a:lstStyle/>
                    <a:p>
                      <a:r>
                        <a:rPr lang="en-US" sz="1600"/>
                        <a:t>Mục “Browse”, danh sách các khóa học</a:t>
                      </a:r>
                    </a:p>
                  </a:txBody>
                  <a:tcPr/>
                </a:tc>
                <a:tc>
                  <a:txBody>
                    <a:bodyPr/>
                    <a:lstStyle/>
                    <a:p>
                      <a:r>
                        <a:rPr lang="en-US" sz="1600"/>
                        <a:t>Trang web của khóa học</a:t>
                      </a:r>
                    </a:p>
                  </a:txBody>
                  <a:tcPr/>
                </a:tc>
                <a:extLst>
                  <a:ext uri="{0D108BD9-81ED-4DB2-BD59-A6C34878D82A}">
                    <a16:rowId xmlns:a16="http://schemas.microsoft.com/office/drawing/2014/main" val="42554777"/>
                  </a:ext>
                </a:extLst>
              </a:tr>
              <a:tr h="660366">
                <a:tc>
                  <a:txBody>
                    <a:bodyPr/>
                    <a:lstStyle/>
                    <a:p>
                      <a:r>
                        <a:rPr lang="en-US" sz="1600"/>
                        <a:t>Emotions</a:t>
                      </a:r>
                    </a:p>
                  </a:txBody>
                  <a:tcPr/>
                </a:tc>
                <a:tc>
                  <a:txBody>
                    <a:bodyPr/>
                    <a:lstStyle/>
                    <a:p>
                      <a:pPr algn="ctr"/>
                      <a:r>
                        <a:rPr lang="en-US" sz="2800"/>
                        <a:t>😐</a:t>
                      </a:r>
                    </a:p>
                  </a:txBody>
                  <a:tcPr anchor="ctr"/>
                </a:tc>
                <a:tc>
                  <a:txBody>
                    <a:bodyPr/>
                    <a:lstStyle/>
                    <a:p>
                      <a:pPr algn="ctr"/>
                      <a:r>
                        <a:rPr lang="en-US" sz="2800"/>
                        <a:t>☹️</a:t>
                      </a:r>
                    </a:p>
                  </a:txBody>
                  <a:tcPr anchor="b"/>
                </a:tc>
                <a:tc>
                  <a:txBody>
                    <a:bodyPr/>
                    <a:lstStyle/>
                    <a:p>
                      <a:pPr algn="ctr"/>
                      <a:r>
                        <a:rPr lang="en-US" sz="2800"/>
                        <a:t>😐</a:t>
                      </a:r>
                    </a:p>
                  </a:txBody>
                  <a:tcPr anchor="ctr"/>
                </a:tc>
                <a:extLst>
                  <a:ext uri="{0D108BD9-81ED-4DB2-BD59-A6C34878D82A}">
                    <a16:rowId xmlns:a16="http://schemas.microsoft.com/office/drawing/2014/main" val="2343995013"/>
                  </a:ext>
                </a:extLst>
              </a:tr>
              <a:tr h="660366">
                <a:tc>
                  <a:txBody>
                    <a:bodyPr/>
                    <a:lstStyle/>
                    <a:p>
                      <a:r>
                        <a:rPr lang="en-US" sz="1600"/>
                        <a:t>Painpoints</a:t>
                      </a:r>
                    </a:p>
                  </a:txBody>
                  <a:tcPr/>
                </a:tc>
                <a:tc>
                  <a:txBody>
                    <a:bodyPr/>
                    <a:lstStyle/>
                    <a:p>
                      <a:pPr marL="285750" indent="-285750">
                        <a:buFont typeface="Arial" panose="020B0604020202020204" pitchFamily="34" charset="0"/>
                        <a:buChar char="•"/>
                      </a:pPr>
                      <a:r>
                        <a:rPr lang="en-US" sz="1600"/>
                        <a:t>Đề xuất không phù hợp.</a:t>
                      </a:r>
                    </a:p>
                    <a:p>
                      <a:pPr marL="285750" indent="-285750">
                        <a:buFont typeface="Arial" panose="020B0604020202020204" pitchFamily="34" charset="0"/>
                        <a:buChar char="•"/>
                      </a:pPr>
                      <a:r>
                        <a:rPr lang="en-US" sz="1600"/>
                        <a:t>Số lượng đề xuất quá nhiều.</a:t>
                      </a:r>
                    </a:p>
                  </a:txBody>
                  <a:tcPr/>
                </a:tc>
                <a:tc>
                  <a:txBody>
                    <a:bodyPr/>
                    <a:lstStyle/>
                    <a:p>
                      <a:pPr marL="285750" indent="-285750">
                        <a:buFont typeface="Arial" panose="020B0604020202020204" pitchFamily="34" charset="0"/>
                        <a:buChar char="•"/>
                      </a:pPr>
                      <a:r>
                        <a:rPr lang="en-US" sz="1600"/>
                        <a:t>Hành động lặp đi lặp lại và thủ công.</a:t>
                      </a:r>
                    </a:p>
                    <a:p>
                      <a:pPr marL="285750" indent="-285750">
                        <a:buFont typeface="Arial" panose="020B0604020202020204" pitchFamily="34" charset="0"/>
                        <a:buChar char="•"/>
                      </a:pPr>
                      <a:r>
                        <a:rPr lang="en-US" sz="1600"/>
                        <a:t>Không có hệ thống so sánh được xây dựng sẵn.</a:t>
                      </a:r>
                    </a:p>
                  </a:txBody>
                  <a:tcPr/>
                </a:tc>
                <a:tc>
                  <a:txBody>
                    <a:bodyPr/>
                    <a:lstStyle/>
                    <a:p>
                      <a:r>
                        <a:rPr lang="en-US" sz="1600"/>
                        <a:t>Hệ thống tiếp tục đề xuất các khóa học khác, gây sao nhãng.</a:t>
                      </a:r>
                    </a:p>
                  </a:txBody>
                  <a:tcPr/>
                </a:tc>
                <a:extLst>
                  <a:ext uri="{0D108BD9-81ED-4DB2-BD59-A6C34878D82A}">
                    <a16:rowId xmlns:a16="http://schemas.microsoft.com/office/drawing/2014/main" val="139682283"/>
                  </a:ext>
                </a:extLst>
              </a:tr>
              <a:tr h="660366">
                <a:tc>
                  <a:txBody>
                    <a:bodyPr/>
                    <a:lstStyle/>
                    <a:p>
                      <a:r>
                        <a:rPr lang="en-US" sz="1600"/>
                        <a:t>Opportunities</a:t>
                      </a:r>
                    </a:p>
                  </a:txBody>
                  <a:tcPr/>
                </a:tc>
                <a:tc>
                  <a:txBody>
                    <a:bodyPr/>
                    <a:lstStyle/>
                    <a:p>
                      <a:pPr marL="285750" indent="-285750">
                        <a:buFont typeface="Arial" panose="020B0604020202020204" pitchFamily="34" charset="0"/>
                        <a:buChar char="•"/>
                      </a:pPr>
                      <a:r>
                        <a:rPr lang="en-US" sz="1600"/>
                        <a:t>Đề xuất dựa trên lịch sử học tập.</a:t>
                      </a:r>
                    </a:p>
                  </a:txBody>
                  <a:tcPr/>
                </a:tc>
                <a:tc>
                  <a:txBody>
                    <a:bodyPr/>
                    <a:lstStyle/>
                    <a:p>
                      <a:pPr marL="285750" indent="-285750">
                        <a:buFont typeface="Arial" panose="020B0604020202020204" pitchFamily="34" charset="0"/>
                        <a:buChar char="•"/>
                      </a:pPr>
                      <a:r>
                        <a:rPr lang="en-US" sz="1600"/>
                        <a:t>Tính năng so sánh các khóa học.</a:t>
                      </a:r>
                    </a:p>
                  </a:txBody>
                  <a:tcPr/>
                </a:tc>
                <a:tc>
                  <a:txBody>
                    <a:bodyPr/>
                    <a:lstStyle/>
                    <a:p>
                      <a:r>
                        <a:rPr lang="en-US" sz="1600"/>
                        <a:t>Giao diện cá nhân hóa cho khóa học sau khi đã đăng ký/đang học.</a:t>
                      </a:r>
                    </a:p>
                  </a:txBody>
                  <a:tcPr/>
                </a:tc>
                <a:extLst>
                  <a:ext uri="{0D108BD9-81ED-4DB2-BD59-A6C34878D82A}">
                    <a16:rowId xmlns:a16="http://schemas.microsoft.com/office/drawing/2014/main" val="4215407046"/>
                  </a:ext>
                </a:extLst>
              </a:tr>
            </a:tbl>
          </a:graphicData>
        </a:graphic>
      </p:graphicFrame>
      <p:cxnSp>
        <p:nvCxnSpPr>
          <p:cNvPr id="9" name="Straight Arrow Connector 8">
            <a:extLst>
              <a:ext uri="{FF2B5EF4-FFF2-40B4-BE49-F238E27FC236}">
                <a16:creationId xmlns:a16="http://schemas.microsoft.com/office/drawing/2014/main" id="{C272EE6B-3066-4BFE-BF3F-2D7F103524B3}"/>
              </a:ext>
            </a:extLst>
          </p:cNvPr>
          <p:cNvCxnSpPr>
            <a:cxnSpLocks/>
          </p:cNvCxnSpPr>
          <p:nvPr/>
        </p:nvCxnSpPr>
        <p:spPr>
          <a:xfrm>
            <a:off x="3536302" y="4786604"/>
            <a:ext cx="2957804" cy="26125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FC155CB3-7E4D-CCF7-05A5-062939FAD486}"/>
              </a:ext>
            </a:extLst>
          </p:cNvPr>
          <p:cNvCxnSpPr>
            <a:cxnSpLocks/>
          </p:cNvCxnSpPr>
          <p:nvPr/>
        </p:nvCxnSpPr>
        <p:spPr>
          <a:xfrm flipV="1">
            <a:off x="6960637" y="4786604"/>
            <a:ext cx="3144416" cy="26125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721027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FA9B4-32BE-6E03-FC65-B367ACC70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60444-64B8-CFB2-7F0E-0C459A42591A}"/>
              </a:ext>
            </a:extLst>
          </p:cNvPr>
          <p:cNvSpPr>
            <a:spLocks noGrp="1"/>
          </p:cNvSpPr>
          <p:nvPr>
            <p:ph type="title"/>
          </p:nvPr>
        </p:nvSpPr>
        <p:spPr/>
        <p:txBody>
          <a:bodyPr/>
          <a:lstStyle/>
          <a:p>
            <a:r>
              <a:rPr lang="en-US"/>
              <a:t>Storyboard – Bảng phân cảnh hệ thống cũ (Coursera)</a:t>
            </a:r>
          </a:p>
        </p:txBody>
      </p:sp>
      <p:sp>
        <p:nvSpPr>
          <p:cNvPr id="6" name="Slide Number Placeholder 5">
            <a:extLst>
              <a:ext uri="{FF2B5EF4-FFF2-40B4-BE49-F238E27FC236}">
                <a16:creationId xmlns:a16="http://schemas.microsoft.com/office/drawing/2014/main" id="{FE6209F4-3563-7AA5-CD65-B8FBFCFE3138}"/>
              </a:ext>
            </a:extLst>
          </p:cNvPr>
          <p:cNvSpPr>
            <a:spLocks noGrp="1"/>
          </p:cNvSpPr>
          <p:nvPr>
            <p:ph type="sldNum" sz="quarter" idx="12"/>
          </p:nvPr>
        </p:nvSpPr>
        <p:spPr/>
        <p:txBody>
          <a:bodyPr/>
          <a:lstStyle/>
          <a:p>
            <a:fld id="{9EA0BE3B-158A-4EDF-80DC-E394A0D1600F}" type="slidenum">
              <a:rPr lang="en-US" smtClean="0"/>
              <a:pPr/>
              <a:t>5</a:t>
            </a:fld>
            <a:endParaRPr lang="en-US"/>
          </a:p>
        </p:txBody>
      </p:sp>
      <p:grpSp>
        <p:nvGrpSpPr>
          <p:cNvPr id="10" name="Group 9">
            <a:extLst>
              <a:ext uri="{FF2B5EF4-FFF2-40B4-BE49-F238E27FC236}">
                <a16:creationId xmlns:a16="http://schemas.microsoft.com/office/drawing/2014/main" id="{46604D21-DE0B-4F27-E828-1E4A6B663412}"/>
              </a:ext>
            </a:extLst>
          </p:cNvPr>
          <p:cNvGrpSpPr/>
          <p:nvPr/>
        </p:nvGrpSpPr>
        <p:grpSpPr>
          <a:xfrm>
            <a:off x="1101288" y="2172816"/>
            <a:ext cx="3890568" cy="2799279"/>
            <a:chOff x="979714" y="1380930"/>
            <a:chExt cx="3890568" cy="2799279"/>
          </a:xfrm>
        </p:grpSpPr>
        <p:pic>
          <p:nvPicPr>
            <p:cNvPr id="5" name="Graphic 4">
              <a:extLst>
                <a:ext uri="{FF2B5EF4-FFF2-40B4-BE49-F238E27FC236}">
                  <a16:creationId xmlns:a16="http://schemas.microsoft.com/office/drawing/2014/main" id="{FDE6B7FB-D8F2-D32D-372E-BF78920EAB8F}"/>
                </a:ext>
              </a:extLst>
            </p:cNvPr>
            <p:cNvPicPr>
              <a:picLocks noChangeAspect="1"/>
            </p:cNvPicPr>
            <p:nvPr/>
          </p:nvPicPr>
          <p:blipFill>
            <a:blip r:embed="rId2">
              <a:extLst>
                <a:ext uri="{96DAC541-7B7A-43D3-8B79-37D633B846F1}">
                  <asvg:svgBlip xmlns:asvg="http://schemas.microsoft.com/office/drawing/2016/SVG/main" r:embed="rId3"/>
                </a:ext>
              </a:extLst>
            </a:blip>
            <a:srcRect l="5911" t="24005" r="5890" b="25017"/>
            <a:stretch>
              <a:fillRect/>
            </a:stretch>
          </p:blipFill>
          <p:spPr>
            <a:xfrm>
              <a:off x="979714" y="1380930"/>
              <a:ext cx="3890568" cy="2248678"/>
            </a:xfrm>
            <a:prstGeom prst="rect">
              <a:avLst/>
            </a:prstGeom>
          </p:spPr>
        </p:pic>
        <p:pic>
          <p:nvPicPr>
            <p:cNvPr id="8" name="Picture 7">
              <a:extLst>
                <a:ext uri="{FF2B5EF4-FFF2-40B4-BE49-F238E27FC236}">
                  <a16:creationId xmlns:a16="http://schemas.microsoft.com/office/drawing/2014/main" id="{7EAD69A3-3FAD-E8F7-4578-5048A039A5A2}"/>
                </a:ext>
              </a:extLst>
            </p:cNvPr>
            <p:cNvPicPr>
              <a:picLocks noChangeAspect="1"/>
            </p:cNvPicPr>
            <p:nvPr/>
          </p:nvPicPr>
          <p:blipFill>
            <a:blip r:embed="rId4"/>
            <a:srcRect l="183" t="8211" r="-183" b="59457"/>
            <a:stretch>
              <a:fillRect/>
            </a:stretch>
          </p:blipFill>
          <p:spPr>
            <a:xfrm>
              <a:off x="1469919" y="1562199"/>
              <a:ext cx="2910157" cy="1866801"/>
            </a:xfrm>
            <a:prstGeom prst="rect">
              <a:avLst/>
            </a:prstGeom>
          </p:spPr>
        </p:pic>
        <p:sp>
          <p:nvSpPr>
            <p:cNvPr id="9" name="TextBox 8">
              <a:extLst>
                <a:ext uri="{FF2B5EF4-FFF2-40B4-BE49-F238E27FC236}">
                  <a16:creationId xmlns:a16="http://schemas.microsoft.com/office/drawing/2014/main" id="{48BA49FB-3F8A-665F-D1C2-2A85F582B046}"/>
                </a:ext>
              </a:extLst>
            </p:cNvPr>
            <p:cNvSpPr txBox="1"/>
            <p:nvPr/>
          </p:nvSpPr>
          <p:spPr>
            <a:xfrm>
              <a:off x="1307310" y="3810877"/>
              <a:ext cx="3235373" cy="369332"/>
            </a:xfrm>
            <a:prstGeom prst="rect">
              <a:avLst/>
            </a:prstGeom>
            <a:noFill/>
          </p:spPr>
          <p:txBody>
            <a:bodyPr wrap="none" rtlCol="0">
              <a:spAutoFit/>
            </a:bodyPr>
            <a:lstStyle/>
            <a:p>
              <a:r>
                <a:rPr lang="en-US"/>
                <a:t>Một danh sách đầy các khóa học</a:t>
              </a:r>
            </a:p>
          </p:txBody>
        </p:sp>
      </p:grpSp>
      <p:grpSp>
        <p:nvGrpSpPr>
          <p:cNvPr id="11" name="Group 10">
            <a:extLst>
              <a:ext uri="{FF2B5EF4-FFF2-40B4-BE49-F238E27FC236}">
                <a16:creationId xmlns:a16="http://schemas.microsoft.com/office/drawing/2014/main" id="{770B8FB6-9C7D-1D7A-0BB3-1113C1367CE1}"/>
              </a:ext>
            </a:extLst>
          </p:cNvPr>
          <p:cNvGrpSpPr/>
          <p:nvPr/>
        </p:nvGrpSpPr>
        <p:grpSpPr>
          <a:xfrm>
            <a:off x="7191896" y="2314330"/>
            <a:ext cx="3890568" cy="3070935"/>
            <a:chOff x="979714" y="1380930"/>
            <a:chExt cx="3890568" cy="3070935"/>
          </a:xfrm>
        </p:grpSpPr>
        <p:pic>
          <p:nvPicPr>
            <p:cNvPr id="12" name="Graphic 11">
              <a:extLst>
                <a:ext uri="{FF2B5EF4-FFF2-40B4-BE49-F238E27FC236}">
                  <a16:creationId xmlns:a16="http://schemas.microsoft.com/office/drawing/2014/main" id="{27089BAF-87F8-E2D7-AFE9-3811F464C11C}"/>
                </a:ext>
              </a:extLst>
            </p:cNvPr>
            <p:cNvPicPr>
              <a:picLocks noChangeAspect="1"/>
            </p:cNvPicPr>
            <p:nvPr/>
          </p:nvPicPr>
          <p:blipFill>
            <a:blip r:embed="rId2">
              <a:extLst>
                <a:ext uri="{96DAC541-7B7A-43D3-8B79-37D633B846F1}">
                  <asvg:svgBlip xmlns:asvg="http://schemas.microsoft.com/office/drawing/2016/SVG/main" r:embed="rId3"/>
                </a:ext>
              </a:extLst>
            </a:blip>
            <a:srcRect l="5911" t="24005" r="5890" b="25017"/>
            <a:stretch>
              <a:fillRect/>
            </a:stretch>
          </p:blipFill>
          <p:spPr>
            <a:xfrm>
              <a:off x="979714" y="1380930"/>
              <a:ext cx="3890568" cy="2248678"/>
            </a:xfrm>
            <a:prstGeom prst="rect">
              <a:avLst/>
            </a:prstGeom>
          </p:spPr>
        </p:pic>
        <p:sp>
          <p:nvSpPr>
            <p:cNvPr id="14" name="TextBox 13">
              <a:extLst>
                <a:ext uri="{FF2B5EF4-FFF2-40B4-BE49-F238E27FC236}">
                  <a16:creationId xmlns:a16="http://schemas.microsoft.com/office/drawing/2014/main" id="{6F9A3415-F8F9-040C-C645-DBD5E0C15F0F}"/>
                </a:ext>
              </a:extLst>
            </p:cNvPr>
            <p:cNvSpPr txBox="1"/>
            <p:nvPr/>
          </p:nvSpPr>
          <p:spPr>
            <a:xfrm>
              <a:off x="1603310" y="3805534"/>
              <a:ext cx="2643376" cy="646331"/>
            </a:xfrm>
            <a:prstGeom prst="rect">
              <a:avLst/>
            </a:prstGeom>
            <a:noFill/>
          </p:spPr>
          <p:txBody>
            <a:bodyPr wrap="square" rtlCol="0">
              <a:spAutoFit/>
            </a:bodyPr>
            <a:lstStyle/>
            <a:p>
              <a:r>
                <a:rPr lang="en-US"/>
                <a:t>Bấm vào từng khóa học để xem chi tiết và so sánh</a:t>
              </a:r>
            </a:p>
          </p:txBody>
        </p:sp>
      </p:grpSp>
      <p:pic>
        <p:nvPicPr>
          <p:cNvPr id="18" name="Picture 17">
            <a:extLst>
              <a:ext uri="{FF2B5EF4-FFF2-40B4-BE49-F238E27FC236}">
                <a16:creationId xmlns:a16="http://schemas.microsoft.com/office/drawing/2014/main" id="{FB00542D-3DF7-6E32-C5C3-4BFE519CFD5F}"/>
              </a:ext>
            </a:extLst>
          </p:cNvPr>
          <p:cNvPicPr>
            <a:picLocks noChangeAspect="1"/>
          </p:cNvPicPr>
          <p:nvPr/>
        </p:nvPicPr>
        <p:blipFill>
          <a:blip r:embed="rId5"/>
          <a:srcRect b="34661"/>
          <a:stretch>
            <a:fillRect/>
          </a:stretch>
        </p:blipFill>
        <p:spPr>
          <a:xfrm>
            <a:off x="7690255" y="2495599"/>
            <a:ext cx="2908199" cy="1866801"/>
          </a:xfrm>
          <a:prstGeom prst="rect">
            <a:avLst/>
          </a:prstGeom>
        </p:spPr>
      </p:pic>
      <p:sp>
        <p:nvSpPr>
          <p:cNvPr id="19" name="Arrow: Right 18">
            <a:extLst>
              <a:ext uri="{FF2B5EF4-FFF2-40B4-BE49-F238E27FC236}">
                <a16:creationId xmlns:a16="http://schemas.microsoft.com/office/drawing/2014/main" id="{D6C439DB-1514-5FB2-2643-497E58E32B36}"/>
              </a:ext>
            </a:extLst>
          </p:cNvPr>
          <p:cNvSpPr/>
          <p:nvPr/>
        </p:nvSpPr>
        <p:spPr>
          <a:xfrm>
            <a:off x="5198982" y="3350029"/>
            <a:ext cx="1866123" cy="4360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Curved Up 19">
            <a:extLst>
              <a:ext uri="{FF2B5EF4-FFF2-40B4-BE49-F238E27FC236}">
                <a16:creationId xmlns:a16="http://schemas.microsoft.com/office/drawing/2014/main" id="{F456ABF4-E217-FFA1-19C8-8FA7F1000C31}"/>
              </a:ext>
            </a:extLst>
          </p:cNvPr>
          <p:cNvSpPr/>
          <p:nvPr/>
        </p:nvSpPr>
        <p:spPr>
          <a:xfrm rot="16200000">
            <a:off x="10949750" y="2995465"/>
            <a:ext cx="920620" cy="886408"/>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71895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A87AC-83DA-B56F-EED3-FC3CEF7FF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A22C9-8211-8067-B261-62FFABD25A69}"/>
              </a:ext>
            </a:extLst>
          </p:cNvPr>
          <p:cNvSpPr>
            <a:spLocks noGrp="1"/>
          </p:cNvSpPr>
          <p:nvPr>
            <p:ph type="title"/>
          </p:nvPr>
        </p:nvSpPr>
        <p:spPr/>
        <p:txBody>
          <a:bodyPr/>
          <a:lstStyle/>
          <a:p>
            <a:r>
              <a:rPr lang="en-US"/>
              <a:t>Storyboard – Bảng phân cảnh hệ thống mới (TAKK Edu)</a:t>
            </a:r>
          </a:p>
        </p:txBody>
      </p:sp>
      <p:sp>
        <p:nvSpPr>
          <p:cNvPr id="6" name="Slide Number Placeholder 5">
            <a:extLst>
              <a:ext uri="{FF2B5EF4-FFF2-40B4-BE49-F238E27FC236}">
                <a16:creationId xmlns:a16="http://schemas.microsoft.com/office/drawing/2014/main" id="{2B4B3EF5-2B30-51CC-AC57-6C9285B12460}"/>
              </a:ext>
            </a:extLst>
          </p:cNvPr>
          <p:cNvSpPr>
            <a:spLocks noGrp="1"/>
          </p:cNvSpPr>
          <p:nvPr>
            <p:ph type="sldNum" sz="quarter" idx="12"/>
          </p:nvPr>
        </p:nvSpPr>
        <p:spPr/>
        <p:txBody>
          <a:bodyPr/>
          <a:lstStyle/>
          <a:p>
            <a:fld id="{9EA0BE3B-158A-4EDF-80DC-E394A0D1600F}" type="slidenum">
              <a:rPr lang="en-US" smtClean="0"/>
              <a:pPr/>
              <a:t>6</a:t>
            </a:fld>
            <a:endParaRPr lang="en-US"/>
          </a:p>
        </p:txBody>
      </p:sp>
      <p:grpSp>
        <p:nvGrpSpPr>
          <p:cNvPr id="10" name="Group 9">
            <a:extLst>
              <a:ext uri="{FF2B5EF4-FFF2-40B4-BE49-F238E27FC236}">
                <a16:creationId xmlns:a16="http://schemas.microsoft.com/office/drawing/2014/main" id="{FAAE42D7-FA74-1457-1B86-0723BB1C782E}"/>
              </a:ext>
            </a:extLst>
          </p:cNvPr>
          <p:cNvGrpSpPr/>
          <p:nvPr/>
        </p:nvGrpSpPr>
        <p:grpSpPr>
          <a:xfrm>
            <a:off x="683881" y="1236548"/>
            <a:ext cx="3599785" cy="2011785"/>
            <a:chOff x="372284" y="1380930"/>
            <a:chExt cx="5105427" cy="2768458"/>
          </a:xfrm>
        </p:grpSpPr>
        <p:pic>
          <p:nvPicPr>
            <p:cNvPr id="5" name="Graphic 4">
              <a:extLst>
                <a:ext uri="{FF2B5EF4-FFF2-40B4-BE49-F238E27FC236}">
                  <a16:creationId xmlns:a16="http://schemas.microsoft.com/office/drawing/2014/main" id="{ED9B892A-3746-0093-F884-20B5C766F61E}"/>
                </a:ext>
              </a:extLst>
            </p:cNvPr>
            <p:cNvPicPr>
              <a:picLocks noChangeAspect="1"/>
            </p:cNvPicPr>
            <p:nvPr/>
          </p:nvPicPr>
          <p:blipFill>
            <a:blip r:embed="rId2">
              <a:extLst>
                <a:ext uri="{96DAC541-7B7A-43D3-8B79-37D633B846F1}">
                  <asvg:svgBlip xmlns:asvg="http://schemas.microsoft.com/office/drawing/2016/SVG/main" r:embed="rId3"/>
                </a:ext>
              </a:extLst>
            </a:blip>
            <a:srcRect l="5911" t="24005" r="5890" b="25017"/>
            <a:stretch>
              <a:fillRect/>
            </a:stretch>
          </p:blipFill>
          <p:spPr>
            <a:xfrm>
              <a:off x="979714" y="1380930"/>
              <a:ext cx="3890568" cy="2248678"/>
            </a:xfrm>
            <a:prstGeom prst="rect">
              <a:avLst/>
            </a:prstGeom>
          </p:spPr>
        </p:pic>
        <p:sp>
          <p:nvSpPr>
            <p:cNvPr id="9" name="TextBox 8">
              <a:extLst>
                <a:ext uri="{FF2B5EF4-FFF2-40B4-BE49-F238E27FC236}">
                  <a16:creationId xmlns:a16="http://schemas.microsoft.com/office/drawing/2014/main" id="{206393ED-25E2-37C5-5CA7-CAA3E174E4D6}"/>
                </a:ext>
              </a:extLst>
            </p:cNvPr>
            <p:cNvSpPr txBox="1"/>
            <p:nvPr/>
          </p:nvSpPr>
          <p:spPr>
            <a:xfrm>
              <a:off x="372284" y="3683497"/>
              <a:ext cx="5105427" cy="465891"/>
            </a:xfrm>
            <a:prstGeom prst="rect">
              <a:avLst/>
            </a:prstGeom>
            <a:noFill/>
          </p:spPr>
          <p:txBody>
            <a:bodyPr wrap="square" rtlCol="0">
              <a:spAutoFit/>
            </a:bodyPr>
            <a:lstStyle/>
            <a:p>
              <a:r>
                <a:rPr lang="en-US" sz="1600"/>
                <a:t>Một danh sách giới hạn số các khóa học</a:t>
              </a:r>
            </a:p>
          </p:txBody>
        </p:sp>
      </p:grpSp>
      <p:sp>
        <p:nvSpPr>
          <p:cNvPr id="19" name="Arrow: Right 18">
            <a:extLst>
              <a:ext uri="{FF2B5EF4-FFF2-40B4-BE49-F238E27FC236}">
                <a16:creationId xmlns:a16="http://schemas.microsoft.com/office/drawing/2014/main" id="{A4B3BBF5-E447-4B97-FC13-714D979496B1}"/>
              </a:ext>
            </a:extLst>
          </p:cNvPr>
          <p:cNvSpPr/>
          <p:nvPr/>
        </p:nvSpPr>
        <p:spPr>
          <a:xfrm rot="952157">
            <a:off x="5126944" y="2538095"/>
            <a:ext cx="2405560" cy="3169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D6D594E4-2546-96BA-D027-5154F95C566F}"/>
              </a:ext>
            </a:extLst>
          </p:cNvPr>
          <p:cNvGrpSpPr/>
          <p:nvPr/>
        </p:nvGrpSpPr>
        <p:grpSpPr>
          <a:xfrm>
            <a:off x="8336626" y="2696547"/>
            <a:ext cx="2743200" cy="2042214"/>
            <a:chOff x="979714" y="1380930"/>
            <a:chExt cx="3890568" cy="2810332"/>
          </a:xfrm>
        </p:grpSpPr>
        <p:pic>
          <p:nvPicPr>
            <p:cNvPr id="4" name="Graphic 3">
              <a:extLst>
                <a:ext uri="{FF2B5EF4-FFF2-40B4-BE49-F238E27FC236}">
                  <a16:creationId xmlns:a16="http://schemas.microsoft.com/office/drawing/2014/main" id="{D5910E9A-BFB8-0CA0-BB1E-9ADD15EC378B}"/>
                </a:ext>
              </a:extLst>
            </p:cNvPr>
            <p:cNvPicPr>
              <a:picLocks noChangeAspect="1"/>
            </p:cNvPicPr>
            <p:nvPr/>
          </p:nvPicPr>
          <p:blipFill>
            <a:blip r:embed="rId2">
              <a:extLst>
                <a:ext uri="{96DAC541-7B7A-43D3-8B79-37D633B846F1}">
                  <asvg:svgBlip xmlns:asvg="http://schemas.microsoft.com/office/drawing/2016/SVG/main" r:embed="rId3"/>
                </a:ext>
              </a:extLst>
            </a:blip>
            <a:srcRect l="5911" t="24005" r="5890" b="25017"/>
            <a:stretch>
              <a:fillRect/>
            </a:stretch>
          </p:blipFill>
          <p:spPr>
            <a:xfrm>
              <a:off x="979714" y="1380930"/>
              <a:ext cx="3890568" cy="2248678"/>
            </a:xfrm>
            <a:prstGeom prst="rect">
              <a:avLst/>
            </a:prstGeom>
          </p:spPr>
        </p:pic>
        <p:sp>
          <p:nvSpPr>
            <p:cNvPr id="7" name="TextBox 6">
              <a:extLst>
                <a:ext uri="{FF2B5EF4-FFF2-40B4-BE49-F238E27FC236}">
                  <a16:creationId xmlns:a16="http://schemas.microsoft.com/office/drawing/2014/main" id="{FD69F1B2-87D1-49E9-2F7E-4B2FFD55A9C5}"/>
                </a:ext>
              </a:extLst>
            </p:cNvPr>
            <p:cNvSpPr txBox="1"/>
            <p:nvPr/>
          </p:nvSpPr>
          <p:spPr>
            <a:xfrm>
              <a:off x="2312767" y="3725371"/>
              <a:ext cx="1224461" cy="465891"/>
            </a:xfrm>
            <a:prstGeom prst="rect">
              <a:avLst/>
            </a:prstGeom>
            <a:noFill/>
          </p:spPr>
          <p:txBody>
            <a:bodyPr wrap="square" rtlCol="0">
              <a:spAutoFit/>
            </a:bodyPr>
            <a:lstStyle/>
            <a:p>
              <a:r>
                <a:rPr lang="en-US" sz="1600"/>
                <a:t>So sánh</a:t>
              </a:r>
            </a:p>
          </p:txBody>
        </p:sp>
      </p:grpSp>
      <p:grpSp>
        <p:nvGrpSpPr>
          <p:cNvPr id="15" name="Group 14">
            <a:extLst>
              <a:ext uri="{FF2B5EF4-FFF2-40B4-BE49-F238E27FC236}">
                <a16:creationId xmlns:a16="http://schemas.microsoft.com/office/drawing/2014/main" id="{D2F66A85-C8D1-7AC8-860E-A7ADBBDEDFFE}"/>
              </a:ext>
            </a:extLst>
          </p:cNvPr>
          <p:cNvGrpSpPr/>
          <p:nvPr/>
        </p:nvGrpSpPr>
        <p:grpSpPr>
          <a:xfrm>
            <a:off x="1112172" y="4042517"/>
            <a:ext cx="2743200" cy="2050064"/>
            <a:chOff x="979714" y="1380930"/>
            <a:chExt cx="3890568" cy="2821135"/>
          </a:xfrm>
        </p:grpSpPr>
        <p:pic>
          <p:nvPicPr>
            <p:cNvPr id="16" name="Graphic 15">
              <a:extLst>
                <a:ext uri="{FF2B5EF4-FFF2-40B4-BE49-F238E27FC236}">
                  <a16:creationId xmlns:a16="http://schemas.microsoft.com/office/drawing/2014/main" id="{59733489-9484-355D-EF3C-2D4F2A4649FD}"/>
                </a:ext>
              </a:extLst>
            </p:cNvPr>
            <p:cNvPicPr>
              <a:picLocks noChangeAspect="1"/>
            </p:cNvPicPr>
            <p:nvPr/>
          </p:nvPicPr>
          <p:blipFill>
            <a:blip r:embed="rId2">
              <a:extLst>
                <a:ext uri="{96DAC541-7B7A-43D3-8B79-37D633B846F1}">
                  <asvg:svgBlip xmlns:asvg="http://schemas.microsoft.com/office/drawing/2016/SVG/main" r:embed="rId3"/>
                </a:ext>
              </a:extLst>
            </a:blip>
            <a:srcRect l="5911" t="24005" r="5890" b="25017"/>
            <a:stretch>
              <a:fillRect/>
            </a:stretch>
          </p:blipFill>
          <p:spPr>
            <a:xfrm>
              <a:off x="979714" y="1380930"/>
              <a:ext cx="3890568" cy="2248678"/>
            </a:xfrm>
            <a:prstGeom prst="rect">
              <a:avLst/>
            </a:prstGeom>
          </p:spPr>
        </p:pic>
        <p:sp>
          <p:nvSpPr>
            <p:cNvPr id="17" name="TextBox 16">
              <a:extLst>
                <a:ext uri="{FF2B5EF4-FFF2-40B4-BE49-F238E27FC236}">
                  <a16:creationId xmlns:a16="http://schemas.microsoft.com/office/drawing/2014/main" id="{E522F4F9-DF8A-E2F1-7CE8-AF43EBE5210E}"/>
                </a:ext>
              </a:extLst>
            </p:cNvPr>
            <p:cNvSpPr txBox="1"/>
            <p:nvPr/>
          </p:nvSpPr>
          <p:spPr>
            <a:xfrm>
              <a:off x="1736601" y="3736174"/>
              <a:ext cx="2376794" cy="465891"/>
            </a:xfrm>
            <a:prstGeom prst="rect">
              <a:avLst/>
            </a:prstGeom>
            <a:noFill/>
          </p:spPr>
          <p:txBody>
            <a:bodyPr wrap="square" rtlCol="0">
              <a:spAutoFit/>
            </a:bodyPr>
            <a:lstStyle/>
            <a:p>
              <a:r>
                <a:rPr lang="en-US" sz="1600"/>
                <a:t>Đăng ký khóa học</a:t>
              </a:r>
            </a:p>
          </p:txBody>
        </p:sp>
      </p:grpSp>
      <p:sp>
        <p:nvSpPr>
          <p:cNvPr id="21" name="Arrow: Right 20">
            <a:extLst>
              <a:ext uri="{FF2B5EF4-FFF2-40B4-BE49-F238E27FC236}">
                <a16:creationId xmlns:a16="http://schemas.microsoft.com/office/drawing/2014/main" id="{A391DBB8-7176-6298-544A-1B9A0476BF6B}"/>
              </a:ext>
            </a:extLst>
          </p:cNvPr>
          <p:cNvSpPr/>
          <p:nvPr/>
        </p:nvSpPr>
        <p:spPr>
          <a:xfrm rot="10061383">
            <a:off x="5135371" y="4149641"/>
            <a:ext cx="2424051" cy="3169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FB44D3D4-BF8E-C955-C0C6-AACCACAEFEB4}"/>
              </a:ext>
            </a:extLst>
          </p:cNvPr>
          <p:cNvPicPr>
            <a:picLocks noChangeAspect="1"/>
          </p:cNvPicPr>
          <p:nvPr/>
        </p:nvPicPr>
        <p:blipFill>
          <a:blip r:embed="rId4"/>
          <a:stretch>
            <a:fillRect/>
          </a:stretch>
        </p:blipFill>
        <p:spPr>
          <a:xfrm>
            <a:off x="1473859" y="1408922"/>
            <a:ext cx="2003173" cy="1287625"/>
          </a:xfrm>
          <a:prstGeom prst="rect">
            <a:avLst/>
          </a:prstGeom>
        </p:spPr>
      </p:pic>
      <p:pic>
        <p:nvPicPr>
          <p:cNvPr id="25" name="Picture 24">
            <a:extLst>
              <a:ext uri="{FF2B5EF4-FFF2-40B4-BE49-F238E27FC236}">
                <a16:creationId xmlns:a16="http://schemas.microsoft.com/office/drawing/2014/main" id="{3A539ACE-BD0A-B9D0-11DB-BB0D1F2E4AC1}"/>
              </a:ext>
            </a:extLst>
          </p:cNvPr>
          <p:cNvPicPr>
            <a:picLocks noChangeAspect="1"/>
          </p:cNvPicPr>
          <p:nvPr/>
        </p:nvPicPr>
        <p:blipFill>
          <a:blip r:embed="rId5"/>
          <a:stretch>
            <a:fillRect/>
          </a:stretch>
        </p:blipFill>
        <p:spPr>
          <a:xfrm>
            <a:off x="8714792" y="2842258"/>
            <a:ext cx="2018996" cy="1300534"/>
          </a:xfrm>
          <a:prstGeom prst="rect">
            <a:avLst/>
          </a:prstGeom>
        </p:spPr>
      </p:pic>
      <p:pic>
        <p:nvPicPr>
          <p:cNvPr id="27" name="Picture 26">
            <a:extLst>
              <a:ext uri="{FF2B5EF4-FFF2-40B4-BE49-F238E27FC236}">
                <a16:creationId xmlns:a16="http://schemas.microsoft.com/office/drawing/2014/main" id="{0241526F-92DA-1109-62F1-976DF84CE85E}"/>
              </a:ext>
            </a:extLst>
          </p:cNvPr>
          <p:cNvPicPr>
            <a:picLocks noChangeAspect="1"/>
          </p:cNvPicPr>
          <p:nvPr/>
        </p:nvPicPr>
        <p:blipFill>
          <a:blip r:embed="rId6"/>
          <a:srcRect b="24042"/>
          <a:stretch>
            <a:fillRect/>
          </a:stretch>
        </p:blipFill>
        <p:spPr>
          <a:xfrm>
            <a:off x="1473859" y="4180438"/>
            <a:ext cx="2003173" cy="1268640"/>
          </a:xfrm>
          <a:prstGeom prst="rect">
            <a:avLst/>
          </a:prstGeom>
        </p:spPr>
      </p:pic>
    </p:spTree>
    <p:extLst>
      <p:ext uri="{BB962C8B-B14F-4D97-AF65-F5344CB8AC3E}">
        <p14:creationId xmlns:p14="http://schemas.microsoft.com/office/powerpoint/2010/main" val="4142057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7</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43852BD84EE2440ABC538C71FD5CABC" ma:contentTypeVersion="11" ma:contentTypeDescription="Create a new document." ma:contentTypeScope="" ma:versionID="3f790bef5ab025e63253954e165a0704">
  <xsd:schema xmlns:xsd="http://www.w3.org/2001/XMLSchema" xmlns:xs="http://www.w3.org/2001/XMLSchema" xmlns:p="http://schemas.microsoft.com/office/2006/metadata/properties" xmlns:ns2="f911f9c0-5a03-49c4-9b36-857712739a80" xmlns:ns3="3485ab1c-3f2f-420a-94d8-4bedb6f8f8d6" targetNamespace="http://schemas.microsoft.com/office/2006/metadata/properties" ma:root="true" ma:fieldsID="1cf79d56d853a5c1e3b2c017520a74ba" ns2:_="" ns3:_="">
    <xsd:import namespace="f911f9c0-5a03-49c4-9b36-857712739a80"/>
    <xsd:import namespace="3485ab1c-3f2f-420a-94d8-4bedb6f8f8d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11f9c0-5a03-49c4-9b36-857712739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485ab1c-3f2f-420a-94d8-4bedb6f8f8d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8cbeeef-faaf-472a-a6d1-d7d0065acb8d}" ma:internalName="TaxCatchAll" ma:showField="CatchAllData" ma:web="3485ab1c-3f2f-420a-94d8-4bedb6f8f8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911f9c0-5a03-49c4-9b36-857712739a80">
      <Terms xmlns="http://schemas.microsoft.com/office/infopath/2007/PartnerControls"/>
    </lcf76f155ced4ddcb4097134ff3c332f>
    <TaxCatchAll xmlns="3485ab1c-3f2f-420a-94d8-4bedb6f8f8d6" xsi:nil="true"/>
  </documentManagement>
</p:properties>
</file>

<file path=customXml/itemProps1.xml><?xml version="1.0" encoding="utf-8"?>
<ds:datastoreItem xmlns:ds="http://schemas.openxmlformats.org/officeDocument/2006/customXml" ds:itemID="{8C9EB2FA-5C33-4362-AF8C-0A655E3866C3}">
  <ds:schemaRefs>
    <ds:schemaRef ds:uri="http://schemas.microsoft.com/sharepoint/v3/contenttype/forms"/>
  </ds:schemaRefs>
</ds:datastoreItem>
</file>

<file path=customXml/itemProps2.xml><?xml version="1.0" encoding="utf-8"?>
<ds:datastoreItem xmlns:ds="http://schemas.openxmlformats.org/officeDocument/2006/customXml" ds:itemID="{9CE7899A-C9D1-4540-BD83-63DE656FFAE2}"/>
</file>

<file path=customXml/itemProps3.xml><?xml version="1.0" encoding="utf-8"?>
<ds:datastoreItem xmlns:ds="http://schemas.openxmlformats.org/officeDocument/2006/customXml" ds:itemID="{EBA2270F-B6F7-42D1-AB74-5B673397938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0</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Persona – Chân dung người dùng</vt:lpstr>
      <vt:lpstr>Persona – Chân dung người dùng</vt:lpstr>
      <vt:lpstr>User journey map – Bản đồ hành trình người dùng</vt:lpstr>
      <vt:lpstr>Storyboard – Bảng phân cảnh hệ thống cũ (Coursera)</vt:lpstr>
      <vt:lpstr>Storyboard – Bảng phân cảnh hệ thống mới (TAKK Edu)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revision>1</cp:revision>
  <dcterms:created xsi:type="dcterms:W3CDTF">2021-05-28T04:32:29Z</dcterms:created>
  <dcterms:modified xsi:type="dcterms:W3CDTF">2025-11-15T12:56:57Z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0x010100F43852BD84EE2440ABC538C71FD5CABC</vt:lpwstr>
  </property>
</Properties>
</file>