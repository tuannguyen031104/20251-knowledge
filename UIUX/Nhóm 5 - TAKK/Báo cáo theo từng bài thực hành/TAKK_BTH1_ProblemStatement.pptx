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Masters/slideMaster1.xml" ContentType="application/vnd.openxmlformats-officedocument.presentationml.slideMaster+xml"/>
  <Override PartName="/ppt/slideLayouts/slideLayout6.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heme/theme1.xml" ContentType="application/vnd.openxmlformats-officedocument.theme+xml"/>
  <Override PartName="/ppt/theme/theme3.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handoutMasterIdLst>
    <p:handoutMasterId r:id="rId17"/>
  </p:handoutMasterIdLst>
  <p:sldIdLst>
    <p:sldId id="257" r:id="rId2"/>
    <p:sldId id="263" r:id="rId3"/>
    <p:sldId id="267" r:id="rId4"/>
    <p:sldId id="266" r:id="rId5"/>
    <p:sldId id="270" r:id="rId6"/>
    <p:sldId id="268" r:id="rId7"/>
    <p:sldId id="272" r:id="rId8"/>
    <p:sldId id="271" r:id="rId9"/>
    <p:sldId id="275" r:id="rId10"/>
    <p:sldId id="276" r:id="rId11"/>
    <p:sldId id="278" r:id="rId12"/>
    <p:sldId id="279" r:id="rId13"/>
    <p:sldId id="280" r:id="rId14"/>
    <p:sldId id="262"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76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14" autoAdjust="0"/>
    <p:restoredTop sz="94660"/>
  </p:normalViewPr>
  <p:slideViewPr>
    <p:cSldViewPr snapToGrid="0">
      <p:cViewPr>
        <p:scale>
          <a:sx n="75" d="100"/>
          <a:sy n="75" d="100"/>
        </p:scale>
        <p:origin x="926"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ustomXml" Target="../customXml/item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ustomXml" Target="../customXml/item2.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ustomXml" Target="../customXml/item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5EAC724-B034-4F10-A9E8-56851A79B80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20872BB-3892-4F66-9266-36ADB83FAD5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8B45424-6BAC-416C-8F6C-5F9DE854A36B}" type="datetimeFigureOut">
              <a:rPr lang="en-US" smtClean="0"/>
              <a:t>10/22/2025</a:t>
            </a:fld>
            <a:endParaRPr lang="en-US"/>
          </a:p>
        </p:txBody>
      </p:sp>
      <p:sp>
        <p:nvSpPr>
          <p:cNvPr id="4" name="Footer Placeholder 3">
            <a:extLst>
              <a:ext uri="{FF2B5EF4-FFF2-40B4-BE49-F238E27FC236}">
                <a16:creationId xmlns:a16="http://schemas.microsoft.com/office/drawing/2014/main" id="{0ACA138F-B9BA-4997-B3C2-DA8B17B6D5B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EE86FBF-0AC4-4904-8ED7-0BD6E9AC71D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E34D737-83BD-4FDE-8CF3-8BC01E7FCF39}" type="slidenum">
              <a:rPr lang="en-US" smtClean="0"/>
              <a:t>‹#›</a:t>
            </a:fld>
            <a:endParaRPr lang="en-US"/>
          </a:p>
        </p:txBody>
      </p:sp>
    </p:spTree>
    <p:extLst>
      <p:ext uri="{BB962C8B-B14F-4D97-AF65-F5344CB8AC3E}">
        <p14:creationId xmlns:p14="http://schemas.microsoft.com/office/powerpoint/2010/main" val="408907374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733702-C25A-40B9-9167-54BAA79B29B0}" type="datetimeFigureOut">
              <a:rPr lang="en-US" smtClean="0"/>
              <a:t>10/22/2025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2FC7A4-3D1B-482D-8C9D-7642A2CE3076}" type="slidenum">
              <a:rPr lang="en-US" smtClean="0"/>
              <a:t>‹#›</a:t>
            </a:fld>
            <a:endParaRPr lang="en-US"/>
          </a:p>
        </p:txBody>
      </p:sp>
    </p:spTree>
    <p:extLst>
      <p:ext uri="{BB962C8B-B14F-4D97-AF65-F5344CB8AC3E}">
        <p14:creationId xmlns:p14="http://schemas.microsoft.com/office/powerpoint/2010/main" val="398192653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Date Placeholder 3">
            <a:extLst>
              <a:ext uri="{FF2B5EF4-FFF2-40B4-BE49-F238E27FC236}">
                <a16:creationId xmlns:a16="http://schemas.microsoft.com/office/drawing/2014/main" id="{26152509-8D0C-4712-AA81-AF54972C78DB}"/>
              </a:ext>
            </a:extLst>
          </p:cNvPr>
          <p:cNvSpPr>
            <a:spLocks noGrp="1"/>
          </p:cNvSpPr>
          <p:nvPr>
            <p:ph type="dt" sz="half" idx="10"/>
          </p:nvPr>
        </p:nvSpPr>
        <p:spPr>
          <a:xfrm>
            <a:off x="838200" y="6486006"/>
            <a:ext cx="27432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58E92B09-5AF4-4E86-A8BE-E866F0E2C017}" type="datetime1">
              <a:rPr lang="en-US" smtClean="0"/>
              <a:pPr/>
              <a:t>10/22/2025</a:t>
            </a:fld>
            <a:endParaRPr lang="en-US" dirty="0"/>
          </a:p>
        </p:txBody>
      </p:sp>
      <p:sp>
        <p:nvSpPr>
          <p:cNvPr id="10" name="Footer Placeholder 4">
            <a:extLst>
              <a:ext uri="{FF2B5EF4-FFF2-40B4-BE49-F238E27FC236}">
                <a16:creationId xmlns:a16="http://schemas.microsoft.com/office/drawing/2014/main" id="{A9A90DE7-FAAB-4B91-AC83-B18850F1EC89}"/>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11" name="Slide Number Placeholder 5">
            <a:extLst>
              <a:ext uri="{FF2B5EF4-FFF2-40B4-BE49-F238E27FC236}">
                <a16:creationId xmlns:a16="http://schemas.microsoft.com/office/drawing/2014/main" id="{0FD5971E-BD21-416C-BC2E-97EE0E09A50C}"/>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40795750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B30FC03-A82E-4B34-AE4B-8AC40A0CD5B2}"/>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10/22/2025</a:t>
            </a:fld>
            <a:endParaRPr lang="en-US" dirty="0"/>
          </a:p>
        </p:txBody>
      </p:sp>
      <p:sp>
        <p:nvSpPr>
          <p:cNvPr id="5" name="Footer Placeholder 4">
            <a:extLst>
              <a:ext uri="{FF2B5EF4-FFF2-40B4-BE49-F238E27FC236}">
                <a16:creationId xmlns:a16="http://schemas.microsoft.com/office/drawing/2014/main" id="{D149FB7E-C73B-452D-861A-6C73FF59EC96}"/>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6" name="Slide Number Placeholder 5">
            <a:extLst>
              <a:ext uri="{FF2B5EF4-FFF2-40B4-BE49-F238E27FC236}">
                <a16:creationId xmlns:a16="http://schemas.microsoft.com/office/drawing/2014/main" id="{8A5733BD-32DD-483E-A597-B70529CBDA53}"/>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7" name="Title 8">
            <a:extLst>
              <a:ext uri="{FF2B5EF4-FFF2-40B4-BE49-F238E27FC236}">
                <a16:creationId xmlns:a16="http://schemas.microsoft.com/office/drawing/2014/main" id="{DEAFB3E9-4F5E-435C-B51A-CC5766A852DA}"/>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1:……………………………………..</a:t>
            </a:r>
          </a:p>
        </p:txBody>
      </p:sp>
      <p:sp>
        <p:nvSpPr>
          <p:cNvPr id="8" name="Content Placeholder 7">
            <a:extLst>
              <a:ext uri="{FF2B5EF4-FFF2-40B4-BE49-F238E27FC236}">
                <a16:creationId xmlns:a16="http://schemas.microsoft.com/office/drawing/2014/main" id="{69C57778-6639-411E-9B4C-12D035AECE27}"/>
              </a:ext>
            </a:extLst>
          </p:cNvPr>
          <p:cNvSpPr>
            <a:spLocks noGrp="1"/>
          </p:cNvSpPr>
          <p:nvPr>
            <p:ph sz="quarter" idx="13"/>
          </p:nvPr>
        </p:nvSpPr>
        <p:spPr>
          <a:xfrm>
            <a:off x="338736" y="1058844"/>
            <a:ext cx="11514528" cy="4909124"/>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7613295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84B5929F-A28F-4256-A6B2-5D095331D016}"/>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B3ACFEBC-8634-4116-B617-2BE5C2034C2C}" type="datetime1">
              <a:rPr lang="en-US" smtClean="0"/>
              <a:pPr/>
              <a:t>10/22/2025</a:t>
            </a:fld>
            <a:endParaRPr lang="en-US" dirty="0"/>
          </a:p>
        </p:txBody>
      </p:sp>
      <p:sp>
        <p:nvSpPr>
          <p:cNvPr id="9" name="Footer Placeholder 4">
            <a:extLst>
              <a:ext uri="{FF2B5EF4-FFF2-40B4-BE49-F238E27FC236}">
                <a16:creationId xmlns:a16="http://schemas.microsoft.com/office/drawing/2014/main" id="{7C2F339A-915E-4496-B889-28FBBAAD3123}"/>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10" name="Slide Number Placeholder 5">
            <a:extLst>
              <a:ext uri="{FF2B5EF4-FFF2-40B4-BE49-F238E27FC236}">
                <a16:creationId xmlns:a16="http://schemas.microsoft.com/office/drawing/2014/main" id="{028A2E5F-7F4D-4F39-A494-67088E8046DE}"/>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1" name="Title 8">
            <a:extLst>
              <a:ext uri="{FF2B5EF4-FFF2-40B4-BE49-F238E27FC236}">
                <a16:creationId xmlns:a16="http://schemas.microsoft.com/office/drawing/2014/main" id="{FC0C4515-8106-49DA-9C06-E98AF815242A}"/>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2:……………………………………..</a:t>
            </a:r>
          </a:p>
        </p:txBody>
      </p:sp>
      <p:sp>
        <p:nvSpPr>
          <p:cNvPr id="12" name="Chart Placeholder 9">
            <a:extLst>
              <a:ext uri="{FF2B5EF4-FFF2-40B4-BE49-F238E27FC236}">
                <a16:creationId xmlns:a16="http://schemas.microsoft.com/office/drawing/2014/main" id="{F49327FB-190B-40C4-9FC9-66F9F7D12317}"/>
              </a:ext>
            </a:extLst>
          </p:cNvPr>
          <p:cNvSpPr>
            <a:spLocks noGrp="1"/>
          </p:cNvSpPr>
          <p:nvPr>
            <p:ph type="chart" sz="quarter" idx="13" hasCustomPrompt="1"/>
          </p:nvPr>
        </p:nvSpPr>
        <p:spPr>
          <a:xfrm>
            <a:off x="330201" y="1406769"/>
            <a:ext cx="5765800" cy="4655894"/>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Chart</a:t>
            </a:r>
          </a:p>
        </p:txBody>
      </p:sp>
      <p:sp>
        <p:nvSpPr>
          <p:cNvPr id="13" name="Picture Placeholder 11">
            <a:extLst>
              <a:ext uri="{FF2B5EF4-FFF2-40B4-BE49-F238E27FC236}">
                <a16:creationId xmlns:a16="http://schemas.microsoft.com/office/drawing/2014/main" id="{733EBCBB-E1FE-415C-8ED9-6D1F36748478}"/>
              </a:ext>
            </a:extLst>
          </p:cNvPr>
          <p:cNvSpPr>
            <a:spLocks noGrp="1"/>
          </p:cNvSpPr>
          <p:nvPr>
            <p:ph type="pic" sz="quarter" idx="14" hasCustomPrompt="1"/>
          </p:nvPr>
        </p:nvSpPr>
        <p:spPr>
          <a:xfrm>
            <a:off x="6238875" y="1414463"/>
            <a:ext cx="5445125" cy="4656137"/>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Picture</a:t>
            </a:r>
          </a:p>
        </p:txBody>
      </p:sp>
    </p:spTree>
    <p:extLst>
      <p:ext uri="{BB962C8B-B14F-4D97-AF65-F5344CB8AC3E}">
        <p14:creationId xmlns:p14="http://schemas.microsoft.com/office/powerpoint/2010/main" val="38876699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itle 8">
            <a:extLst>
              <a:ext uri="{FF2B5EF4-FFF2-40B4-BE49-F238E27FC236}">
                <a16:creationId xmlns:a16="http://schemas.microsoft.com/office/drawing/2014/main" id="{3E6AE9CF-41FF-46D0-BF7A-815E4777895E}"/>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3:……………………………………..</a:t>
            </a:r>
          </a:p>
        </p:txBody>
      </p:sp>
      <p:sp>
        <p:nvSpPr>
          <p:cNvPr id="12" name="Text Placeholder 9">
            <a:extLst>
              <a:ext uri="{FF2B5EF4-FFF2-40B4-BE49-F238E27FC236}">
                <a16:creationId xmlns:a16="http://schemas.microsoft.com/office/drawing/2014/main" id="{A85E41C6-3987-4F5C-A750-35F5C730A567}"/>
              </a:ext>
            </a:extLst>
          </p:cNvPr>
          <p:cNvSpPr>
            <a:spLocks noGrp="1"/>
          </p:cNvSpPr>
          <p:nvPr>
            <p:ph type="body" sz="quarter" idx="13"/>
          </p:nvPr>
        </p:nvSpPr>
        <p:spPr>
          <a:xfrm>
            <a:off x="337539" y="1032510"/>
            <a:ext cx="11515725" cy="493871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Date Placeholder 3">
            <a:extLst>
              <a:ext uri="{FF2B5EF4-FFF2-40B4-BE49-F238E27FC236}">
                <a16:creationId xmlns:a16="http://schemas.microsoft.com/office/drawing/2014/main" id="{C99BA7CA-DC84-4A35-BD8A-C14D582181A5}"/>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8CDB0C24-DFE0-41C5-B02D-FC32F5C22F7C}" type="datetime1">
              <a:rPr lang="en-US" smtClean="0"/>
              <a:pPr/>
              <a:t>10/22/2025</a:t>
            </a:fld>
            <a:endParaRPr lang="en-US" dirty="0"/>
          </a:p>
        </p:txBody>
      </p:sp>
      <p:sp>
        <p:nvSpPr>
          <p:cNvPr id="14" name="Footer Placeholder 4">
            <a:extLst>
              <a:ext uri="{FF2B5EF4-FFF2-40B4-BE49-F238E27FC236}">
                <a16:creationId xmlns:a16="http://schemas.microsoft.com/office/drawing/2014/main" id="{E1DCC345-F4E6-42D6-9173-88011D0E2741}"/>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15" name="Slide Number Placeholder 5">
            <a:extLst>
              <a:ext uri="{FF2B5EF4-FFF2-40B4-BE49-F238E27FC236}">
                <a16:creationId xmlns:a16="http://schemas.microsoft.com/office/drawing/2014/main" id="{BD82AFB1-CD7C-4710-A82A-F9FEE6DA5C86}"/>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9581265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98A78F82-82C6-4F07-B7D8-4A1219A1BB45}"/>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19A9EFEF-A194-4819-82D7-1112425D0E86}" type="datetime1">
              <a:rPr lang="en-US" smtClean="0"/>
              <a:pPr/>
              <a:t>10/22/2025</a:t>
            </a:fld>
            <a:endParaRPr lang="en-US"/>
          </a:p>
        </p:txBody>
      </p:sp>
      <p:sp>
        <p:nvSpPr>
          <p:cNvPr id="8" name="Footer Placeholder 4">
            <a:extLst>
              <a:ext uri="{FF2B5EF4-FFF2-40B4-BE49-F238E27FC236}">
                <a16:creationId xmlns:a16="http://schemas.microsoft.com/office/drawing/2014/main" id="{12041C72-5CA2-4523-9F1E-50662A3276CE}"/>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9" name="Slide Number Placeholder 5">
            <a:extLst>
              <a:ext uri="{FF2B5EF4-FFF2-40B4-BE49-F238E27FC236}">
                <a16:creationId xmlns:a16="http://schemas.microsoft.com/office/drawing/2014/main" id="{3AD6B24F-6759-4931-A1C4-77BA8AF7E085}"/>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0" name="Title 8">
            <a:extLst>
              <a:ext uri="{FF2B5EF4-FFF2-40B4-BE49-F238E27FC236}">
                <a16:creationId xmlns:a16="http://schemas.microsoft.com/office/drawing/2014/main" id="{1CD850F7-B0EC-49AD-960D-051EAF5F36DD}"/>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4:……………………………………..</a:t>
            </a:r>
          </a:p>
        </p:txBody>
      </p:sp>
      <p:sp>
        <p:nvSpPr>
          <p:cNvPr id="11" name="Chart Placeholder 14">
            <a:extLst>
              <a:ext uri="{FF2B5EF4-FFF2-40B4-BE49-F238E27FC236}">
                <a16:creationId xmlns:a16="http://schemas.microsoft.com/office/drawing/2014/main" id="{4A80550F-98CB-400B-9D36-210A7AED20E8}"/>
              </a:ext>
            </a:extLst>
          </p:cNvPr>
          <p:cNvSpPr>
            <a:spLocks noGrp="1"/>
          </p:cNvSpPr>
          <p:nvPr>
            <p:ph type="chart" sz="quarter" idx="13" hasCustomPrompt="1"/>
          </p:nvPr>
        </p:nvSpPr>
        <p:spPr>
          <a:xfrm>
            <a:off x="338736" y="1406525"/>
            <a:ext cx="5757264" cy="4670425"/>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Chart</a:t>
            </a:r>
          </a:p>
        </p:txBody>
      </p:sp>
      <p:sp>
        <p:nvSpPr>
          <p:cNvPr id="12" name="Table Placeholder 16">
            <a:extLst>
              <a:ext uri="{FF2B5EF4-FFF2-40B4-BE49-F238E27FC236}">
                <a16:creationId xmlns:a16="http://schemas.microsoft.com/office/drawing/2014/main" id="{15345DA2-1E92-473D-9483-A24F87614F3D}"/>
              </a:ext>
            </a:extLst>
          </p:cNvPr>
          <p:cNvSpPr>
            <a:spLocks noGrp="1"/>
          </p:cNvSpPr>
          <p:nvPr>
            <p:ph type="tbl" sz="quarter" idx="14" hasCustomPrompt="1"/>
          </p:nvPr>
        </p:nvSpPr>
        <p:spPr>
          <a:xfrm>
            <a:off x="6210300" y="1392239"/>
            <a:ext cx="5592763" cy="468471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Table</a:t>
            </a:r>
          </a:p>
        </p:txBody>
      </p:sp>
    </p:spTree>
    <p:extLst>
      <p:ext uri="{BB962C8B-B14F-4D97-AF65-F5344CB8AC3E}">
        <p14:creationId xmlns:p14="http://schemas.microsoft.com/office/powerpoint/2010/main" val="324268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4F1F29B1-F2F8-4527-A0B9-5A566F0DB568}"/>
              </a:ext>
            </a:extLst>
          </p:cNvPr>
          <p:cNvSpPr>
            <a:spLocks noGrp="1"/>
          </p:cNvSpPr>
          <p:nvPr>
            <p:ph type="dt" sz="half" idx="10"/>
          </p:nvPr>
        </p:nvSpPr>
        <p:spPr>
          <a:xfrm>
            <a:off x="838200" y="6486006"/>
            <a:ext cx="2743200" cy="365125"/>
          </a:xfrm>
          <a:prstGeom prst="rect">
            <a:avLst/>
          </a:prstGeom>
        </p:spPr>
        <p:txBody>
          <a:bodyPr/>
          <a:lstStyle>
            <a:lvl1pPr>
              <a:defRPr sz="12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fld id="{EEBFCEF3-2DDE-476B-8A96-303EC557333C}" type="datetime1">
              <a:rPr lang="en-US" smtClean="0"/>
              <a:pPr/>
              <a:t>10/22/2025</a:t>
            </a:fld>
            <a:endParaRPr lang="en-US"/>
          </a:p>
        </p:txBody>
      </p:sp>
      <p:sp>
        <p:nvSpPr>
          <p:cNvPr id="7" name="Footer Placeholder 4">
            <a:extLst>
              <a:ext uri="{FF2B5EF4-FFF2-40B4-BE49-F238E27FC236}">
                <a16:creationId xmlns:a16="http://schemas.microsoft.com/office/drawing/2014/main" id="{B1F89192-9608-4DA0-9D58-CE5D74F0161B}"/>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8" name="Slide Number Placeholder 5">
            <a:extLst>
              <a:ext uri="{FF2B5EF4-FFF2-40B4-BE49-F238E27FC236}">
                <a16:creationId xmlns:a16="http://schemas.microsoft.com/office/drawing/2014/main" id="{41300396-45C9-472A-AA37-70408F1C2FAF}"/>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9" name="Content Placeholder 4">
            <a:extLst>
              <a:ext uri="{FF2B5EF4-FFF2-40B4-BE49-F238E27FC236}">
                <a16:creationId xmlns:a16="http://schemas.microsoft.com/office/drawing/2014/main" id="{45B855E6-8413-49D5-929E-33A3B3627516}"/>
              </a:ext>
            </a:extLst>
          </p:cNvPr>
          <p:cNvSpPr>
            <a:spLocks noGrp="1"/>
          </p:cNvSpPr>
          <p:nvPr>
            <p:ph sz="quarter" idx="13"/>
          </p:nvPr>
        </p:nvSpPr>
        <p:spPr>
          <a:xfrm>
            <a:off x="4558372" y="1248325"/>
            <a:ext cx="7391400" cy="520541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itle 8">
            <a:extLst>
              <a:ext uri="{FF2B5EF4-FFF2-40B4-BE49-F238E27FC236}">
                <a16:creationId xmlns:a16="http://schemas.microsoft.com/office/drawing/2014/main" id="{AB6BBE52-BFE6-4B4F-95C1-25C2EB84A64F}"/>
              </a:ext>
            </a:extLst>
          </p:cNvPr>
          <p:cNvSpPr>
            <a:spLocks noGrp="1"/>
          </p:cNvSpPr>
          <p:nvPr>
            <p:ph type="title" hasCustomPrompt="1"/>
          </p:nvPr>
        </p:nvSpPr>
        <p:spPr>
          <a:xfrm>
            <a:off x="4558372" y="404265"/>
            <a:ext cx="7391400" cy="436098"/>
          </a:xfrm>
          <a:prstGeom prst="rect">
            <a:avLst/>
          </a:prstGeom>
        </p:spPr>
        <p:txBody>
          <a:bodyPr/>
          <a:lstStyle>
            <a:lvl1pPr>
              <a:defRPr sz="2800" b="1">
                <a:solidFill>
                  <a:schemeClr val="tx1"/>
                </a:solidFill>
                <a:latin typeface="Lato" panose="020F0502020204030203" pitchFamily="34" charset="0"/>
                <a:ea typeface="Lato" panose="020F0502020204030203" pitchFamily="34" charset="0"/>
                <a:cs typeface="Lato" panose="020F0502020204030203" pitchFamily="34" charset="0"/>
              </a:defRPr>
            </a:lvl1pPr>
          </a:lstStyle>
          <a:p>
            <a:r>
              <a:rPr lang="en-US" dirty="0"/>
              <a:t>Title 5:……………………………………..</a:t>
            </a:r>
          </a:p>
        </p:txBody>
      </p:sp>
    </p:spTree>
    <p:extLst>
      <p:ext uri="{BB962C8B-B14F-4D97-AF65-F5344CB8AC3E}">
        <p14:creationId xmlns:p14="http://schemas.microsoft.com/office/powerpoint/2010/main" val="41134391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itle 8">
            <a:extLst>
              <a:ext uri="{FF2B5EF4-FFF2-40B4-BE49-F238E27FC236}">
                <a16:creationId xmlns:a16="http://schemas.microsoft.com/office/drawing/2014/main" id="{3E6AE9CF-41FF-46D0-BF7A-815E4777895E}"/>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6:……………………………………..</a:t>
            </a:r>
          </a:p>
        </p:txBody>
      </p:sp>
      <p:sp>
        <p:nvSpPr>
          <p:cNvPr id="12" name="Text Placeholder 9">
            <a:extLst>
              <a:ext uri="{FF2B5EF4-FFF2-40B4-BE49-F238E27FC236}">
                <a16:creationId xmlns:a16="http://schemas.microsoft.com/office/drawing/2014/main" id="{A85E41C6-3987-4F5C-A750-35F5C730A567}"/>
              </a:ext>
            </a:extLst>
          </p:cNvPr>
          <p:cNvSpPr>
            <a:spLocks noGrp="1"/>
          </p:cNvSpPr>
          <p:nvPr>
            <p:ph type="body" sz="quarter" idx="13"/>
          </p:nvPr>
        </p:nvSpPr>
        <p:spPr>
          <a:xfrm>
            <a:off x="337539" y="1032510"/>
            <a:ext cx="11515725" cy="493871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Date Placeholder 3">
            <a:extLst>
              <a:ext uri="{FF2B5EF4-FFF2-40B4-BE49-F238E27FC236}">
                <a16:creationId xmlns:a16="http://schemas.microsoft.com/office/drawing/2014/main" id="{C99BA7CA-DC84-4A35-BD8A-C14D582181A5}"/>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8CDB0C24-DFE0-41C5-B02D-FC32F5C22F7C}" type="datetime1">
              <a:rPr lang="en-US" smtClean="0"/>
              <a:pPr/>
              <a:t>10/22/2025</a:t>
            </a:fld>
            <a:endParaRPr lang="en-US"/>
          </a:p>
        </p:txBody>
      </p:sp>
      <p:sp>
        <p:nvSpPr>
          <p:cNvPr id="14" name="Footer Placeholder 4">
            <a:extLst>
              <a:ext uri="{FF2B5EF4-FFF2-40B4-BE49-F238E27FC236}">
                <a16:creationId xmlns:a16="http://schemas.microsoft.com/office/drawing/2014/main" id="{E1DCC345-F4E6-42D6-9173-88011D0E2741}"/>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15" name="Slide Number Placeholder 5">
            <a:extLst>
              <a:ext uri="{FF2B5EF4-FFF2-40B4-BE49-F238E27FC236}">
                <a16:creationId xmlns:a16="http://schemas.microsoft.com/office/drawing/2014/main" id="{BD82AFB1-CD7C-4710-A82A-F9FEE6DA5C86}"/>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17913358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84B5929F-A28F-4256-A6B2-5D095331D016}"/>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B3ACFEBC-8634-4116-B617-2BE5C2034C2C}" type="datetime1">
              <a:rPr lang="en-US" smtClean="0"/>
              <a:pPr/>
              <a:t>10/22/2025</a:t>
            </a:fld>
            <a:endParaRPr lang="en-US"/>
          </a:p>
        </p:txBody>
      </p:sp>
      <p:sp>
        <p:nvSpPr>
          <p:cNvPr id="9" name="Footer Placeholder 4">
            <a:extLst>
              <a:ext uri="{FF2B5EF4-FFF2-40B4-BE49-F238E27FC236}">
                <a16:creationId xmlns:a16="http://schemas.microsoft.com/office/drawing/2014/main" id="{7C2F339A-915E-4496-B889-28FBBAAD3123}"/>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0" name="Slide Number Placeholder 5">
            <a:extLst>
              <a:ext uri="{FF2B5EF4-FFF2-40B4-BE49-F238E27FC236}">
                <a16:creationId xmlns:a16="http://schemas.microsoft.com/office/drawing/2014/main" id="{028A2E5F-7F4D-4F39-A494-67088E8046DE}"/>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1" name="Title 8">
            <a:extLst>
              <a:ext uri="{FF2B5EF4-FFF2-40B4-BE49-F238E27FC236}">
                <a16:creationId xmlns:a16="http://schemas.microsoft.com/office/drawing/2014/main" id="{FC0C4515-8106-49DA-9C06-E98AF815242A}"/>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7:……………………………………..</a:t>
            </a:r>
          </a:p>
        </p:txBody>
      </p:sp>
      <p:sp>
        <p:nvSpPr>
          <p:cNvPr id="12" name="Chart Placeholder 9">
            <a:extLst>
              <a:ext uri="{FF2B5EF4-FFF2-40B4-BE49-F238E27FC236}">
                <a16:creationId xmlns:a16="http://schemas.microsoft.com/office/drawing/2014/main" id="{F49327FB-190B-40C4-9FC9-66F9F7D12317}"/>
              </a:ext>
            </a:extLst>
          </p:cNvPr>
          <p:cNvSpPr>
            <a:spLocks noGrp="1"/>
          </p:cNvSpPr>
          <p:nvPr>
            <p:ph type="chart" sz="quarter" idx="13" hasCustomPrompt="1"/>
          </p:nvPr>
        </p:nvSpPr>
        <p:spPr>
          <a:xfrm>
            <a:off x="330201" y="1406769"/>
            <a:ext cx="5765800" cy="4655894"/>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Chart</a:t>
            </a:r>
          </a:p>
        </p:txBody>
      </p:sp>
      <p:sp>
        <p:nvSpPr>
          <p:cNvPr id="13" name="Picture Placeholder 11">
            <a:extLst>
              <a:ext uri="{FF2B5EF4-FFF2-40B4-BE49-F238E27FC236}">
                <a16:creationId xmlns:a16="http://schemas.microsoft.com/office/drawing/2014/main" id="{733EBCBB-E1FE-415C-8ED9-6D1F36748478}"/>
              </a:ext>
            </a:extLst>
          </p:cNvPr>
          <p:cNvSpPr>
            <a:spLocks noGrp="1"/>
          </p:cNvSpPr>
          <p:nvPr>
            <p:ph type="pic" sz="quarter" idx="14" hasCustomPrompt="1"/>
          </p:nvPr>
        </p:nvSpPr>
        <p:spPr>
          <a:xfrm>
            <a:off x="6238875" y="1414463"/>
            <a:ext cx="5445125" cy="4656137"/>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Picture</a:t>
            </a:r>
          </a:p>
        </p:txBody>
      </p:sp>
    </p:spTree>
    <p:extLst>
      <p:ext uri="{BB962C8B-B14F-4D97-AF65-F5344CB8AC3E}">
        <p14:creationId xmlns:p14="http://schemas.microsoft.com/office/powerpoint/2010/main" val="9605850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itle 8">
            <a:extLst>
              <a:ext uri="{FF2B5EF4-FFF2-40B4-BE49-F238E27FC236}">
                <a16:creationId xmlns:a16="http://schemas.microsoft.com/office/drawing/2014/main" id="{3E6AE9CF-41FF-46D0-BF7A-815E4777895E}"/>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8:……………………………………..</a:t>
            </a:r>
          </a:p>
        </p:txBody>
      </p:sp>
      <p:sp>
        <p:nvSpPr>
          <p:cNvPr id="12" name="Text Placeholder 9">
            <a:extLst>
              <a:ext uri="{FF2B5EF4-FFF2-40B4-BE49-F238E27FC236}">
                <a16:creationId xmlns:a16="http://schemas.microsoft.com/office/drawing/2014/main" id="{A85E41C6-3987-4F5C-A750-35F5C730A567}"/>
              </a:ext>
            </a:extLst>
          </p:cNvPr>
          <p:cNvSpPr>
            <a:spLocks noGrp="1"/>
          </p:cNvSpPr>
          <p:nvPr>
            <p:ph type="body" sz="quarter" idx="13"/>
          </p:nvPr>
        </p:nvSpPr>
        <p:spPr>
          <a:xfrm>
            <a:off x="337539" y="1032510"/>
            <a:ext cx="11515725" cy="493871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Date Placeholder 3">
            <a:extLst>
              <a:ext uri="{FF2B5EF4-FFF2-40B4-BE49-F238E27FC236}">
                <a16:creationId xmlns:a16="http://schemas.microsoft.com/office/drawing/2014/main" id="{C99BA7CA-DC84-4A35-BD8A-C14D582181A5}"/>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8CDB0C24-DFE0-41C5-B02D-FC32F5C22F7C}" type="datetime1">
              <a:rPr lang="en-US" smtClean="0"/>
              <a:pPr/>
              <a:t>10/22/2025</a:t>
            </a:fld>
            <a:endParaRPr lang="en-US"/>
          </a:p>
        </p:txBody>
      </p:sp>
      <p:sp>
        <p:nvSpPr>
          <p:cNvPr id="14" name="Footer Placeholder 4">
            <a:extLst>
              <a:ext uri="{FF2B5EF4-FFF2-40B4-BE49-F238E27FC236}">
                <a16:creationId xmlns:a16="http://schemas.microsoft.com/office/drawing/2014/main" id="{E1DCC345-F4E6-42D6-9173-88011D0E2741}"/>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15" name="Slide Number Placeholder 5">
            <a:extLst>
              <a:ext uri="{FF2B5EF4-FFF2-40B4-BE49-F238E27FC236}">
                <a16:creationId xmlns:a16="http://schemas.microsoft.com/office/drawing/2014/main" id="{BD82AFB1-CD7C-4710-A82A-F9FEE6DA5C86}"/>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27500320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84B5929F-A28F-4256-A6B2-5D095331D016}"/>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B3ACFEBC-8634-4116-B617-2BE5C2034C2C}" type="datetime1">
              <a:rPr lang="en-US" smtClean="0"/>
              <a:pPr/>
              <a:t>10/22/2025</a:t>
            </a:fld>
            <a:endParaRPr lang="en-US"/>
          </a:p>
        </p:txBody>
      </p:sp>
      <p:sp>
        <p:nvSpPr>
          <p:cNvPr id="9" name="Footer Placeholder 4">
            <a:extLst>
              <a:ext uri="{FF2B5EF4-FFF2-40B4-BE49-F238E27FC236}">
                <a16:creationId xmlns:a16="http://schemas.microsoft.com/office/drawing/2014/main" id="{7C2F339A-915E-4496-B889-28FBBAAD3123}"/>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0" name="Slide Number Placeholder 5">
            <a:extLst>
              <a:ext uri="{FF2B5EF4-FFF2-40B4-BE49-F238E27FC236}">
                <a16:creationId xmlns:a16="http://schemas.microsoft.com/office/drawing/2014/main" id="{028A2E5F-7F4D-4F39-A494-67088E8046DE}"/>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1" name="Title 8">
            <a:extLst>
              <a:ext uri="{FF2B5EF4-FFF2-40B4-BE49-F238E27FC236}">
                <a16:creationId xmlns:a16="http://schemas.microsoft.com/office/drawing/2014/main" id="{FC0C4515-8106-49DA-9C06-E98AF815242A}"/>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9:……………………………………..</a:t>
            </a:r>
          </a:p>
        </p:txBody>
      </p:sp>
      <p:sp>
        <p:nvSpPr>
          <p:cNvPr id="12" name="Chart Placeholder 9">
            <a:extLst>
              <a:ext uri="{FF2B5EF4-FFF2-40B4-BE49-F238E27FC236}">
                <a16:creationId xmlns:a16="http://schemas.microsoft.com/office/drawing/2014/main" id="{F49327FB-190B-40C4-9FC9-66F9F7D12317}"/>
              </a:ext>
            </a:extLst>
          </p:cNvPr>
          <p:cNvSpPr>
            <a:spLocks noGrp="1"/>
          </p:cNvSpPr>
          <p:nvPr>
            <p:ph type="chart" sz="quarter" idx="13" hasCustomPrompt="1"/>
          </p:nvPr>
        </p:nvSpPr>
        <p:spPr>
          <a:xfrm>
            <a:off x="330201" y="1406769"/>
            <a:ext cx="5765800" cy="4655894"/>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Chart</a:t>
            </a:r>
          </a:p>
        </p:txBody>
      </p:sp>
      <p:sp>
        <p:nvSpPr>
          <p:cNvPr id="13" name="Picture Placeholder 11">
            <a:extLst>
              <a:ext uri="{FF2B5EF4-FFF2-40B4-BE49-F238E27FC236}">
                <a16:creationId xmlns:a16="http://schemas.microsoft.com/office/drawing/2014/main" id="{733EBCBB-E1FE-415C-8ED9-6D1F36748478}"/>
              </a:ext>
            </a:extLst>
          </p:cNvPr>
          <p:cNvSpPr>
            <a:spLocks noGrp="1"/>
          </p:cNvSpPr>
          <p:nvPr>
            <p:ph type="pic" sz="quarter" idx="14" hasCustomPrompt="1"/>
          </p:nvPr>
        </p:nvSpPr>
        <p:spPr>
          <a:xfrm>
            <a:off x="6238875" y="1414463"/>
            <a:ext cx="5445125" cy="4656137"/>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Picture</a:t>
            </a:r>
          </a:p>
        </p:txBody>
      </p:sp>
    </p:spTree>
    <p:extLst>
      <p:ext uri="{BB962C8B-B14F-4D97-AF65-F5344CB8AC3E}">
        <p14:creationId xmlns:p14="http://schemas.microsoft.com/office/powerpoint/2010/main" val="12262005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A21A061D-9F38-49ED-BAF8-8055D9FB97A5}"/>
              </a:ext>
            </a:extLst>
          </p:cNvPr>
          <p:cNvSpPr>
            <a:spLocks noGrp="1"/>
          </p:cNvSpPr>
          <p:nvPr>
            <p:ph type="dt" sz="half" idx="10"/>
          </p:nvPr>
        </p:nvSpPr>
        <p:spPr>
          <a:xfrm>
            <a:off x="838200" y="6492875"/>
            <a:ext cx="2743200" cy="365125"/>
          </a:xfrm>
          <a:prstGeom prst="rect">
            <a:avLst/>
          </a:prstGeom>
        </p:spPr>
        <p:txBody>
          <a:bodyPr/>
          <a:lstStyle>
            <a:lvl1pPr>
              <a:defRPr sz="12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fld id="{82F65D4C-DEE4-4C7B-91C4-D6D57A523E98}" type="datetime1">
              <a:rPr lang="en-US" smtClean="0"/>
              <a:pPr/>
              <a:t>10/22/2025</a:t>
            </a:fld>
            <a:endParaRPr lang="en-US"/>
          </a:p>
        </p:txBody>
      </p:sp>
      <p:sp>
        <p:nvSpPr>
          <p:cNvPr id="9" name="Footer Placeholder 4">
            <a:extLst>
              <a:ext uri="{FF2B5EF4-FFF2-40B4-BE49-F238E27FC236}">
                <a16:creationId xmlns:a16="http://schemas.microsoft.com/office/drawing/2014/main" id="{490FAA6E-46AD-4366-8E80-2F5BEB7D5B24}"/>
              </a:ext>
            </a:extLst>
          </p:cNvPr>
          <p:cNvSpPr>
            <a:spLocks noGrp="1"/>
          </p:cNvSpPr>
          <p:nvPr>
            <p:ph type="ftr" sz="quarter" idx="11"/>
          </p:nvPr>
        </p:nvSpPr>
        <p:spPr>
          <a:xfrm>
            <a:off x="4038600" y="6492875"/>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10" name="Slide Number Placeholder 5">
            <a:extLst>
              <a:ext uri="{FF2B5EF4-FFF2-40B4-BE49-F238E27FC236}">
                <a16:creationId xmlns:a16="http://schemas.microsoft.com/office/drawing/2014/main" id="{9A5604C7-0828-446E-97CC-8D6162E69E60}"/>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20148816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560333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4">
            <a:extLst>
              <a:ext uri="{FF2B5EF4-FFF2-40B4-BE49-F238E27FC236}">
                <a16:creationId xmlns:a16="http://schemas.microsoft.com/office/drawing/2014/main" id="{4C167836-5AFF-4757-AB55-39FD3BBF9D47}"/>
              </a:ext>
            </a:extLst>
          </p:cNvPr>
          <p:cNvSpPr>
            <a:spLocks noGrp="1"/>
          </p:cNvSpPr>
          <p:nvPr>
            <p:ph type="title" hasCustomPrompt="1"/>
          </p:nvPr>
        </p:nvSpPr>
        <p:spPr>
          <a:xfrm>
            <a:off x="3788898" y="2461846"/>
            <a:ext cx="4614203" cy="1934307"/>
          </a:xfrm>
          <a:prstGeom prst="rect">
            <a:avLst/>
          </a:prstGeom>
        </p:spPr>
        <p:txBody>
          <a:bodyPr/>
          <a:lstStyle>
            <a:lvl1pPr algn="ctr">
              <a:defRPr sz="4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CLICK TO EDIT MASTER TITLE STYLE</a:t>
            </a:r>
          </a:p>
        </p:txBody>
      </p:sp>
    </p:spTree>
    <p:extLst>
      <p:ext uri="{BB962C8B-B14F-4D97-AF65-F5344CB8AC3E}">
        <p14:creationId xmlns:p14="http://schemas.microsoft.com/office/powerpoint/2010/main" val="29815202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09543385"/>
      </p:ext>
    </p:extLst>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5" r:id="rId5"/>
    <p:sldLayoutId id="2147483654" r:id="rId6"/>
    <p:sldLayoutId id="2147483660" r:id="rId7"/>
    <p:sldLayoutId id="2147483659" r:id="rId8"/>
    <p:sldLayoutId id="2147483658" r:id="rId9"/>
    <p:sldLayoutId id="2147483661" r:id="rId10"/>
    <p:sldLayoutId id="2147483656" r:id="rId11"/>
    <p:sldLayoutId id="2147483657" r:id="rId12"/>
    <p:sldLayoutId id="2147483649"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a:extLst>
              <a:ext uri="{FF2B5EF4-FFF2-40B4-BE49-F238E27FC236}">
                <a16:creationId xmlns:a16="http://schemas.microsoft.com/office/drawing/2014/main" id="{737FC17F-78B9-4DA3-B1E3-B6651CB1745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86634" y="331380"/>
            <a:ext cx="3174367" cy="952975"/>
          </a:xfrm>
          <a:prstGeom prst="rect">
            <a:avLst/>
          </a:prstGeom>
        </p:spPr>
      </p:pic>
      <p:sp>
        <p:nvSpPr>
          <p:cNvPr id="3" name="Title 6">
            <a:extLst>
              <a:ext uri="{FF2B5EF4-FFF2-40B4-BE49-F238E27FC236}">
                <a16:creationId xmlns:a16="http://schemas.microsoft.com/office/drawing/2014/main" id="{5702E00C-3125-4CD1-A5F8-64723BF48E3E}"/>
              </a:ext>
            </a:extLst>
          </p:cNvPr>
          <p:cNvSpPr txBox="1">
            <a:spLocks/>
          </p:cNvSpPr>
          <p:nvPr/>
        </p:nvSpPr>
        <p:spPr>
          <a:xfrm>
            <a:off x="386633" y="2219413"/>
            <a:ext cx="10063653" cy="848792"/>
          </a:xfrm>
          <a:prstGeom prst="rect">
            <a:avLst/>
          </a:prstGeom>
        </p:spPr>
        <p:txBody>
          <a:bodyPr/>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4800"/>
              <a:t>XÁC ĐỊNH VẤN ĐỀ NGƯỜI DÙNG VÀ Ý TƯỞNG SẢN PHẨM</a:t>
            </a:r>
            <a:endParaRPr lang="en-US" sz="4800" dirty="0"/>
          </a:p>
        </p:txBody>
      </p:sp>
      <p:sp>
        <p:nvSpPr>
          <p:cNvPr id="4" name="Title 6">
            <a:extLst>
              <a:ext uri="{FF2B5EF4-FFF2-40B4-BE49-F238E27FC236}">
                <a16:creationId xmlns:a16="http://schemas.microsoft.com/office/drawing/2014/main" id="{72BF49D9-2FCE-4950-8B1C-F580CC18F4C9}"/>
              </a:ext>
            </a:extLst>
          </p:cNvPr>
          <p:cNvSpPr txBox="1">
            <a:spLocks/>
          </p:cNvSpPr>
          <p:nvPr/>
        </p:nvSpPr>
        <p:spPr>
          <a:xfrm>
            <a:off x="386633" y="3789796"/>
            <a:ext cx="7342482" cy="848793"/>
          </a:xfrm>
          <a:prstGeom prst="rect">
            <a:avLst/>
          </a:prstGeom>
        </p:spPr>
        <p:txBody>
          <a:bodyPr/>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2800"/>
              <a:t>Nhóm 05 – TAKK Edu</a:t>
            </a:r>
          </a:p>
          <a:p>
            <a:r>
              <a:rPr lang="en-US" sz="2800" b="0"/>
              <a:t>Nông Quốc Khánh	20226088</a:t>
            </a:r>
          </a:p>
          <a:p>
            <a:r>
              <a:rPr lang="en-US" sz="2800" b="0"/>
              <a:t>Đỗ Quang Bắc Kỳ	20226111</a:t>
            </a:r>
          </a:p>
          <a:p>
            <a:r>
              <a:rPr lang="en-US" sz="2800" b="0"/>
              <a:t>Nguyễn Minh Tuấn	20226095</a:t>
            </a:r>
            <a:endParaRPr lang="en-US" sz="2800" b="0" dirty="0"/>
          </a:p>
        </p:txBody>
      </p:sp>
      <p:sp>
        <p:nvSpPr>
          <p:cNvPr id="9" name="Slide Number Placeholder 8">
            <a:extLst>
              <a:ext uri="{FF2B5EF4-FFF2-40B4-BE49-F238E27FC236}">
                <a16:creationId xmlns:a16="http://schemas.microsoft.com/office/drawing/2014/main" id="{99BF4829-01AB-4F75-A03B-DF4FC4C312C6}"/>
              </a:ext>
            </a:extLst>
          </p:cNvPr>
          <p:cNvSpPr>
            <a:spLocks noGrp="1"/>
          </p:cNvSpPr>
          <p:nvPr>
            <p:ph type="sldNum" sz="quarter" idx="12"/>
          </p:nvPr>
        </p:nvSpPr>
        <p:spPr/>
        <p:txBody>
          <a:bodyPr/>
          <a:lstStyle/>
          <a:p>
            <a:fld id="{9EA0BE3B-158A-4EDF-80DC-E394A0D1600F}" type="slidenum">
              <a:rPr lang="en-US" smtClean="0"/>
              <a:pPr/>
              <a:t>1</a:t>
            </a:fld>
            <a:endParaRPr lang="en-US"/>
          </a:p>
        </p:txBody>
      </p:sp>
    </p:spTree>
    <p:extLst>
      <p:ext uri="{BB962C8B-B14F-4D97-AF65-F5344CB8AC3E}">
        <p14:creationId xmlns:p14="http://schemas.microsoft.com/office/powerpoint/2010/main" val="7431729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308E1B1-D9CD-415A-BCE5-B57F39B2F31D}"/>
              </a:ext>
            </a:extLst>
          </p:cNvPr>
          <p:cNvSpPr>
            <a:spLocks noGrp="1"/>
          </p:cNvSpPr>
          <p:nvPr>
            <p:ph sz="quarter" idx="13"/>
          </p:nvPr>
        </p:nvSpPr>
        <p:spPr/>
        <p:txBody>
          <a:bodyPr/>
          <a:lstStyle/>
          <a:p>
            <a:pPr marL="514350" indent="-514350">
              <a:buFont typeface="+mj-lt"/>
              <a:buAutoNum type="arabicPeriod"/>
            </a:pPr>
            <a:r>
              <a:rPr lang="en-US"/>
              <a:t>Phát biểu vấn đề người dùng</a:t>
            </a:r>
          </a:p>
          <a:p>
            <a:pPr marL="514350" indent="-514350">
              <a:buFont typeface="+mj-lt"/>
              <a:buAutoNum type="arabicPeriod"/>
            </a:pPr>
            <a:r>
              <a:rPr lang="en-US"/>
              <a:t>Phỏng vấn người dùng mục tiêu</a:t>
            </a:r>
          </a:p>
          <a:p>
            <a:pPr marL="514350" indent="-514350">
              <a:buFont typeface="+mj-lt"/>
              <a:buAutoNum type="arabicPeriod"/>
            </a:pPr>
            <a:r>
              <a:rPr lang="en-US"/>
              <a:t>Phân tích đối thủ cạnh tranh</a:t>
            </a:r>
          </a:p>
          <a:p>
            <a:pPr marL="514350" indent="-514350">
              <a:buFont typeface="+mj-lt"/>
              <a:buAutoNum type="arabicPeriod"/>
            </a:pPr>
            <a:r>
              <a:rPr lang="en-US"/>
              <a:t>Tổng hợp kết quả nghiên cứu</a:t>
            </a:r>
          </a:p>
          <a:p>
            <a:pPr marL="514350" indent="-514350">
              <a:buFont typeface="+mj-lt"/>
              <a:buAutoNum type="arabicPeriod"/>
            </a:pPr>
            <a:r>
              <a:rPr lang="en-US"/>
              <a:t>Dự án</a:t>
            </a:r>
          </a:p>
        </p:txBody>
      </p:sp>
      <p:sp>
        <p:nvSpPr>
          <p:cNvPr id="3" name="Title 2">
            <a:extLst>
              <a:ext uri="{FF2B5EF4-FFF2-40B4-BE49-F238E27FC236}">
                <a16:creationId xmlns:a16="http://schemas.microsoft.com/office/drawing/2014/main" id="{AD6941D0-D074-43AE-8875-C4BDC98ADB7F}"/>
              </a:ext>
            </a:extLst>
          </p:cNvPr>
          <p:cNvSpPr>
            <a:spLocks noGrp="1"/>
          </p:cNvSpPr>
          <p:nvPr>
            <p:ph type="title"/>
          </p:nvPr>
        </p:nvSpPr>
        <p:spPr/>
        <p:txBody>
          <a:bodyPr/>
          <a:lstStyle/>
          <a:p>
            <a:r>
              <a:rPr lang="en-US"/>
              <a:t>Nội dung</a:t>
            </a:r>
          </a:p>
        </p:txBody>
      </p:sp>
      <p:sp>
        <p:nvSpPr>
          <p:cNvPr id="4" name="Slide Number Placeholder 3">
            <a:extLst>
              <a:ext uri="{FF2B5EF4-FFF2-40B4-BE49-F238E27FC236}">
                <a16:creationId xmlns:a16="http://schemas.microsoft.com/office/drawing/2014/main" id="{BD91CA00-8B5A-4B5F-AE21-CF0691D64D53}"/>
              </a:ext>
            </a:extLst>
          </p:cNvPr>
          <p:cNvSpPr>
            <a:spLocks noGrp="1"/>
          </p:cNvSpPr>
          <p:nvPr>
            <p:ph type="sldNum" sz="quarter" idx="12"/>
          </p:nvPr>
        </p:nvSpPr>
        <p:spPr/>
        <p:txBody>
          <a:bodyPr/>
          <a:lstStyle/>
          <a:p>
            <a:fld id="{9EA0BE3B-158A-4EDF-80DC-E394A0D1600F}" type="slidenum">
              <a:rPr lang="en-US" smtClean="0"/>
              <a:pPr/>
              <a:t>2</a:t>
            </a:fld>
            <a:endParaRPr lang="en-US"/>
          </a:p>
        </p:txBody>
      </p:sp>
    </p:spTree>
    <p:extLst>
      <p:ext uri="{BB962C8B-B14F-4D97-AF65-F5344CB8AC3E}">
        <p14:creationId xmlns:p14="http://schemas.microsoft.com/office/powerpoint/2010/main" val="4855005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4166BA-AA76-DEE7-E198-130842520CD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6810184-1F6E-388F-D0E6-112AE4EC8557}"/>
              </a:ext>
            </a:extLst>
          </p:cNvPr>
          <p:cNvSpPr>
            <a:spLocks noGrp="1"/>
          </p:cNvSpPr>
          <p:nvPr>
            <p:ph sz="quarter" idx="13"/>
          </p:nvPr>
        </p:nvSpPr>
        <p:spPr/>
        <p:txBody>
          <a:bodyPr/>
          <a:lstStyle/>
          <a:p>
            <a:pPr marL="514350" indent="-514350">
              <a:buFont typeface="+mj-lt"/>
              <a:buAutoNum type="arabicPeriod"/>
            </a:pPr>
            <a:r>
              <a:rPr lang="en-US">
                <a:solidFill>
                  <a:srgbClr val="C00000"/>
                </a:solidFill>
              </a:rPr>
              <a:t>Phát biểu vấn đề người dùng</a:t>
            </a:r>
          </a:p>
          <a:p>
            <a:pPr marL="514350" indent="-514350">
              <a:buFont typeface="+mj-lt"/>
              <a:buAutoNum type="arabicPeriod"/>
            </a:pPr>
            <a:r>
              <a:rPr lang="en-US"/>
              <a:t>Phỏng vấn người dùng mục tiêu</a:t>
            </a:r>
          </a:p>
          <a:p>
            <a:pPr marL="514350" indent="-514350">
              <a:buFont typeface="+mj-lt"/>
              <a:buAutoNum type="arabicPeriod"/>
            </a:pPr>
            <a:r>
              <a:rPr lang="en-US"/>
              <a:t>Phân tích đối thủ cạnh tranh</a:t>
            </a:r>
          </a:p>
          <a:p>
            <a:pPr marL="514350" indent="-514350">
              <a:buFont typeface="+mj-lt"/>
              <a:buAutoNum type="arabicPeriod"/>
            </a:pPr>
            <a:r>
              <a:rPr lang="en-US"/>
              <a:t>Tổng hợp kết quả nghiên cứu</a:t>
            </a:r>
          </a:p>
          <a:p>
            <a:pPr marL="514350" indent="-514350">
              <a:buFont typeface="+mj-lt"/>
              <a:buAutoNum type="arabicPeriod"/>
            </a:pPr>
            <a:r>
              <a:rPr lang="en-US"/>
              <a:t>Dự án</a:t>
            </a:r>
          </a:p>
        </p:txBody>
      </p:sp>
      <p:sp>
        <p:nvSpPr>
          <p:cNvPr id="3" name="Title 2">
            <a:extLst>
              <a:ext uri="{FF2B5EF4-FFF2-40B4-BE49-F238E27FC236}">
                <a16:creationId xmlns:a16="http://schemas.microsoft.com/office/drawing/2014/main" id="{F90AD891-A0C5-D3ED-27EF-FD8F48D04B23}"/>
              </a:ext>
            </a:extLst>
          </p:cNvPr>
          <p:cNvSpPr>
            <a:spLocks noGrp="1"/>
          </p:cNvSpPr>
          <p:nvPr>
            <p:ph type="title"/>
          </p:nvPr>
        </p:nvSpPr>
        <p:spPr/>
        <p:txBody>
          <a:bodyPr/>
          <a:lstStyle/>
          <a:p>
            <a:r>
              <a:rPr lang="en-US"/>
              <a:t>Nội dung</a:t>
            </a:r>
          </a:p>
        </p:txBody>
      </p:sp>
      <p:sp>
        <p:nvSpPr>
          <p:cNvPr id="4" name="Slide Number Placeholder 3">
            <a:extLst>
              <a:ext uri="{FF2B5EF4-FFF2-40B4-BE49-F238E27FC236}">
                <a16:creationId xmlns:a16="http://schemas.microsoft.com/office/drawing/2014/main" id="{70C22019-909F-05BD-26CD-0BE2F19B5E94}"/>
              </a:ext>
            </a:extLst>
          </p:cNvPr>
          <p:cNvSpPr>
            <a:spLocks noGrp="1"/>
          </p:cNvSpPr>
          <p:nvPr>
            <p:ph type="sldNum" sz="quarter" idx="12"/>
          </p:nvPr>
        </p:nvSpPr>
        <p:spPr/>
        <p:txBody>
          <a:bodyPr/>
          <a:lstStyle/>
          <a:p>
            <a:fld id="{9EA0BE3B-158A-4EDF-80DC-E394A0D1600F}" type="slidenum">
              <a:rPr lang="en-US" smtClean="0"/>
              <a:pPr/>
              <a:t>3</a:t>
            </a:fld>
            <a:endParaRPr lang="en-US"/>
          </a:p>
        </p:txBody>
      </p:sp>
    </p:spTree>
    <p:extLst>
      <p:ext uri="{BB962C8B-B14F-4D97-AF65-F5344CB8AC3E}">
        <p14:creationId xmlns:p14="http://schemas.microsoft.com/office/powerpoint/2010/main" val="40368034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81ADF-3619-5CAB-285A-36FD02BA85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1D5668-FDFE-E6F8-ECF1-B9FA4D19EE62}"/>
              </a:ext>
            </a:extLst>
          </p:cNvPr>
          <p:cNvSpPr>
            <a:spLocks noGrp="1"/>
          </p:cNvSpPr>
          <p:nvPr>
            <p:ph type="title"/>
          </p:nvPr>
        </p:nvSpPr>
        <p:spPr/>
        <p:txBody>
          <a:bodyPr/>
          <a:lstStyle/>
          <a:p>
            <a:r>
              <a:rPr lang="en-US"/>
              <a:t>2. Phát biểu vấn đề người dùng</a:t>
            </a:r>
          </a:p>
        </p:txBody>
      </p:sp>
      <p:sp>
        <p:nvSpPr>
          <p:cNvPr id="3" name="Text Placeholder 2">
            <a:extLst>
              <a:ext uri="{FF2B5EF4-FFF2-40B4-BE49-F238E27FC236}">
                <a16:creationId xmlns:a16="http://schemas.microsoft.com/office/drawing/2014/main" id="{14026261-6A94-9EAA-5557-B99DB42AB062}"/>
              </a:ext>
            </a:extLst>
          </p:cNvPr>
          <p:cNvSpPr>
            <a:spLocks noGrp="1"/>
          </p:cNvSpPr>
          <p:nvPr>
            <p:ph type="body" sz="quarter" idx="13"/>
          </p:nvPr>
        </p:nvSpPr>
        <p:spPr/>
        <p:txBody>
          <a:bodyPr/>
          <a:lstStyle/>
          <a:p>
            <a:pPr marL="0" indent="0">
              <a:buNone/>
            </a:pPr>
            <a:r>
              <a:rPr lang="en-US"/>
              <a:t>Trên các nền tảng khóa học trực tuyến, quá trình học tập mang tính cá nhân, nghĩa là học sinh sinh viên không được tương tác với giáo viên, việc học chỉ được đánh giá qua bài kiểm tra trắc nghiệm hoặc dự án nhỏ. Vì vậy, cần có cơ chế xác định, kiểm tra tiến độ và đánh giá kết quả “nghiêm khắc” hơn mà vẫn đảm bảo tính “cá nhân hóa” lộ trình học.</a:t>
            </a:r>
          </a:p>
        </p:txBody>
      </p:sp>
      <p:sp>
        <p:nvSpPr>
          <p:cNvPr id="6" name="Slide Number Placeholder 5">
            <a:extLst>
              <a:ext uri="{FF2B5EF4-FFF2-40B4-BE49-F238E27FC236}">
                <a16:creationId xmlns:a16="http://schemas.microsoft.com/office/drawing/2014/main" id="{382E16D6-5AEC-7893-E112-3CDCD2A1D28A}"/>
              </a:ext>
            </a:extLst>
          </p:cNvPr>
          <p:cNvSpPr>
            <a:spLocks noGrp="1"/>
          </p:cNvSpPr>
          <p:nvPr>
            <p:ph type="sldNum" sz="quarter" idx="12"/>
          </p:nvPr>
        </p:nvSpPr>
        <p:spPr/>
        <p:txBody>
          <a:bodyPr/>
          <a:lstStyle/>
          <a:p>
            <a:fld id="{9EA0BE3B-158A-4EDF-80DC-E394A0D1600F}" type="slidenum">
              <a:rPr lang="en-US" smtClean="0"/>
              <a:pPr/>
              <a:t>4</a:t>
            </a:fld>
            <a:endParaRPr lang="en-US"/>
          </a:p>
        </p:txBody>
      </p:sp>
    </p:spTree>
    <p:extLst>
      <p:ext uri="{BB962C8B-B14F-4D97-AF65-F5344CB8AC3E}">
        <p14:creationId xmlns:p14="http://schemas.microsoft.com/office/powerpoint/2010/main" val="26076043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0EA6E0-3C58-DD15-388E-5B0D397D581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E5C056D-A3D3-5CE7-A1C4-C4B4CC4575C0}"/>
              </a:ext>
            </a:extLst>
          </p:cNvPr>
          <p:cNvSpPr>
            <a:spLocks noGrp="1"/>
          </p:cNvSpPr>
          <p:nvPr>
            <p:ph sz="quarter" idx="13"/>
          </p:nvPr>
        </p:nvSpPr>
        <p:spPr/>
        <p:txBody>
          <a:bodyPr/>
          <a:lstStyle/>
          <a:p>
            <a:pPr marL="514350" indent="-514350">
              <a:buFont typeface="+mj-lt"/>
              <a:buAutoNum type="arabicPeriod"/>
            </a:pPr>
            <a:r>
              <a:rPr lang="en-US"/>
              <a:t>Phát biểu vấn đề người dùng</a:t>
            </a:r>
          </a:p>
          <a:p>
            <a:pPr marL="514350" indent="-514350">
              <a:buFont typeface="+mj-lt"/>
              <a:buAutoNum type="arabicPeriod"/>
            </a:pPr>
            <a:r>
              <a:rPr lang="en-US">
                <a:solidFill>
                  <a:srgbClr val="C00000"/>
                </a:solidFill>
              </a:rPr>
              <a:t>Phỏng vấn người dùng mục tiêu</a:t>
            </a:r>
          </a:p>
          <a:p>
            <a:pPr marL="514350" indent="-514350">
              <a:buFont typeface="+mj-lt"/>
              <a:buAutoNum type="arabicPeriod"/>
            </a:pPr>
            <a:r>
              <a:rPr lang="en-US"/>
              <a:t>Phân tích đối thủ cạnh tranh</a:t>
            </a:r>
          </a:p>
          <a:p>
            <a:pPr marL="514350" indent="-514350">
              <a:buFont typeface="+mj-lt"/>
              <a:buAutoNum type="arabicPeriod"/>
            </a:pPr>
            <a:r>
              <a:rPr lang="en-US"/>
              <a:t>Tổng hợp kết quả nghiên cứu</a:t>
            </a:r>
          </a:p>
          <a:p>
            <a:pPr marL="514350" indent="-514350">
              <a:buFont typeface="+mj-lt"/>
              <a:buAutoNum type="arabicPeriod"/>
            </a:pPr>
            <a:r>
              <a:rPr lang="en-US"/>
              <a:t>Dự án</a:t>
            </a:r>
          </a:p>
        </p:txBody>
      </p:sp>
      <p:sp>
        <p:nvSpPr>
          <p:cNvPr id="3" name="Title 2">
            <a:extLst>
              <a:ext uri="{FF2B5EF4-FFF2-40B4-BE49-F238E27FC236}">
                <a16:creationId xmlns:a16="http://schemas.microsoft.com/office/drawing/2014/main" id="{EC6F15F6-9DCC-2F3E-8417-569073C859AD}"/>
              </a:ext>
            </a:extLst>
          </p:cNvPr>
          <p:cNvSpPr>
            <a:spLocks noGrp="1"/>
          </p:cNvSpPr>
          <p:nvPr>
            <p:ph type="title"/>
          </p:nvPr>
        </p:nvSpPr>
        <p:spPr/>
        <p:txBody>
          <a:bodyPr/>
          <a:lstStyle/>
          <a:p>
            <a:r>
              <a:rPr lang="en-US"/>
              <a:t>Nội dung</a:t>
            </a:r>
          </a:p>
        </p:txBody>
      </p:sp>
      <p:sp>
        <p:nvSpPr>
          <p:cNvPr id="4" name="Slide Number Placeholder 3">
            <a:extLst>
              <a:ext uri="{FF2B5EF4-FFF2-40B4-BE49-F238E27FC236}">
                <a16:creationId xmlns:a16="http://schemas.microsoft.com/office/drawing/2014/main" id="{F636DFD0-6B0C-DCC4-B869-AB7F303FBC12}"/>
              </a:ext>
            </a:extLst>
          </p:cNvPr>
          <p:cNvSpPr>
            <a:spLocks noGrp="1"/>
          </p:cNvSpPr>
          <p:nvPr>
            <p:ph type="sldNum" sz="quarter" idx="12"/>
          </p:nvPr>
        </p:nvSpPr>
        <p:spPr/>
        <p:txBody>
          <a:bodyPr/>
          <a:lstStyle/>
          <a:p>
            <a:fld id="{9EA0BE3B-158A-4EDF-80DC-E394A0D1600F}" type="slidenum">
              <a:rPr lang="en-US" smtClean="0"/>
              <a:pPr/>
              <a:t>5</a:t>
            </a:fld>
            <a:endParaRPr lang="en-US"/>
          </a:p>
        </p:txBody>
      </p:sp>
    </p:spTree>
    <p:extLst>
      <p:ext uri="{BB962C8B-B14F-4D97-AF65-F5344CB8AC3E}">
        <p14:creationId xmlns:p14="http://schemas.microsoft.com/office/powerpoint/2010/main" val="42916358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EF3D9C-0BA2-390D-E2FD-F332F8332E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C0990B-0397-C4DF-4B9A-BBBFABDFEF85}"/>
              </a:ext>
            </a:extLst>
          </p:cNvPr>
          <p:cNvSpPr>
            <a:spLocks noGrp="1"/>
          </p:cNvSpPr>
          <p:nvPr>
            <p:ph type="title"/>
          </p:nvPr>
        </p:nvSpPr>
        <p:spPr/>
        <p:txBody>
          <a:bodyPr/>
          <a:lstStyle/>
          <a:p>
            <a:r>
              <a:rPr lang="en-US"/>
              <a:t>3. Phỏng vấn người dùng mục tiêu</a:t>
            </a:r>
          </a:p>
        </p:txBody>
      </p:sp>
      <p:sp>
        <p:nvSpPr>
          <p:cNvPr id="3" name="Text Placeholder 2">
            <a:extLst>
              <a:ext uri="{FF2B5EF4-FFF2-40B4-BE49-F238E27FC236}">
                <a16:creationId xmlns:a16="http://schemas.microsoft.com/office/drawing/2014/main" id="{D651F5CB-9D28-8840-979D-3E325F312950}"/>
              </a:ext>
            </a:extLst>
          </p:cNvPr>
          <p:cNvSpPr>
            <a:spLocks noGrp="1"/>
          </p:cNvSpPr>
          <p:nvPr>
            <p:ph type="body" sz="quarter" idx="13"/>
          </p:nvPr>
        </p:nvSpPr>
        <p:spPr/>
        <p:txBody>
          <a:bodyPr/>
          <a:lstStyle/>
          <a:p>
            <a:r>
              <a:rPr lang="en-US"/>
              <a:t>Cuộc khảo sát với 120 người học trên các nền tảng khóa học trực tuyến tham gia.</a:t>
            </a:r>
          </a:p>
          <a:p>
            <a:pPr lvl="1"/>
            <a:r>
              <a:rPr lang="en-US"/>
              <a:t>55% người được hỏi không hoàn thành khóa học mà họ đã đăng ký. Trong đó:</a:t>
            </a:r>
          </a:p>
          <a:p>
            <a:pPr lvl="2"/>
            <a:r>
              <a:rPr lang="en-US"/>
              <a:t>60% cho biết lý do là không cảm thấy áp lực phải hoàn thành.</a:t>
            </a:r>
          </a:p>
          <a:p>
            <a:pPr lvl="2"/>
            <a:r>
              <a:rPr lang="en-US"/>
              <a:t>40% còn lại cho biết các bài kiểm tra “quá dễ”, việc hoàn thành khóa học không mang lại ý nghĩa.</a:t>
            </a:r>
          </a:p>
        </p:txBody>
      </p:sp>
      <p:sp>
        <p:nvSpPr>
          <p:cNvPr id="6" name="Slide Number Placeholder 5">
            <a:extLst>
              <a:ext uri="{FF2B5EF4-FFF2-40B4-BE49-F238E27FC236}">
                <a16:creationId xmlns:a16="http://schemas.microsoft.com/office/drawing/2014/main" id="{9002A95C-FE10-E467-3F5C-624051952DFC}"/>
              </a:ext>
            </a:extLst>
          </p:cNvPr>
          <p:cNvSpPr>
            <a:spLocks noGrp="1"/>
          </p:cNvSpPr>
          <p:nvPr>
            <p:ph type="sldNum" sz="quarter" idx="12"/>
          </p:nvPr>
        </p:nvSpPr>
        <p:spPr/>
        <p:txBody>
          <a:bodyPr/>
          <a:lstStyle/>
          <a:p>
            <a:fld id="{9EA0BE3B-158A-4EDF-80DC-E394A0D1600F}" type="slidenum">
              <a:rPr lang="en-US" smtClean="0"/>
              <a:pPr/>
              <a:t>6</a:t>
            </a:fld>
            <a:endParaRPr lang="en-US"/>
          </a:p>
        </p:txBody>
      </p:sp>
    </p:spTree>
    <p:extLst>
      <p:ext uri="{BB962C8B-B14F-4D97-AF65-F5344CB8AC3E}">
        <p14:creationId xmlns:p14="http://schemas.microsoft.com/office/powerpoint/2010/main" val="16162774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D0BF9-B7CB-5BF7-0EE1-13F45C58B91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14F9A20-9DA6-CDE0-C4BE-CE123BB0502B}"/>
              </a:ext>
            </a:extLst>
          </p:cNvPr>
          <p:cNvSpPr>
            <a:spLocks noGrp="1"/>
          </p:cNvSpPr>
          <p:nvPr>
            <p:ph sz="quarter" idx="13"/>
          </p:nvPr>
        </p:nvSpPr>
        <p:spPr/>
        <p:txBody>
          <a:bodyPr/>
          <a:lstStyle/>
          <a:p>
            <a:pPr marL="514350" indent="-514350">
              <a:buFont typeface="+mj-lt"/>
              <a:buAutoNum type="arabicPeriod"/>
            </a:pPr>
            <a:r>
              <a:rPr lang="en-US"/>
              <a:t>Phát biểu vấn đề người dùng</a:t>
            </a:r>
          </a:p>
          <a:p>
            <a:pPr marL="514350" indent="-514350">
              <a:buFont typeface="+mj-lt"/>
              <a:buAutoNum type="arabicPeriod"/>
            </a:pPr>
            <a:r>
              <a:rPr lang="en-US"/>
              <a:t>Phỏng vấn người dùng mục tiêu</a:t>
            </a:r>
          </a:p>
          <a:p>
            <a:pPr marL="514350" indent="-514350">
              <a:buFont typeface="+mj-lt"/>
              <a:buAutoNum type="arabicPeriod"/>
            </a:pPr>
            <a:r>
              <a:rPr lang="en-US">
                <a:solidFill>
                  <a:srgbClr val="C00000"/>
                </a:solidFill>
              </a:rPr>
              <a:t>Phân tích đối thủ cạnh tranh</a:t>
            </a:r>
          </a:p>
          <a:p>
            <a:pPr marL="514350" indent="-514350">
              <a:buFont typeface="+mj-lt"/>
              <a:buAutoNum type="arabicPeriod"/>
            </a:pPr>
            <a:r>
              <a:rPr lang="en-US"/>
              <a:t>Tổng hợp kết quả nghiên cứu</a:t>
            </a:r>
          </a:p>
          <a:p>
            <a:pPr marL="514350" indent="-514350">
              <a:buFont typeface="+mj-lt"/>
              <a:buAutoNum type="arabicPeriod"/>
            </a:pPr>
            <a:r>
              <a:rPr lang="en-US"/>
              <a:t>Dự án</a:t>
            </a:r>
          </a:p>
        </p:txBody>
      </p:sp>
      <p:sp>
        <p:nvSpPr>
          <p:cNvPr id="3" name="Title 2">
            <a:extLst>
              <a:ext uri="{FF2B5EF4-FFF2-40B4-BE49-F238E27FC236}">
                <a16:creationId xmlns:a16="http://schemas.microsoft.com/office/drawing/2014/main" id="{92ACC059-A608-DCBD-A619-B5C09FA072E1}"/>
              </a:ext>
            </a:extLst>
          </p:cNvPr>
          <p:cNvSpPr>
            <a:spLocks noGrp="1"/>
          </p:cNvSpPr>
          <p:nvPr>
            <p:ph type="title"/>
          </p:nvPr>
        </p:nvSpPr>
        <p:spPr/>
        <p:txBody>
          <a:bodyPr/>
          <a:lstStyle/>
          <a:p>
            <a:r>
              <a:rPr lang="en-US"/>
              <a:t>Nội dung</a:t>
            </a:r>
          </a:p>
        </p:txBody>
      </p:sp>
      <p:sp>
        <p:nvSpPr>
          <p:cNvPr id="4" name="Slide Number Placeholder 3">
            <a:extLst>
              <a:ext uri="{FF2B5EF4-FFF2-40B4-BE49-F238E27FC236}">
                <a16:creationId xmlns:a16="http://schemas.microsoft.com/office/drawing/2014/main" id="{006B5C3D-276C-EC55-4B13-6B40BDC23BF6}"/>
              </a:ext>
            </a:extLst>
          </p:cNvPr>
          <p:cNvSpPr>
            <a:spLocks noGrp="1"/>
          </p:cNvSpPr>
          <p:nvPr>
            <p:ph type="sldNum" sz="quarter" idx="12"/>
          </p:nvPr>
        </p:nvSpPr>
        <p:spPr/>
        <p:txBody>
          <a:bodyPr/>
          <a:lstStyle/>
          <a:p>
            <a:fld id="{9EA0BE3B-158A-4EDF-80DC-E394A0D1600F}" type="slidenum">
              <a:rPr lang="en-US" smtClean="0"/>
              <a:pPr/>
              <a:t>7</a:t>
            </a:fld>
            <a:endParaRPr lang="en-US"/>
          </a:p>
        </p:txBody>
      </p:sp>
    </p:spTree>
    <p:extLst>
      <p:ext uri="{BB962C8B-B14F-4D97-AF65-F5344CB8AC3E}">
        <p14:creationId xmlns:p14="http://schemas.microsoft.com/office/powerpoint/2010/main" val="34328352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30E17C-8D58-8F63-158A-D455DC871C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5AE2C3-2715-02FA-E6A7-583D79347941}"/>
              </a:ext>
            </a:extLst>
          </p:cNvPr>
          <p:cNvSpPr>
            <a:spLocks noGrp="1"/>
          </p:cNvSpPr>
          <p:nvPr>
            <p:ph type="title"/>
          </p:nvPr>
        </p:nvSpPr>
        <p:spPr/>
        <p:txBody>
          <a:bodyPr/>
          <a:lstStyle/>
          <a:p>
            <a:r>
              <a:rPr lang="en-US"/>
              <a:t>4. Phân tích đối thủ cạnh tranh</a:t>
            </a:r>
          </a:p>
        </p:txBody>
      </p:sp>
      <p:sp>
        <p:nvSpPr>
          <p:cNvPr id="6" name="Slide Number Placeholder 5">
            <a:extLst>
              <a:ext uri="{FF2B5EF4-FFF2-40B4-BE49-F238E27FC236}">
                <a16:creationId xmlns:a16="http://schemas.microsoft.com/office/drawing/2014/main" id="{5D14E465-BA01-0DDB-7F11-C83B36BDB025}"/>
              </a:ext>
            </a:extLst>
          </p:cNvPr>
          <p:cNvSpPr>
            <a:spLocks noGrp="1"/>
          </p:cNvSpPr>
          <p:nvPr>
            <p:ph type="sldNum" sz="quarter" idx="12"/>
          </p:nvPr>
        </p:nvSpPr>
        <p:spPr/>
        <p:txBody>
          <a:bodyPr/>
          <a:lstStyle/>
          <a:p>
            <a:fld id="{9EA0BE3B-158A-4EDF-80DC-E394A0D1600F}" type="slidenum">
              <a:rPr lang="en-US" smtClean="0"/>
              <a:pPr/>
              <a:t>8</a:t>
            </a:fld>
            <a:endParaRPr lang="en-US"/>
          </a:p>
        </p:txBody>
      </p:sp>
      <p:graphicFrame>
        <p:nvGraphicFramePr>
          <p:cNvPr id="4" name="Table 3">
            <a:extLst>
              <a:ext uri="{FF2B5EF4-FFF2-40B4-BE49-F238E27FC236}">
                <a16:creationId xmlns:a16="http://schemas.microsoft.com/office/drawing/2014/main" id="{3B0A1A07-C0CE-B77F-77F5-E24346483B67}"/>
              </a:ext>
            </a:extLst>
          </p:cNvPr>
          <p:cNvGraphicFramePr>
            <a:graphicFrameLocks noGrp="1"/>
          </p:cNvGraphicFramePr>
          <p:nvPr>
            <p:extLst>
              <p:ext uri="{D42A27DB-BD31-4B8C-83A1-F6EECF244321}">
                <p14:modId xmlns:p14="http://schemas.microsoft.com/office/powerpoint/2010/main" val="443698149"/>
              </p:ext>
            </p:extLst>
          </p:nvPr>
        </p:nvGraphicFramePr>
        <p:xfrm>
          <a:off x="338735" y="835660"/>
          <a:ext cx="11514529" cy="3708400"/>
        </p:xfrm>
        <a:graphic>
          <a:graphicData uri="http://schemas.openxmlformats.org/drawingml/2006/table">
            <a:tbl>
              <a:tblPr firstRow="1" bandRow="1">
                <a:tableStyleId>{5C22544A-7EE6-4342-B048-85BDC9FD1C3A}</a:tableStyleId>
              </a:tblPr>
              <a:tblGrid>
                <a:gridCol w="4605811">
                  <a:extLst>
                    <a:ext uri="{9D8B030D-6E8A-4147-A177-3AD203B41FA5}">
                      <a16:colId xmlns:a16="http://schemas.microsoft.com/office/drawing/2014/main" val="811096282"/>
                    </a:ext>
                  </a:extLst>
                </a:gridCol>
                <a:gridCol w="2302906">
                  <a:extLst>
                    <a:ext uri="{9D8B030D-6E8A-4147-A177-3AD203B41FA5}">
                      <a16:colId xmlns:a16="http://schemas.microsoft.com/office/drawing/2014/main" val="120185162"/>
                    </a:ext>
                  </a:extLst>
                </a:gridCol>
                <a:gridCol w="2302906">
                  <a:extLst>
                    <a:ext uri="{9D8B030D-6E8A-4147-A177-3AD203B41FA5}">
                      <a16:colId xmlns:a16="http://schemas.microsoft.com/office/drawing/2014/main" val="452090040"/>
                    </a:ext>
                  </a:extLst>
                </a:gridCol>
                <a:gridCol w="2302906">
                  <a:extLst>
                    <a:ext uri="{9D8B030D-6E8A-4147-A177-3AD203B41FA5}">
                      <a16:colId xmlns:a16="http://schemas.microsoft.com/office/drawing/2014/main" val="1510230022"/>
                    </a:ext>
                  </a:extLst>
                </a:gridCol>
              </a:tblGrid>
              <a:tr h="370840">
                <a:tc>
                  <a:txBody>
                    <a:bodyPr/>
                    <a:lstStyle/>
                    <a:p>
                      <a:pPr algn="ctr"/>
                      <a:r>
                        <a:rPr lang="en-US"/>
                        <a:t>Tính năng</a:t>
                      </a:r>
                    </a:p>
                  </a:txBody>
                  <a:tcPr anchor="ctr"/>
                </a:tc>
                <a:tc>
                  <a:txBody>
                    <a:bodyPr/>
                    <a:lstStyle/>
                    <a:p>
                      <a:pPr algn="ctr"/>
                      <a:r>
                        <a:rPr lang="en-US"/>
                        <a:t>TAKK Edu</a:t>
                      </a:r>
                    </a:p>
                  </a:txBody>
                  <a:tcPr anchor="ctr"/>
                </a:tc>
                <a:tc>
                  <a:txBody>
                    <a:bodyPr/>
                    <a:lstStyle/>
                    <a:p>
                      <a:pPr algn="ctr"/>
                      <a:r>
                        <a:rPr lang="en-US"/>
                        <a:t>Coursera</a:t>
                      </a:r>
                    </a:p>
                  </a:txBody>
                  <a:tcPr anchor="ctr"/>
                </a:tc>
                <a:tc>
                  <a:txBody>
                    <a:bodyPr/>
                    <a:lstStyle/>
                    <a:p>
                      <a:pPr algn="ctr"/>
                      <a:r>
                        <a:rPr lang="en-US"/>
                        <a:t>Udemy</a:t>
                      </a:r>
                    </a:p>
                  </a:txBody>
                  <a:tcPr anchor="ctr"/>
                </a:tc>
                <a:extLst>
                  <a:ext uri="{0D108BD9-81ED-4DB2-BD59-A6C34878D82A}">
                    <a16:rowId xmlns:a16="http://schemas.microsoft.com/office/drawing/2014/main" val="1319831989"/>
                  </a:ext>
                </a:extLst>
              </a:tr>
              <a:tr h="370840">
                <a:tc>
                  <a:txBody>
                    <a:bodyPr/>
                    <a:lstStyle/>
                    <a:p>
                      <a:pPr algn="ctr"/>
                      <a:r>
                        <a:rPr lang="en-US" b="1"/>
                        <a:t>Đăng ký khóa học cá nhân</a:t>
                      </a:r>
                    </a:p>
                  </a:txBody>
                  <a:tcPr anchor="ctr"/>
                </a:tc>
                <a:tc>
                  <a:txBody>
                    <a:bodyPr/>
                    <a:lstStyle/>
                    <a:p>
                      <a:pPr marL="0" indent="0" algn="ctr">
                        <a:buFont typeface="Arial" panose="020B0604020202020204" pitchFamily="34" charset="0"/>
                        <a:buNone/>
                      </a:pPr>
                      <a:r>
                        <a:rPr lang="en-US"/>
                        <a:t>✓</a:t>
                      </a:r>
                      <a:endParaRPr lang="en-US" b="1"/>
                    </a:p>
                  </a:txBody>
                  <a:tcPr anchor="ctr"/>
                </a:tc>
                <a:tc>
                  <a:txBody>
                    <a:bodyPr/>
                    <a:lstStyle/>
                    <a:p>
                      <a:pPr marL="0" indent="0" algn="ctr">
                        <a:buFont typeface="Arial" panose="020B0604020202020204" pitchFamily="34" charset="0"/>
                        <a:buNone/>
                      </a:pPr>
                      <a:r>
                        <a:rPr lang="en-US"/>
                        <a:t>✓</a:t>
                      </a:r>
                    </a:p>
                  </a:txBody>
                  <a:tcPr/>
                </a:tc>
                <a:tc>
                  <a:txBody>
                    <a:bodyPr/>
                    <a:lstStyle/>
                    <a:p>
                      <a:pPr marL="0" indent="0" algn="ctr">
                        <a:buFont typeface="Arial" panose="020B0604020202020204" pitchFamily="34" charset="0"/>
                        <a:buNone/>
                      </a:pPr>
                      <a:r>
                        <a:rPr lang="en-US"/>
                        <a:t>✓</a:t>
                      </a:r>
                    </a:p>
                  </a:txBody>
                  <a:tcPr/>
                </a:tc>
                <a:extLst>
                  <a:ext uri="{0D108BD9-81ED-4DB2-BD59-A6C34878D82A}">
                    <a16:rowId xmlns:a16="http://schemas.microsoft.com/office/drawing/2014/main" val="1402946933"/>
                  </a:ext>
                </a:extLst>
              </a:tr>
              <a:tr h="370840">
                <a:tc>
                  <a:txBody>
                    <a:bodyPr/>
                    <a:lstStyle/>
                    <a:p>
                      <a:pPr algn="ctr"/>
                      <a:r>
                        <a:rPr lang="en-US" b="1"/>
                        <a:t>Đăng ký khóa học theo nhóm/lớp</a:t>
                      </a:r>
                    </a:p>
                  </a:txBody>
                  <a:tcPr anchor="ctr"/>
                </a:tc>
                <a:tc>
                  <a:txBody>
                    <a:bodyPr/>
                    <a:lstStyle/>
                    <a:p>
                      <a:pPr marL="0" indent="0" algn="ctr">
                        <a:buFont typeface="Arial" panose="020B0604020202020204" pitchFamily="34" charset="0"/>
                        <a:buNone/>
                      </a:pPr>
                      <a:r>
                        <a:rPr lang="en-US"/>
                        <a:t>✓</a:t>
                      </a:r>
                      <a:endParaRPr lang="en-US" b="1"/>
                    </a:p>
                  </a:txBody>
                  <a:tcPr anchor="ctr"/>
                </a:tc>
                <a:tc>
                  <a:txBody>
                    <a:bodyPr/>
                    <a:lstStyle/>
                    <a:p>
                      <a:pPr marL="0" indent="0" algn="ctr">
                        <a:buFont typeface="Arial" panose="020B0604020202020204" pitchFamily="34" charset="0"/>
                        <a:buNone/>
                      </a:pPr>
                      <a:endParaRPr lang="en-US"/>
                    </a:p>
                  </a:txBody>
                  <a:tcPr/>
                </a:tc>
                <a:tc>
                  <a:txBody>
                    <a:bodyPr/>
                    <a:lstStyle/>
                    <a:p>
                      <a:pPr marL="0" indent="0" algn="ctr">
                        <a:buFont typeface="Arial" panose="020B0604020202020204" pitchFamily="34" charset="0"/>
                        <a:buNone/>
                      </a:pPr>
                      <a:endParaRPr lang="en-US"/>
                    </a:p>
                  </a:txBody>
                  <a:tcPr/>
                </a:tc>
                <a:extLst>
                  <a:ext uri="{0D108BD9-81ED-4DB2-BD59-A6C34878D82A}">
                    <a16:rowId xmlns:a16="http://schemas.microsoft.com/office/drawing/2014/main" val="3444533473"/>
                  </a:ext>
                </a:extLst>
              </a:tr>
              <a:tr h="370840">
                <a:tc>
                  <a:txBody>
                    <a:bodyPr/>
                    <a:lstStyle/>
                    <a:p>
                      <a:pPr algn="ctr"/>
                      <a:r>
                        <a:rPr lang="en-US" b="1"/>
                        <a:t>Khóa học quay sẵn</a:t>
                      </a:r>
                    </a:p>
                  </a:txBody>
                  <a:tcPr anchor="ctr"/>
                </a:tc>
                <a:tc>
                  <a:txBody>
                    <a:bodyPr/>
                    <a:lstStyle/>
                    <a:p>
                      <a:pPr marL="0" indent="0" algn="ctr">
                        <a:buFont typeface="Arial" panose="020B0604020202020204" pitchFamily="34" charset="0"/>
                        <a:buNone/>
                      </a:pPr>
                      <a:r>
                        <a:rPr lang="en-US"/>
                        <a:t>✓</a:t>
                      </a:r>
                      <a:endParaRPr lang="en-US" b="1"/>
                    </a:p>
                  </a:txBody>
                  <a:tcPr anchor="ctr"/>
                </a:tc>
                <a:tc>
                  <a:txBody>
                    <a:bodyPr/>
                    <a:lstStyle/>
                    <a:p>
                      <a:pPr marL="0" indent="0" algn="ctr">
                        <a:buFont typeface="Arial" panose="020B0604020202020204" pitchFamily="34" charset="0"/>
                        <a:buNone/>
                      </a:pPr>
                      <a:r>
                        <a:rPr lang="en-US"/>
                        <a:t>✓</a:t>
                      </a:r>
                    </a:p>
                  </a:txBody>
                  <a:tcPr/>
                </a:tc>
                <a:tc>
                  <a:txBody>
                    <a:bodyPr/>
                    <a:lstStyle/>
                    <a:p>
                      <a:pPr marL="0" indent="0" algn="ctr">
                        <a:buFont typeface="Arial" panose="020B0604020202020204" pitchFamily="34" charset="0"/>
                        <a:buNone/>
                      </a:pPr>
                      <a:r>
                        <a:rPr lang="en-US"/>
                        <a:t>✓</a:t>
                      </a:r>
                      <a:endParaRPr lang="en-US">
                        <a:latin typeface="+mn-lt"/>
                      </a:endParaRPr>
                    </a:p>
                  </a:txBody>
                  <a:tcPr/>
                </a:tc>
                <a:extLst>
                  <a:ext uri="{0D108BD9-81ED-4DB2-BD59-A6C34878D82A}">
                    <a16:rowId xmlns:a16="http://schemas.microsoft.com/office/drawing/2014/main" val="1707736855"/>
                  </a:ext>
                </a:extLst>
              </a:tr>
              <a:tr h="370840">
                <a:tc>
                  <a:txBody>
                    <a:bodyPr/>
                    <a:lstStyle/>
                    <a:p>
                      <a:pPr algn="ctr"/>
                      <a:r>
                        <a:rPr lang="en-US" b="1"/>
                        <a:t>Khóa học trực tiếp thời gian thực</a:t>
                      </a:r>
                    </a:p>
                  </a:txBody>
                  <a:tcPr anchor="ctr"/>
                </a:tc>
                <a:tc>
                  <a:txBody>
                    <a:bodyPr/>
                    <a:lstStyle/>
                    <a:p>
                      <a:pPr marL="0" indent="0" algn="ctr">
                        <a:buFont typeface="Arial" panose="020B0604020202020204" pitchFamily="34" charset="0"/>
                        <a:buNone/>
                      </a:pPr>
                      <a:r>
                        <a:rPr lang="en-US"/>
                        <a:t>✓</a:t>
                      </a:r>
                      <a:endParaRPr lang="en-US" b="1"/>
                    </a:p>
                  </a:txBody>
                  <a:tcPr anchor="ctr"/>
                </a:tc>
                <a:tc>
                  <a:txBody>
                    <a:bodyPr/>
                    <a:lstStyle/>
                    <a:p>
                      <a:pPr marL="0" indent="0" algn="ctr">
                        <a:buFont typeface="Arial" panose="020B0604020202020204" pitchFamily="34" charset="0"/>
                        <a:buNone/>
                      </a:pPr>
                      <a:endParaRPr lang="en-US"/>
                    </a:p>
                  </a:txBody>
                  <a:tcPr/>
                </a:tc>
                <a:tc>
                  <a:txBody>
                    <a:bodyPr/>
                    <a:lstStyle/>
                    <a:p>
                      <a:pPr marL="0" indent="0" algn="ctr">
                        <a:buFont typeface="Arial" panose="020B0604020202020204" pitchFamily="34" charset="0"/>
                        <a:buNone/>
                      </a:pPr>
                      <a:endParaRPr lang="en-US">
                        <a:latin typeface="+mn-lt"/>
                      </a:endParaRPr>
                    </a:p>
                  </a:txBody>
                  <a:tcPr/>
                </a:tc>
                <a:extLst>
                  <a:ext uri="{0D108BD9-81ED-4DB2-BD59-A6C34878D82A}">
                    <a16:rowId xmlns:a16="http://schemas.microsoft.com/office/drawing/2014/main" val="2344279854"/>
                  </a:ext>
                </a:extLst>
              </a:tr>
              <a:tr h="370840">
                <a:tc>
                  <a:txBody>
                    <a:bodyPr/>
                    <a:lstStyle/>
                    <a:p>
                      <a:pPr algn="ctr"/>
                      <a:r>
                        <a:rPr lang="en-US" b="1"/>
                        <a:t>Chat/hỏi đáp thời gian thực với giáo viên</a:t>
                      </a:r>
                    </a:p>
                  </a:txBody>
                  <a:tcPr anchor="ctr"/>
                </a:tc>
                <a:tc>
                  <a:txBody>
                    <a:bodyPr/>
                    <a:lstStyle/>
                    <a:p>
                      <a:pPr marL="0" indent="0" algn="ctr">
                        <a:buFont typeface="Arial" panose="020B0604020202020204" pitchFamily="34" charset="0"/>
                        <a:buNone/>
                      </a:pPr>
                      <a:r>
                        <a:rPr lang="en-US"/>
                        <a:t>✓</a:t>
                      </a:r>
                      <a:endParaRPr lang="en-US" b="1"/>
                    </a:p>
                  </a:txBody>
                  <a:tcPr anchor="ctr"/>
                </a:tc>
                <a:tc>
                  <a:txBody>
                    <a:bodyPr/>
                    <a:lstStyle/>
                    <a:p>
                      <a:pPr marL="0" indent="0" algn="ctr">
                        <a:buFont typeface="Arial" panose="020B0604020202020204" pitchFamily="34" charset="0"/>
                        <a:buNone/>
                      </a:pPr>
                      <a:endParaRPr lang="en-US"/>
                    </a:p>
                  </a:txBody>
                  <a:tcPr/>
                </a:tc>
                <a:tc>
                  <a:txBody>
                    <a:bodyPr/>
                    <a:lstStyle/>
                    <a:p>
                      <a:pPr marL="0" indent="0" algn="ctr">
                        <a:buFont typeface="Arial" panose="020B0604020202020204" pitchFamily="34" charset="0"/>
                        <a:buNone/>
                      </a:pPr>
                      <a:endParaRPr lang="en-US">
                        <a:latin typeface="+mn-lt"/>
                      </a:endParaRPr>
                    </a:p>
                  </a:txBody>
                  <a:tcPr/>
                </a:tc>
                <a:extLst>
                  <a:ext uri="{0D108BD9-81ED-4DB2-BD59-A6C34878D82A}">
                    <a16:rowId xmlns:a16="http://schemas.microsoft.com/office/drawing/2014/main" val="1635527479"/>
                  </a:ext>
                </a:extLst>
              </a:tr>
              <a:tr h="370840">
                <a:tc>
                  <a:txBody>
                    <a:bodyPr/>
                    <a:lstStyle/>
                    <a:p>
                      <a:pPr algn="ctr"/>
                      <a:r>
                        <a:rPr lang="en-US" b="1"/>
                        <a:t>Nhận thông báo khi có cập nhật khóa học</a:t>
                      </a:r>
                    </a:p>
                  </a:txBody>
                  <a:tcPr anchor="ctr"/>
                </a:tc>
                <a:tc>
                  <a:txBody>
                    <a:bodyPr/>
                    <a:lstStyle/>
                    <a:p>
                      <a:pPr marL="0" indent="0" algn="ctr">
                        <a:buFont typeface="Arial" panose="020B0604020202020204" pitchFamily="34" charset="0"/>
                        <a:buNone/>
                      </a:pPr>
                      <a:r>
                        <a:rPr lang="en-US"/>
                        <a:t>✓</a:t>
                      </a:r>
                      <a:endParaRPr lang="en-US" b="1"/>
                    </a:p>
                  </a:txBody>
                  <a:tcPr anchor="ctr"/>
                </a:tc>
                <a:tc>
                  <a:txBody>
                    <a:bodyPr/>
                    <a:lstStyle/>
                    <a:p>
                      <a:pPr marL="0" indent="0" algn="ctr">
                        <a:buFont typeface="Arial" panose="020B0604020202020204" pitchFamily="34" charset="0"/>
                        <a:buNone/>
                      </a:pPr>
                      <a:r>
                        <a:rPr lang="en-US"/>
                        <a:t>✓</a:t>
                      </a:r>
                    </a:p>
                  </a:txBody>
                  <a:tcPr/>
                </a:tc>
                <a:tc>
                  <a:txBody>
                    <a:bodyPr/>
                    <a:lstStyle/>
                    <a:p>
                      <a:pPr marL="0" indent="0" algn="ctr">
                        <a:buFont typeface="Arial" panose="020B0604020202020204" pitchFamily="34" charset="0"/>
                        <a:buNone/>
                      </a:pPr>
                      <a:r>
                        <a:rPr lang="en-US"/>
                        <a:t>✓</a:t>
                      </a:r>
                      <a:endParaRPr lang="en-US">
                        <a:latin typeface="+mn-lt"/>
                      </a:endParaRPr>
                    </a:p>
                  </a:txBody>
                  <a:tcPr/>
                </a:tc>
                <a:extLst>
                  <a:ext uri="{0D108BD9-81ED-4DB2-BD59-A6C34878D82A}">
                    <a16:rowId xmlns:a16="http://schemas.microsoft.com/office/drawing/2014/main" val="2679292585"/>
                  </a:ext>
                </a:extLst>
              </a:tr>
              <a:tr h="370840">
                <a:tc>
                  <a:txBody>
                    <a:bodyPr/>
                    <a:lstStyle/>
                    <a:p>
                      <a:pPr algn="ctr"/>
                      <a:r>
                        <a:rPr lang="en-US" b="1"/>
                        <a:t>Nhận thông báo khi người dạy ra khóa mới</a:t>
                      </a:r>
                    </a:p>
                  </a:txBody>
                  <a:tcPr anchor="ctr"/>
                </a:tc>
                <a:tc>
                  <a:txBody>
                    <a:bodyPr/>
                    <a:lstStyle/>
                    <a:p>
                      <a:pPr marL="0" indent="0" algn="ctr">
                        <a:buFont typeface="Arial" panose="020B0604020202020204" pitchFamily="34" charset="0"/>
                        <a:buNone/>
                      </a:pPr>
                      <a:r>
                        <a:rPr lang="en-US"/>
                        <a:t>✓</a:t>
                      </a:r>
                      <a:endParaRPr lang="en-US" b="1"/>
                    </a:p>
                  </a:txBody>
                  <a:tcPr anchor="ctr"/>
                </a:tc>
                <a:tc>
                  <a:txBody>
                    <a:bodyPr/>
                    <a:lstStyle/>
                    <a:p>
                      <a:pPr marL="0" indent="0" algn="ctr">
                        <a:buFont typeface="Arial" panose="020B0604020202020204" pitchFamily="34" charset="0"/>
                        <a:buNone/>
                      </a:pPr>
                      <a:endParaRPr lang="en-US"/>
                    </a:p>
                  </a:txBody>
                  <a:tcPr/>
                </a:tc>
                <a:tc>
                  <a:txBody>
                    <a:bodyPr/>
                    <a:lstStyle/>
                    <a:p>
                      <a:pPr marL="0" indent="0" algn="ctr">
                        <a:buFont typeface="Arial" panose="020B0604020202020204" pitchFamily="34" charset="0"/>
                        <a:buNone/>
                      </a:pPr>
                      <a:r>
                        <a:rPr lang="en-US"/>
                        <a:t>✓</a:t>
                      </a:r>
                      <a:endParaRPr lang="en-US">
                        <a:latin typeface="+mn-lt"/>
                      </a:endParaRPr>
                    </a:p>
                  </a:txBody>
                  <a:tcPr/>
                </a:tc>
                <a:extLst>
                  <a:ext uri="{0D108BD9-81ED-4DB2-BD59-A6C34878D82A}">
                    <a16:rowId xmlns:a16="http://schemas.microsoft.com/office/drawing/2014/main" val="1866344479"/>
                  </a:ext>
                </a:extLst>
              </a:tr>
              <a:tr h="370840">
                <a:tc>
                  <a:txBody>
                    <a:bodyPr/>
                    <a:lstStyle/>
                    <a:p>
                      <a:pPr algn="ctr"/>
                      <a:r>
                        <a:rPr lang="en-US" b="1"/>
                        <a:t>Thông báo, nhắc nhở tiến độ học</a:t>
                      </a:r>
                    </a:p>
                  </a:txBody>
                  <a:tcPr anchor="ctr"/>
                </a:tc>
                <a:tc>
                  <a:txBody>
                    <a:bodyPr/>
                    <a:lstStyle/>
                    <a:p>
                      <a:pPr marL="0" indent="0" algn="ctr">
                        <a:buFont typeface="Arial" panose="020B0604020202020204" pitchFamily="34" charset="0"/>
                        <a:buNone/>
                      </a:pPr>
                      <a:r>
                        <a:rPr lang="en-US"/>
                        <a:t>✓</a:t>
                      </a:r>
                      <a:endParaRPr lang="en-US" b="1"/>
                    </a:p>
                  </a:txBody>
                  <a:tcPr anchor="ctr"/>
                </a:tc>
                <a:tc>
                  <a:txBody>
                    <a:bodyPr/>
                    <a:lstStyle/>
                    <a:p>
                      <a:pPr marL="0" indent="0" algn="ctr">
                        <a:buFont typeface="Arial" panose="020B0604020202020204" pitchFamily="34" charset="0"/>
                        <a:buNone/>
                      </a:pPr>
                      <a:r>
                        <a:rPr lang="en-US"/>
                        <a:t>✓</a:t>
                      </a:r>
                    </a:p>
                  </a:txBody>
                  <a:tcPr/>
                </a:tc>
                <a:tc>
                  <a:txBody>
                    <a:bodyPr/>
                    <a:lstStyle/>
                    <a:p>
                      <a:pPr marL="0" indent="0" algn="ctr">
                        <a:buFont typeface="Arial" panose="020B0604020202020204" pitchFamily="34" charset="0"/>
                        <a:buNone/>
                      </a:pPr>
                      <a:r>
                        <a:rPr lang="en-US"/>
                        <a:t>✓</a:t>
                      </a:r>
                      <a:endParaRPr lang="en-US">
                        <a:latin typeface="+mn-lt"/>
                      </a:endParaRPr>
                    </a:p>
                  </a:txBody>
                  <a:tcPr/>
                </a:tc>
                <a:extLst>
                  <a:ext uri="{0D108BD9-81ED-4DB2-BD59-A6C34878D82A}">
                    <a16:rowId xmlns:a16="http://schemas.microsoft.com/office/drawing/2014/main" val="4215468794"/>
                  </a:ext>
                </a:extLst>
              </a:tr>
              <a:tr h="370840">
                <a:tc>
                  <a:txBody>
                    <a:bodyPr/>
                    <a:lstStyle/>
                    <a:p>
                      <a:pPr algn="ctr"/>
                      <a:r>
                        <a:rPr lang="en-US" b="1"/>
                        <a:t>Tương tác game hóa</a:t>
                      </a:r>
                    </a:p>
                  </a:txBody>
                  <a:tcPr anchor="ctr"/>
                </a:tc>
                <a:tc>
                  <a:txBody>
                    <a:bodyPr/>
                    <a:lstStyle/>
                    <a:p>
                      <a:pPr marL="0" indent="0" algn="ctr">
                        <a:buFont typeface="Arial" panose="020B0604020202020204" pitchFamily="34" charset="0"/>
                        <a:buNone/>
                      </a:pPr>
                      <a:r>
                        <a:rPr lang="en-US"/>
                        <a:t>✓</a:t>
                      </a:r>
                      <a:endParaRPr lang="en-US" b="1"/>
                    </a:p>
                  </a:txBody>
                  <a:tcPr anchor="ctr"/>
                </a:tc>
                <a:tc>
                  <a:txBody>
                    <a:bodyPr/>
                    <a:lstStyle/>
                    <a:p>
                      <a:pPr marL="0" indent="0" algn="ctr">
                        <a:buFont typeface="Arial" panose="020B0604020202020204" pitchFamily="34" charset="0"/>
                        <a:buNone/>
                      </a:pPr>
                      <a:endParaRPr lang="en-US"/>
                    </a:p>
                  </a:txBody>
                  <a:tcPr/>
                </a:tc>
                <a:tc>
                  <a:txBody>
                    <a:bodyPr/>
                    <a:lstStyle/>
                    <a:p>
                      <a:pPr marL="0" indent="0" algn="ctr">
                        <a:buFont typeface="Arial" panose="020B0604020202020204" pitchFamily="34" charset="0"/>
                        <a:buNone/>
                      </a:pPr>
                      <a:endParaRPr lang="en-US">
                        <a:latin typeface="+mn-lt"/>
                      </a:endParaRPr>
                    </a:p>
                  </a:txBody>
                  <a:tcPr/>
                </a:tc>
                <a:extLst>
                  <a:ext uri="{0D108BD9-81ED-4DB2-BD59-A6C34878D82A}">
                    <a16:rowId xmlns:a16="http://schemas.microsoft.com/office/drawing/2014/main" val="3460289439"/>
                  </a:ext>
                </a:extLst>
              </a:tr>
            </a:tbl>
          </a:graphicData>
        </a:graphic>
      </p:graphicFrame>
      <p:sp>
        <p:nvSpPr>
          <p:cNvPr id="3" name="Text Placeholder 2">
            <a:extLst>
              <a:ext uri="{FF2B5EF4-FFF2-40B4-BE49-F238E27FC236}">
                <a16:creationId xmlns:a16="http://schemas.microsoft.com/office/drawing/2014/main" id="{1DBCE6FD-991C-5644-AC86-2D4911764665}"/>
              </a:ext>
            </a:extLst>
          </p:cNvPr>
          <p:cNvSpPr>
            <a:spLocks noGrp="1"/>
          </p:cNvSpPr>
          <p:nvPr>
            <p:ph type="body" sz="quarter" idx="13"/>
          </p:nvPr>
        </p:nvSpPr>
        <p:spPr>
          <a:xfrm>
            <a:off x="336342" y="4892516"/>
            <a:ext cx="11515725" cy="1427163"/>
          </a:xfrm>
        </p:spPr>
        <p:txBody>
          <a:bodyPr/>
          <a:lstStyle/>
          <a:p>
            <a:r>
              <a:rPr lang="en-US"/>
              <a:t>Bài học, cơ hội, định vị cho TAKK Edu:</a:t>
            </a:r>
          </a:p>
          <a:p>
            <a:pPr lvl="1"/>
            <a:r>
              <a:rPr lang="en-US"/>
              <a:t>Cơ chế đánh giá game hóa.</a:t>
            </a:r>
          </a:p>
          <a:p>
            <a:pPr lvl="1"/>
            <a:r>
              <a:rPr lang="en-US"/>
              <a:t>Kết hợp khóa học quay sẵn và khóa học tương tác trực tiếp.</a:t>
            </a:r>
          </a:p>
        </p:txBody>
      </p:sp>
    </p:spTree>
    <p:extLst>
      <p:ext uri="{BB962C8B-B14F-4D97-AF65-F5344CB8AC3E}">
        <p14:creationId xmlns:p14="http://schemas.microsoft.com/office/powerpoint/2010/main" val="9203288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931901-2BBC-5F70-4F96-63AC45D40EB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CAB1B8A-AC6A-7319-A544-EF5B9D854883}"/>
              </a:ext>
            </a:extLst>
          </p:cNvPr>
          <p:cNvSpPr>
            <a:spLocks noGrp="1"/>
          </p:cNvSpPr>
          <p:nvPr>
            <p:ph sz="quarter" idx="13"/>
          </p:nvPr>
        </p:nvSpPr>
        <p:spPr/>
        <p:txBody>
          <a:bodyPr/>
          <a:lstStyle/>
          <a:p>
            <a:pPr marL="514350" indent="-514350">
              <a:buFont typeface="+mj-lt"/>
              <a:buAutoNum type="arabicPeriod"/>
            </a:pPr>
            <a:r>
              <a:rPr lang="en-US"/>
              <a:t>Phát biểu vấn đề người dùng</a:t>
            </a:r>
          </a:p>
          <a:p>
            <a:pPr marL="514350" indent="-514350">
              <a:buFont typeface="+mj-lt"/>
              <a:buAutoNum type="arabicPeriod"/>
            </a:pPr>
            <a:r>
              <a:rPr lang="en-US"/>
              <a:t>Phỏng vấn người dùng mục tiêu</a:t>
            </a:r>
          </a:p>
          <a:p>
            <a:pPr marL="514350" indent="-514350">
              <a:buFont typeface="+mj-lt"/>
              <a:buAutoNum type="arabicPeriod"/>
            </a:pPr>
            <a:r>
              <a:rPr lang="en-US"/>
              <a:t>Phân tích đối thủ cạnh tranh</a:t>
            </a:r>
          </a:p>
          <a:p>
            <a:pPr marL="514350" indent="-514350">
              <a:buFont typeface="+mj-lt"/>
              <a:buAutoNum type="arabicPeriod"/>
            </a:pPr>
            <a:r>
              <a:rPr lang="en-US">
                <a:solidFill>
                  <a:srgbClr val="C00000"/>
                </a:solidFill>
              </a:rPr>
              <a:t>Tổng hợp kết quả nghiên cứu</a:t>
            </a:r>
          </a:p>
          <a:p>
            <a:pPr marL="514350" indent="-514350">
              <a:buFont typeface="+mj-lt"/>
              <a:buAutoNum type="arabicPeriod"/>
            </a:pPr>
            <a:r>
              <a:rPr lang="en-US"/>
              <a:t>Dự án</a:t>
            </a:r>
          </a:p>
        </p:txBody>
      </p:sp>
      <p:sp>
        <p:nvSpPr>
          <p:cNvPr id="3" name="Title 2">
            <a:extLst>
              <a:ext uri="{FF2B5EF4-FFF2-40B4-BE49-F238E27FC236}">
                <a16:creationId xmlns:a16="http://schemas.microsoft.com/office/drawing/2014/main" id="{6578F85B-5489-9F87-8A15-AC7DA2361746}"/>
              </a:ext>
            </a:extLst>
          </p:cNvPr>
          <p:cNvSpPr>
            <a:spLocks noGrp="1"/>
          </p:cNvSpPr>
          <p:nvPr>
            <p:ph type="title"/>
          </p:nvPr>
        </p:nvSpPr>
        <p:spPr/>
        <p:txBody>
          <a:bodyPr/>
          <a:lstStyle/>
          <a:p>
            <a:r>
              <a:rPr lang="en-US"/>
              <a:t>Nội dung</a:t>
            </a:r>
          </a:p>
        </p:txBody>
      </p:sp>
      <p:sp>
        <p:nvSpPr>
          <p:cNvPr id="4" name="Slide Number Placeholder 3">
            <a:extLst>
              <a:ext uri="{FF2B5EF4-FFF2-40B4-BE49-F238E27FC236}">
                <a16:creationId xmlns:a16="http://schemas.microsoft.com/office/drawing/2014/main" id="{DAD368BB-E841-C720-E920-4442018C4BE7}"/>
              </a:ext>
            </a:extLst>
          </p:cNvPr>
          <p:cNvSpPr>
            <a:spLocks noGrp="1"/>
          </p:cNvSpPr>
          <p:nvPr>
            <p:ph type="sldNum" sz="quarter" idx="12"/>
          </p:nvPr>
        </p:nvSpPr>
        <p:spPr/>
        <p:txBody>
          <a:bodyPr/>
          <a:lstStyle/>
          <a:p>
            <a:fld id="{9EA0BE3B-158A-4EDF-80DC-E394A0D1600F}" type="slidenum">
              <a:rPr lang="en-US" smtClean="0"/>
              <a:pPr/>
              <a:t>9</a:t>
            </a:fld>
            <a:endParaRPr lang="en-US"/>
          </a:p>
        </p:txBody>
      </p:sp>
    </p:spTree>
    <p:extLst>
      <p:ext uri="{BB962C8B-B14F-4D97-AF65-F5344CB8AC3E}">
        <p14:creationId xmlns:p14="http://schemas.microsoft.com/office/powerpoint/2010/main" val="8165935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9CAE08-D33E-C9BB-C467-DD07DCCA8A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DF2588-10DD-8B12-1767-17BA7D01538F}"/>
              </a:ext>
            </a:extLst>
          </p:cNvPr>
          <p:cNvSpPr>
            <a:spLocks noGrp="1"/>
          </p:cNvSpPr>
          <p:nvPr>
            <p:ph type="title"/>
          </p:nvPr>
        </p:nvSpPr>
        <p:spPr/>
        <p:txBody>
          <a:bodyPr/>
          <a:lstStyle/>
          <a:p>
            <a:r>
              <a:rPr lang="en-US"/>
              <a:t>5. Tổng hợp kết quả nghiên cứu</a:t>
            </a:r>
          </a:p>
        </p:txBody>
      </p:sp>
      <p:sp>
        <p:nvSpPr>
          <p:cNvPr id="3" name="Text Placeholder 2">
            <a:extLst>
              <a:ext uri="{FF2B5EF4-FFF2-40B4-BE49-F238E27FC236}">
                <a16:creationId xmlns:a16="http://schemas.microsoft.com/office/drawing/2014/main" id="{F1C54BBF-A1FC-27D0-0265-80690F18703D}"/>
              </a:ext>
            </a:extLst>
          </p:cNvPr>
          <p:cNvSpPr>
            <a:spLocks noGrp="1"/>
          </p:cNvSpPr>
          <p:nvPr>
            <p:ph type="body" sz="quarter" idx="13"/>
          </p:nvPr>
        </p:nvSpPr>
        <p:spPr/>
        <p:txBody>
          <a:bodyPr/>
          <a:lstStyle/>
          <a:p>
            <a:r>
              <a:rPr lang="en-US"/>
              <a:t>Affinity mapping:</a:t>
            </a:r>
          </a:p>
        </p:txBody>
      </p:sp>
      <p:sp>
        <p:nvSpPr>
          <p:cNvPr id="6" name="Slide Number Placeholder 5">
            <a:extLst>
              <a:ext uri="{FF2B5EF4-FFF2-40B4-BE49-F238E27FC236}">
                <a16:creationId xmlns:a16="http://schemas.microsoft.com/office/drawing/2014/main" id="{DD72ED96-5278-0DB6-FD70-A5B17B951968}"/>
              </a:ext>
            </a:extLst>
          </p:cNvPr>
          <p:cNvSpPr>
            <a:spLocks noGrp="1"/>
          </p:cNvSpPr>
          <p:nvPr>
            <p:ph type="sldNum" sz="quarter" idx="12"/>
          </p:nvPr>
        </p:nvSpPr>
        <p:spPr/>
        <p:txBody>
          <a:bodyPr/>
          <a:lstStyle/>
          <a:p>
            <a:fld id="{9EA0BE3B-158A-4EDF-80DC-E394A0D1600F}" type="slidenum">
              <a:rPr lang="en-US" smtClean="0"/>
              <a:pPr/>
              <a:t>10</a:t>
            </a:fld>
            <a:endParaRPr lang="en-US"/>
          </a:p>
        </p:txBody>
      </p:sp>
      <p:graphicFrame>
        <p:nvGraphicFramePr>
          <p:cNvPr id="4" name="Table 3">
            <a:extLst>
              <a:ext uri="{FF2B5EF4-FFF2-40B4-BE49-F238E27FC236}">
                <a16:creationId xmlns:a16="http://schemas.microsoft.com/office/drawing/2014/main" id="{62A9FEBB-59C8-4691-D864-CE7E611CD937}"/>
              </a:ext>
            </a:extLst>
          </p:cNvPr>
          <p:cNvGraphicFramePr>
            <a:graphicFrameLocks noGrp="1"/>
          </p:cNvGraphicFramePr>
          <p:nvPr>
            <p:extLst>
              <p:ext uri="{D42A27DB-BD31-4B8C-83A1-F6EECF244321}">
                <p14:modId xmlns:p14="http://schemas.microsoft.com/office/powerpoint/2010/main" val="1902540409"/>
              </p:ext>
            </p:extLst>
          </p:nvPr>
        </p:nvGraphicFramePr>
        <p:xfrm>
          <a:off x="337539" y="1769464"/>
          <a:ext cx="11514528" cy="3754120"/>
        </p:xfrm>
        <a:graphic>
          <a:graphicData uri="http://schemas.openxmlformats.org/drawingml/2006/table">
            <a:tbl>
              <a:tblPr firstRow="1" bandRow="1">
                <a:tableStyleId>{5C22544A-7EE6-4342-B048-85BDC9FD1C3A}</a:tableStyleId>
              </a:tblPr>
              <a:tblGrid>
                <a:gridCol w="3838176">
                  <a:extLst>
                    <a:ext uri="{9D8B030D-6E8A-4147-A177-3AD203B41FA5}">
                      <a16:colId xmlns:a16="http://schemas.microsoft.com/office/drawing/2014/main" val="321513273"/>
                    </a:ext>
                  </a:extLst>
                </a:gridCol>
                <a:gridCol w="3838176">
                  <a:extLst>
                    <a:ext uri="{9D8B030D-6E8A-4147-A177-3AD203B41FA5}">
                      <a16:colId xmlns:a16="http://schemas.microsoft.com/office/drawing/2014/main" val="445301018"/>
                    </a:ext>
                  </a:extLst>
                </a:gridCol>
                <a:gridCol w="3838176">
                  <a:extLst>
                    <a:ext uri="{9D8B030D-6E8A-4147-A177-3AD203B41FA5}">
                      <a16:colId xmlns:a16="http://schemas.microsoft.com/office/drawing/2014/main" val="445233930"/>
                    </a:ext>
                  </a:extLst>
                </a:gridCol>
              </a:tblGrid>
              <a:tr h="370840">
                <a:tc>
                  <a:txBody>
                    <a:bodyPr/>
                    <a:lstStyle/>
                    <a:p>
                      <a:pPr algn="ctr"/>
                      <a:r>
                        <a:rPr lang="en-US"/>
                        <a:t>Chủ đề</a:t>
                      </a:r>
                    </a:p>
                  </a:txBody>
                  <a:tcPr/>
                </a:tc>
                <a:tc>
                  <a:txBody>
                    <a:bodyPr/>
                    <a:lstStyle/>
                    <a:p>
                      <a:pPr algn="ctr"/>
                      <a:r>
                        <a:rPr lang="en-US"/>
                        <a:t>Nhóm ý kiến người dùng</a:t>
                      </a:r>
                    </a:p>
                  </a:txBody>
                  <a:tcPr/>
                </a:tc>
                <a:tc>
                  <a:txBody>
                    <a:bodyPr/>
                    <a:lstStyle/>
                    <a:p>
                      <a:pPr algn="ctr"/>
                      <a:r>
                        <a:rPr lang="en-US"/>
                        <a:t>Insight rút ra</a:t>
                      </a:r>
                    </a:p>
                  </a:txBody>
                  <a:tcPr/>
                </a:tc>
                <a:extLst>
                  <a:ext uri="{0D108BD9-81ED-4DB2-BD59-A6C34878D82A}">
                    <a16:rowId xmlns:a16="http://schemas.microsoft.com/office/drawing/2014/main" val="1337168990"/>
                  </a:ext>
                </a:extLst>
              </a:tr>
              <a:tr h="370840">
                <a:tc>
                  <a:txBody>
                    <a:bodyPr/>
                    <a:lstStyle/>
                    <a:p>
                      <a:r>
                        <a:rPr lang="en-US">
                          <a:latin typeface="Calibri" panose="020F0502020204030204" pitchFamily="34" charset="0"/>
                          <a:ea typeface="Calibri" panose="020F0502020204030204" pitchFamily="34" charset="0"/>
                          <a:cs typeface="Calibri" panose="020F0502020204030204" pitchFamily="34" charset="0"/>
                        </a:rPr>
                        <a:t>Khó tìm khóa học phù hợp</a:t>
                      </a:r>
                    </a:p>
                  </a:txBody>
                  <a:tcPr/>
                </a:tc>
                <a:tc>
                  <a:txBody>
                    <a:bodyPr/>
                    <a:lstStyle/>
                    <a:p>
                      <a:pPr marL="285750" indent="-285750">
                        <a:buFont typeface="Arial" panose="020B0604020202020204" pitchFamily="34" charset="0"/>
                        <a:buChar char="•"/>
                      </a:pPr>
                      <a:r>
                        <a:rPr lang="en-US">
                          <a:latin typeface="Calibri" panose="020F0502020204030204" pitchFamily="34" charset="0"/>
                          <a:ea typeface="Calibri" panose="020F0502020204030204" pitchFamily="34" charset="0"/>
                          <a:cs typeface="Calibri" panose="020F0502020204030204" pitchFamily="34" charset="0"/>
                        </a:rPr>
                        <a:t>“Tôi không biết bắt đầu từ đâu.”</a:t>
                      </a:r>
                    </a:p>
                    <a:p>
                      <a:pPr marL="285750" indent="-285750">
                        <a:buFont typeface="Arial" panose="020B0604020202020204" pitchFamily="34" charset="0"/>
                        <a:buChar char="•"/>
                      </a:pPr>
                      <a:r>
                        <a:rPr lang="en-US">
                          <a:latin typeface="Calibri" panose="020F0502020204030204" pitchFamily="34" charset="0"/>
                          <a:ea typeface="Calibri" panose="020F0502020204030204" pitchFamily="34" charset="0"/>
                          <a:cs typeface="Calibri" panose="020F0502020204030204" pitchFamily="34" charset="0"/>
                        </a:rPr>
                        <a:t>“Không có gợi ý phù hợp với nhu cầu cá nhân.”</a:t>
                      </a:r>
                    </a:p>
                  </a:txBody>
                  <a:tcPr/>
                </a:tc>
                <a:tc>
                  <a:txBody>
                    <a:bodyPr/>
                    <a:lstStyle/>
                    <a:p>
                      <a:r>
                        <a:rPr lang="vi-VN">
                          <a:latin typeface="Calibri" panose="020F0502020204030204" pitchFamily="34" charset="0"/>
                          <a:ea typeface="Calibri" panose="020F0502020204030204" pitchFamily="34" charset="0"/>
                          <a:cs typeface="Calibri" panose="020F0502020204030204" pitchFamily="34" charset="0"/>
                        </a:rPr>
                        <a:t>Cần hệ thống gợi ý cá nhân hóa, hướng dẫn học viên chọn lộ trình.</a:t>
                      </a:r>
                      <a:endParaRPr lang="en-US">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3531287738"/>
                  </a:ext>
                </a:extLst>
              </a:tr>
              <a:tr h="370840">
                <a:tc>
                  <a:txBody>
                    <a:bodyPr/>
                    <a:lstStyle/>
                    <a:p>
                      <a:r>
                        <a:rPr lang="en-US">
                          <a:latin typeface="Calibri" panose="020F0502020204030204" pitchFamily="34" charset="0"/>
                          <a:ea typeface="Calibri" panose="020F0502020204030204" pitchFamily="34" charset="0"/>
                          <a:cs typeface="Calibri" panose="020F0502020204030204" pitchFamily="34" charset="0"/>
                        </a:rPr>
                        <a:t>Giao diện rối, thiếu tiếng Việt</a:t>
                      </a:r>
                    </a:p>
                  </a:txBody>
                  <a:tcPr/>
                </a:tc>
                <a:tc>
                  <a:txBody>
                    <a:bodyPr/>
                    <a:lstStyle/>
                    <a:p>
                      <a:pPr marL="285750" indent="-285750">
                        <a:buFont typeface="Arial" panose="020B0604020202020204" pitchFamily="34" charset="0"/>
                        <a:buChar char="•"/>
                      </a:pPr>
                      <a:r>
                        <a:rPr lang="en-US">
                          <a:latin typeface="Calibri" panose="020F0502020204030204" pitchFamily="34" charset="0"/>
                          <a:ea typeface="Calibri" panose="020F0502020204030204" pitchFamily="34" charset="0"/>
                          <a:cs typeface="Calibri" panose="020F0502020204030204" pitchFamily="34" charset="0"/>
                        </a:rPr>
                        <a:t>“Có quá nhiều mục, tôi không biết nhấn vào đâu.”</a:t>
                      </a:r>
                    </a:p>
                    <a:p>
                      <a:pPr marL="285750" indent="-285750">
                        <a:buFont typeface="Arial" panose="020B0604020202020204" pitchFamily="34" charset="0"/>
                        <a:buChar char="•"/>
                      </a:pPr>
                      <a:r>
                        <a:rPr lang="en-US">
                          <a:latin typeface="Calibri" panose="020F0502020204030204" pitchFamily="34" charset="0"/>
                          <a:ea typeface="Calibri" panose="020F0502020204030204" pitchFamily="34" charset="0"/>
                          <a:cs typeface="Calibri" panose="020F0502020204030204" pitchFamily="34" charset="0"/>
                        </a:rPr>
                        <a:t>“Coursera toàn tiếng Anh.”</a:t>
                      </a:r>
                    </a:p>
                  </a:txBody>
                  <a:tcPr/>
                </a:tc>
                <a:tc>
                  <a:txBody>
                    <a:bodyPr/>
                    <a:lstStyle/>
                    <a:p>
                      <a:r>
                        <a:rPr lang="vi-VN">
                          <a:latin typeface="Calibri" panose="020F0502020204030204" pitchFamily="34" charset="0"/>
                          <a:ea typeface="Calibri" panose="020F0502020204030204" pitchFamily="34" charset="0"/>
                          <a:cs typeface="Calibri" panose="020F0502020204030204" pitchFamily="34" charset="0"/>
                        </a:rPr>
                        <a:t>Giao diện nên đơn giản, thân thiện, hỗ trợ tiếng Việt.</a:t>
                      </a:r>
                      <a:endParaRPr lang="en-US">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2233589822"/>
                  </a:ext>
                </a:extLst>
              </a:tr>
              <a:tr h="370840">
                <a:tc>
                  <a:txBody>
                    <a:bodyPr/>
                    <a:lstStyle/>
                    <a:p>
                      <a:r>
                        <a:rPr lang="vi-VN">
                          <a:latin typeface="Calibri" panose="020F0502020204030204" pitchFamily="34" charset="0"/>
                          <a:ea typeface="Calibri" panose="020F0502020204030204" pitchFamily="34" charset="0"/>
                          <a:cs typeface="Calibri" panose="020F0502020204030204" pitchFamily="34" charset="0"/>
                        </a:rPr>
                        <a:t>Thiếu tương tác </a:t>
                      </a:r>
                      <a:r>
                        <a:rPr lang="en-US">
                          <a:latin typeface="Calibri" panose="020F0502020204030204" pitchFamily="34" charset="0"/>
                          <a:ea typeface="Calibri" panose="020F0502020204030204" pitchFamily="34" charset="0"/>
                          <a:cs typeface="Calibri" panose="020F0502020204030204" pitchFamily="34" charset="0"/>
                        </a:rPr>
                        <a:t>trực tiếp</a:t>
                      </a:r>
                    </a:p>
                  </a:txBody>
                  <a:tcPr/>
                </a:tc>
                <a:tc>
                  <a:txBody>
                    <a:bodyPr/>
                    <a:lstStyle/>
                    <a:p>
                      <a:pPr marL="285750" indent="-285750">
                        <a:buFont typeface="Arial" panose="020B0604020202020204" pitchFamily="34" charset="0"/>
                        <a:buChar char="•"/>
                      </a:pPr>
                      <a:r>
                        <a:rPr lang="vi-VN">
                          <a:latin typeface="Calibri" panose="020F0502020204030204" pitchFamily="34" charset="0"/>
                          <a:ea typeface="Calibri" panose="020F0502020204030204" pitchFamily="34" charset="0"/>
                          <a:cs typeface="Calibri" panose="020F0502020204030204" pitchFamily="34" charset="0"/>
                        </a:rPr>
                        <a:t>“Giảng viên chỉ đăng video, không trả lời câu hỏi.”</a:t>
                      </a:r>
                      <a:endParaRPr lang="en-US">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vi-VN">
                          <a:latin typeface="Calibri" panose="020F0502020204030204" pitchFamily="34" charset="0"/>
                          <a:ea typeface="Calibri" panose="020F0502020204030204" pitchFamily="34" charset="0"/>
                          <a:cs typeface="Calibri" panose="020F0502020204030204" pitchFamily="34" charset="0"/>
                        </a:rPr>
                        <a:t>“Tôi muốn được h</a:t>
                      </a:r>
                      <a:r>
                        <a:rPr lang="en-US">
                          <a:latin typeface="Calibri" panose="020F0502020204030204" pitchFamily="34" charset="0"/>
                          <a:ea typeface="Calibri" panose="020F0502020204030204" pitchFamily="34" charset="0"/>
                          <a:cs typeface="Calibri" panose="020F0502020204030204" pitchFamily="34" charset="0"/>
                        </a:rPr>
                        <a:t>ọc</a:t>
                      </a:r>
                      <a:r>
                        <a:rPr lang="vi-VN">
                          <a:latin typeface="Calibri" panose="020F0502020204030204" pitchFamily="34" charset="0"/>
                          <a:ea typeface="Calibri" panose="020F0502020204030204" pitchFamily="34" charset="0"/>
                          <a:cs typeface="Calibri" panose="020F0502020204030204" pitchFamily="34" charset="0"/>
                        </a:rPr>
                        <a:t> trực tiếp.”</a:t>
                      </a:r>
                      <a:endParaRPr lang="en-US">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r>
                        <a:rPr lang="vi-VN">
                          <a:latin typeface="Calibri" panose="020F0502020204030204" pitchFamily="34" charset="0"/>
                          <a:ea typeface="Calibri" panose="020F0502020204030204" pitchFamily="34" charset="0"/>
                          <a:cs typeface="Calibri" panose="020F0502020204030204" pitchFamily="34" charset="0"/>
                        </a:rPr>
                        <a:t>Nhu cầu mạnh về tương tác 2 chiều (Q&amp;A, chat, </a:t>
                      </a:r>
                      <a:r>
                        <a:rPr lang="en-US">
                          <a:latin typeface="Calibri" panose="020F0502020204030204" pitchFamily="34" charset="0"/>
                          <a:ea typeface="Calibri" panose="020F0502020204030204" pitchFamily="34" charset="0"/>
                          <a:cs typeface="Calibri" panose="020F0502020204030204" pitchFamily="34" charset="0"/>
                        </a:rPr>
                        <a:t>live-stream</a:t>
                      </a:r>
                      <a:r>
                        <a:rPr lang="vi-VN">
                          <a:latin typeface="Calibri" panose="020F0502020204030204" pitchFamily="34" charset="0"/>
                          <a:ea typeface="Calibri" panose="020F0502020204030204" pitchFamily="34" charset="0"/>
                          <a:cs typeface="Calibri" panose="020F0502020204030204" pitchFamily="34" charset="0"/>
                        </a:rPr>
                        <a:t>).</a:t>
                      </a:r>
                      <a:endParaRPr lang="en-US">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380235845"/>
                  </a:ext>
                </a:extLst>
              </a:tr>
              <a:tr h="370840">
                <a:tc>
                  <a:txBody>
                    <a:bodyPr/>
                    <a:lstStyle/>
                    <a:p>
                      <a:r>
                        <a:rPr lang="en-US">
                          <a:latin typeface="Calibri" panose="020F0502020204030204" pitchFamily="34" charset="0"/>
                          <a:ea typeface="Calibri" panose="020F0502020204030204" pitchFamily="34" charset="0"/>
                          <a:cs typeface="Calibri" panose="020F0502020204030204" pitchFamily="34" charset="0"/>
                        </a:rPr>
                        <a:t>Thiếu linh hoạt giữa các thiết bị</a:t>
                      </a:r>
                    </a:p>
                  </a:txBody>
                  <a:tcPr/>
                </a:tc>
                <a:tc>
                  <a:txBody>
                    <a:bodyPr/>
                    <a:lstStyle/>
                    <a:p>
                      <a:pPr marL="285750" indent="-285750">
                        <a:buFont typeface="Arial" panose="020B0604020202020204" pitchFamily="34" charset="0"/>
                        <a:buChar char="•"/>
                      </a:pPr>
                      <a:r>
                        <a:rPr lang="en-US">
                          <a:latin typeface="Calibri" panose="020F0502020204030204" pitchFamily="34" charset="0"/>
                          <a:ea typeface="Calibri" panose="020F0502020204030204" pitchFamily="34" charset="0"/>
                          <a:cs typeface="Calibri" panose="020F0502020204030204" pitchFamily="34" charset="0"/>
                        </a:rPr>
                        <a:t>“Giao diện trên điện thoại không hiển thị đầy đủ chức năng.”</a:t>
                      </a:r>
                    </a:p>
                  </a:txBody>
                  <a:tcPr/>
                </a:tc>
                <a:tc>
                  <a:txBody>
                    <a:bodyPr/>
                    <a:lstStyle/>
                    <a:p>
                      <a:r>
                        <a:rPr lang="vi-VN">
                          <a:latin typeface="Calibri" panose="020F0502020204030204" pitchFamily="34" charset="0"/>
                          <a:ea typeface="Calibri" panose="020F0502020204030204" pitchFamily="34" charset="0"/>
                          <a:cs typeface="Calibri" panose="020F0502020204030204" pitchFamily="34" charset="0"/>
                        </a:rPr>
                        <a:t>Cần </a:t>
                      </a:r>
                      <a:r>
                        <a:rPr lang="en-US">
                          <a:latin typeface="Calibri" panose="020F0502020204030204" pitchFamily="34" charset="0"/>
                          <a:ea typeface="Calibri" panose="020F0502020204030204" pitchFamily="34" charset="0"/>
                          <a:cs typeface="Calibri" panose="020F0502020204030204" pitchFamily="34" charset="0"/>
                        </a:rPr>
                        <a:t>hỗ trợ </a:t>
                      </a:r>
                      <a:r>
                        <a:rPr lang="vi-VN">
                          <a:latin typeface="Calibri" panose="020F0502020204030204" pitchFamily="34" charset="0"/>
                          <a:ea typeface="Calibri" panose="020F0502020204030204" pitchFamily="34" charset="0"/>
                          <a:cs typeface="Calibri" panose="020F0502020204030204" pitchFamily="34" charset="0"/>
                        </a:rPr>
                        <a:t>đa nền tảng (desktop, mobile web, app).</a:t>
                      </a:r>
                      <a:endParaRPr lang="en-US">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3892896040"/>
                  </a:ext>
                </a:extLst>
              </a:tr>
            </a:tbl>
          </a:graphicData>
        </a:graphic>
      </p:graphicFrame>
    </p:spTree>
    <p:extLst>
      <p:ext uri="{BB962C8B-B14F-4D97-AF65-F5344CB8AC3E}">
        <p14:creationId xmlns:p14="http://schemas.microsoft.com/office/powerpoint/2010/main" val="10635069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967D47-2003-176F-0731-F4354574CA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355282-5A83-211C-DFC9-C00F85E8F84C}"/>
              </a:ext>
            </a:extLst>
          </p:cNvPr>
          <p:cNvSpPr>
            <a:spLocks noGrp="1"/>
          </p:cNvSpPr>
          <p:nvPr>
            <p:ph type="title"/>
          </p:nvPr>
        </p:nvSpPr>
        <p:spPr/>
        <p:txBody>
          <a:bodyPr/>
          <a:lstStyle/>
          <a:p>
            <a:r>
              <a:rPr lang="en-US"/>
              <a:t>5. Tổng hợp kết quả nghiên cứu</a:t>
            </a:r>
          </a:p>
        </p:txBody>
      </p:sp>
      <p:sp>
        <p:nvSpPr>
          <p:cNvPr id="3" name="Text Placeholder 2">
            <a:extLst>
              <a:ext uri="{FF2B5EF4-FFF2-40B4-BE49-F238E27FC236}">
                <a16:creationId xmlns:a16="http://schemas.microsoft.com/office/drawing/2014/main" id="{1DC6D6D3-2C34-122C-265B-E9D12D08D391}"/>
              </a:ext>
            </a:extLst>
          </p:cNvPr>
          <p:cNvSpPr>
            <a:spLocks noGrp="1"/>
          </p:cNvSpPr>
          <p:nvPr>
            <p:ph type="body" sz="quarter" idx="13"/>
          </p:nvPr>
        </p:nvSpPr>
        <p:spPr>
          <a:xfrm>
            <a:off x="337539" y="1073150"/>
            <a:ext cx="11515725" cy="4938713"/>
          </a:xfrm>
        </p:spPr>
        <p:txBody>
          <a:bodyPr/>
          <a:lstStyle/>
          <a:p>
            <a:r>
              <a:rPr lang="en-US"/>
              <a:t>Lean UX canvas:</a:t>
            </a:r>
          </a:p>
        </p:txBody>
      </p:sp>
      <p:sp>
        <p:nvSpPr>
          <p:cNvPr id="6" name="Slide Number Placeholder 5">
            <a:extLst>
              <a:ext uri="{FF2B5EF4-FFF2-40B4-BE49-F238E27FC236}">
                <a16:creationId xmlns:a16="http://schemas.microsoft.com/office/drawing/2014/main" id="{0F3B0ED4-F55A-A193-1415-BEDDC6129BAE}"/>
              </a:ext>
            </a:extLst>
          </p:cNvPr>
          <p:cNvSpPr>
            <a:spLocks noGrp="1"/>
          </p:cNvSpPr>
          <p:nvPr>
            <p:ph type="sldNum" sz="quarter" idx="12"/>
          </p:nvPr>
        </p:nvSpPr>
        <p:spPr/>
        <p:txBody>
          <a:bodyPr/>
          <a:lstStyle/>
          <a:p>
            <a:fld id="{9EA0BE3B-158A-4EDF-80DC-E394A0D1600F}" type="slidenum">
              <a:rPr lang="en-US" smtClean="0"/>
              <a:pPr/>
              <a:t>11</a:t>
            </a:fld>
            <a:endParaRPr lang="en-US"/>
          </a:p>
        </p:txBody>
      </p:sp>
      <p:graphicFrame>
        <p:nvGraphicFramePr>
          <p:cNvPr id="5" name="Table 4">
            <a:extLst>
              <a:ext uri="{FF2B5EF4-FFF2-40B4-BE49-F238E27FC236}">
                <a16:creationId xmlns:a16="http://schemas.microsoft.com/office/drawing/2014/main" id="{58564589-8F77-B8DC-2DCD-1C31B592818E}"/>
              </a:ext>
            </a:extLst>
          </p:cNvPr>
          <p:cNvGraphicFramePr>
            <a:graphicFrameLocks noGrp="1"/>
          </p:cNvGraphicFramePr>
          <p:nvPr>
            <p:extLst>
              <p:ext uri="{D42A27DB-BD31-4B8C-83A1-F6EECF244321}">
                <p14:modId xmlns:p14="http://schemas.microsoft.com/office/powerpoint/2010/main" val="241854981"/>
              </p:ext>
            </p:extLst>
          </p:nvPr>
        </p:nvGraphicFramePr>
        <p:xfrm>
          <a:off x="337539" y="1852930"/>
          <a:ext cx="11514528" cy="3931920"/>
        </p:xfrm>
        <a:graphic>
          <a:graphicData uri="http://schemas.openxmlformats.org/drawingml/2006/table">
            <a:tbl>
              <a:tblPr>
                <a:tableStyleId>{5C22544A-7EE6-4342-B048-85BDC9FD1C3A}</a:tableStyleId>
              </a:tblPr>
              <a:tblGrid>
                <a:gridCol w="4122495">
                  <a:extLst>
                    <a:ext uri="{9D8B030D-6E8A-4147-A177-3AD203B41FA5}">
                      <a16:colId xmlns:a16="http://schemas.microsoft.com/office/drawing/2014/main" val="2995128598"/>
                    </a:ext>
                  </a:extLst>
                </a:gridCol>
                <a:gridCol w="2976465">
                  <a:extLst>
                    <a:ext uri="{9D8B030D-6E8A-4147-A177-3AD203B41FA5}">
                      <a16:colId xmlns:a16="http://schemas.microsoft.com/office/drawing/2014/main" val="610086175"/>
                    </a:ext>
                  </a:extLst>
                </a:gridCol>
                <a:gridCol w="4415568">
                  <a:extLst>
                    <a:ext uri="{9D8B030D-6E8A-4147-A177-3AD203B41FA5}">
                      <a16:colId xmlns:a16="http://schemas.microsoft.com/office/drawing/2014/main" val="897225913"/>
                    </a:ext>
                  </a:extLst>
                </a:gridCol>
              </a:tblGrid>
              <a:tr h="370840">
                <a:tc>
                  <a:txBody>
                    <a:bodyPr/>
                    <a:lstStyle/>
                    <a:p>
                      <a:pPr algn="l"/>
                      <a:r>
                        <a:rPr lang="en-US" sz="1600" b="1">
                          <a:latin typeface="Calibri" panose="020F0502020204030204" pitchFamily="34" charset="0"/>
                          <a:ea typeface="Calibri" panose="020F0502020204030204" pitchFamily="34" charset="0"/>
                          <a:cs typeface="Calibri" panose="020F0502020204030204" pitchFamily="34" charset="0"/>
                        </a:rPr>
                        <a:t>Business problem</a:t>
                      </a:r>
                    </a:p>
                    <a:p>
                      <a:pPr marL="285750" indent="-285750" algn="l">
                        <a:buFont typeface="Arial" panose="020B0604020202020204" pitchFamily="34" charset="0"/>
                        <a:buChar char="•"/>
                      </a:pPr>
                      <a:r>
                        <a:rPr lang="en-US" sz="1600">
                          <a:latin typeface="Calibri" panose="020F0502020204030204" pitchFamily="34" charset="0"/>
                          <a:ea typeface="Calibri" panose="020F0502020204030204" pitchFamily="34" charset="0"/>
                          <a:cs typeface="Calibri" panose="020F0502020204030204" pitchFamily="34" charset="0"/>
                        </a:rPr>
                        <a:t>Thiếu tương tác trực tiếp với người dạy.</a:t>
                      </a:r>
                    </a:p>
                    <a:p>
                      <a:pPr marL="285750" indent="-285750" algn="l">
                        <a:buFont typeface="Arial" panose="020B0604020202020204" pitchFamily="34" charset="0"/>
                        <a:buChar char="•"/>
                      </a:pPr>
                      <a:r>
                        <a:rPr lang="en-US" sz="1600">
                          <a:latin typeface="Calibri" panose="020F0502020204030204" pitchFamily="34" charset="0"/>
                          <a:ea typeface="Calibri" panose="020F0502020204030204" pitchFamily="34" charset="0"/>
                          <a:cs typeface="Calibri" panose="020F0502020204030204" pitchFamily="34" charset="0"/>
                        </a:rPr>
                        <a:t>Thiếu động lực hoàn thành khóa học.</a:t>
                      </a:r>
                    </a:p>
                  </a:txBody>
                  <a:tcPr/>
                </a:tc>
                <a:tc rowSpan="2">
                  <a:txBody>
                    <a:bodyPr/>
                    <a:lstStyle/>
                    <a:p>
                      <a:pPr algn="l"/>
                      <a:r>
                        <a:rPr lang="en-US" sz="1600" b="1">
                          <a:latin typeface="Calibri" panose="020F0502020204030204" pitchFamily="34" charset="0"/>
                          <a:ea typeface="Calibri" panose="020F0502020204030204" pitchFamily="34" charset="0"/>
                          <a:cs typeface="Calibri" panose="020F0502020204030204" pitchFamily="34" charset="0"/>
                        </a:rPr>
                        <a:t>Solutions</a:t>
                      </a:r>
                    </a:p>
                    <a:p>
                      <a:pPr marL="285750" indent="-285750" algn="l">
                        <a:buFont typeface="Arial" panose="020B0604020202020204" pitchFamily="34" charset="0"/>
                        <a:buChar char="•"/>
                      </a:pPr>
                      <a:r>
                        <a:rPr lang="en-US" sz="1600">
                          <a:latin typeface="Calibri" panose="020F0502020204030204" pitchFamily="34" charset="0"/>
                          <a:ea typeface="Calibri" panose="020F0502020204030204" pitchFamily="34" charset="0"/>
                          <a:cs typeface="Calibri" panose="020F0502020204030204" pitchFamily="34" charset="0"/>
                        </a:rPr>
                        <a:t>Giao diện tối giản, hỗ trợ tiếng Việt.</a:t>
                      </a:r>
                    </a:p>
                    <a:p>
                      <a:pPr marL="285750" indent="-285750" algn="l">
                        <a:buFont typeface="Arial" panose="020B0604020202020204" pitchFamily="34" charset="0"/>
                        <a:buChar char="•"/>
                      </a:pPr>
                      <a:r>
                        <a:rPr lang="en-US" sz="1600">
                          <a:latin typeface="Calibri" panose="020F0502020204030204" pitchFamily="34" charset="0"/>
                          <a:ea typeface="Calibri" panose="020F0502020204030204" pitchFamily="34" charset="0"/>
                          <a:cs typeface="Calibri" panose="020F0502020204030204" pitchFamily="34" charset="0"/>
                        </a:rPr>
                        <a:t>Dashboard và thông báo, nhắc nhở tiến độ học.</a:t>
                      </a:r>
                    </a:p>
                    <a:p>
                      <a:pPr marL="285750" indent="-285750" algn="l">
                        <a:buFont typeface="Arial" panose="020B0604020202020204" pitchFamily="34" charset="0"/>
                        <a:buChar char="•"/>
                      </a:pPr>
                      <a:r>
                        <a:rPr lang="en-US" sz="1600">
                          <a:latin typeface="Calibri" panose="020F0502020204030204" pitchFamily="34" charset="0"/>
                          <a:ea typeface="Calibri" panose="020F0502020204030204" pitchFamily="34" charset="0"/>
                          <a:cs typeface="Calibri" panose="020F0502020204030204" pitchFamily="34" charset="0"/>
                        </a:rPr>
                        <a:t>Tính năng live-streaming, Q&amp;A, phản hồi nhanh.</a:t>
                      </a:r>
                    </a:p>
                    <a:p>
                      <a:pPr marL="285750" indent="-285750" algn="l">
                        <a:buFont typeface="Arial" panose="020B0604020202020204" pitchFamily="34" charset="0"/>
                        <a:buChar char="•"/>
                      </a:pPr>
                      <a:r>
                        <a:rPr lang="en-US" sz="1600">
                          <a:latin typeface="Calibri" panose="020F0502020204030204" pitchFamily="34" charset="0"/>
                          <a:ea typeface="Calibri" panose="020F0502020204030204" pitchFamily="34" charset="0"/>
                          <a:cs typeface="Calibri" panose="020F0502020204030204" pitchFamily="34" charset="0"/>
                        </a:rPr>
                        <a:t>Thiết kế responsive, hoạt động tốt trên mobile.</a:t>
                      </a:r>
                    </a:p>
                  </a:txBody>
                  <a:tcPr/>
                </a:tc>
                <a:tc>
                  <a:txBody>
                    <a:bodyPr/>
                    <a:lstStyle/>
                    <a:p>
                      <a:pPr algn="l"/>
                      <a:r>
                        <a:rPr lang="en-US" sz="1600" b="1">
                          <a:latin typeface="Calibri" panose="020F0502020204030204" pitchFamily="34" charset="0"/>
                          <a:ea typeface="Calibri" panose="020F0502020204030204" pitchFamily="34" charset="0"/>
                          <a:cs typeface="Calibri" panose="020F0502020204030204" pitchFamily="34" charset="0"/>
                        </a:rPr>
                        <a:t>Business outcomes</a:t>
                      </a:r>
                    </a:p>
                    <a:p>
                      <a:pPr marL="285750" indent="-285750" algn="l">
                        <a:buFont typeface="Arial" panose="020B0604020202020204" pitchFamily="34" charset="0"/>
                        <a:buChar char="•"/>
                      </a:pPr>
                      <a:r>
                        <a:rPr lang="en-US" sz="1600">
                          <a:latin typeface="Calibri" panose="020F0502020204030204" pitchFamily="34" charset="0"/>
                          <a:ea typeface="Calibri" panose="020F0502020204030204" pitchFamily="34" charset="0"/>
                          <a:cs typeface="Calibri" panose="020F0502020204030204" pitchFamily="34" charset="0"/>
                        </a:rPr>
                        <a:t>Tăng tỷ </a:t>
                      </a:r>
                      <a:r>
                        <a:rPr lang="vi-VN" sz="1600">
                          <a:latin typeface="Calibri" panose="020F0502020204030204" pitchFamily="34" charset="0"/>
                          <a:ea typeface="Calibri" panose="020F0502020204030204" pitchFamily="34" charset="0"/>
                          <a:cs typeface="Calibri" panose="020F0502020204030204" pitchFamily="34" charset="0"/>
                        </a:rPr>
                        <a:t>lệ</a:t>
                      </a:r>
                      <a:r>
                        <a:rPr lang="en-US" sz="1600">
                          <a:latin typeface="Calibri" panose="020F0502020204030204" pitchFamily="34" charset="0"/>
                          <a:ea typeface="Calibri" panose="020F0502020204030204" pitchFamily="34" charset="0"/>
                          <a:cs typeface="Calibri" panose="020F0502020204030204" pitchFamily="34" charset="0"/>
                        </a:rPr>
                        <a:t> người học</a:t>
                      </a:r>
                      <a:r>
                        <a:rPr lang="vi-VN" sz="1600">
                          <a:latin typeface="Calibri" panose="020F0502020204030204" pitchFamily="34" charset="0"/>
                          <a:ea typeface="Calibri" panose="020F0502020204030204" pitchFamily="34" charset="0"/>
                          <a:cs typeface="Calibri" panose="020F0502020204030204" pitchFamily="34" charset="0"/>
                        </a:rPr>
                        <a:t> hoàn thành khóa học.</a:t>
                      </a:r>
                      <a:endParaRPr lang="en-US" sz="1600">
                        <a:latin typeface="Calibri" panose="020F0502020204030204" pitchFamily="34" charset="0"/>
                        <a:ea typeface="Calibri" panose="020F0502020204030204" pitchFamily="34" charset="0"/>
                        <a:cs typeface="Calibri" panose="020F0502020204030204" pitchFamily="34" charset="0"/>
                      </a:endParaRPr>
                    </a:p>
                    <a:p>
                      <a:pPr marL="285750" indent="-285750" algn="l">
                        <a:buFont typeface="Arial" panose="020B0604020202020204" pitchFamily="34" charset="0"/>
                        <a:buChar char="•"/>
                      </a:pPr>
                      <a:r>
                        <a:rPr lang="en-US" sz="1600">
                          <a:latin typeface="Calibri" panose="020F0502020204030204" pitchFamily="34" charset="0"/>
                          <a:ea typeface="Calibri" panose="020F0502020204030204" pitchFamily="34" charset="0"/>
                          <a:cs typeface="Calibri" panose="020F0502020204030204" pitchFamily="34" charset="0"/>
                        </a:rPr>
                        <a:t>Giảm số </a:t>
                      </a:r>
                      <a:r>
                        <a:rPr lang="vi-VN" sz="1600">
                          <a:latin typeface="Calibri" panose="020F0502020204030204" pitchFamily="34" charset="0"/>
                          <a:ea typeface="Calibri" panose="020F0502020204030204" pitchFamily="34" charset="0"/>
                          <a:cs typeface="Calibri" panose="020F0502020204030204" pitchFamily="34" charset="0"/>
                        </a:rPr>
                        <a:t>yêu cầu hỗ trợ kỹ thuật</a:t>
                      </a:r>
                      <a:r>
                        <a:rPr lang="en-US" sz="1600">
                          <a:latin typeface="Calibri" panose="020F0502020204030204" pitchFamily="34" charset="0"/>
                          <a:ea typeface="Calibri" panose="020F0502020204030204" pitchFamily="34" charset="0"/>
                          <a:cs typeface="Calibri" panose="020F0502020204030204" pitchFamily="34" charset="0"/>
                        </a:rPr>
                        <a:t> từ người dạy</a:t>
                      </a:r>
                      <a:r>
                        <a:rPr lang="vi-VN" sz="1600">
                          <a:latin typeface="Calibri" panose="020F0502020204030204" pitchFamily="34" charset="0"/>
                          <a:ea typeface="Calibri" panose="020F0502020204030204" pitchFamily="34" charset="0"/>
                          <a:cs typeface="Calibri" panose="020F0502020204030204" pitchFamily="34" charset="0"/>
                        </a:rPr>
                        <a:t>.</a:t>
                      </a:r>
                    </a:p>
                  </a:txBody>
                  <a:tcPr/>
                </a:tc>
                <a:extLst>
                  <a:ext uri="{0D108BD9-81ED-4DB2-BD59-A6C34878D82A}">
                    <a16:rowId xmlns:a16="http://schemas.microsoft.com/office/drawing/2014/main" val="3813855543"/>
                  </a:ext>
                </a:extLst>
              </a:tr>
              <a:tr h="370840">
                <a:tc>
                  <a:txBody>
                    <a:bodyPr/>
                    <a:lstStyle/>
                    <a:p>
                      <a:pPr algn="l"/>
                      <a:r>
                        <a:rPr lang="en-US" sz="1600" b="1">
                          <a:latin typeface="Calibri" panose="020F0502020204030204" pitchFamily="34" charset="0"/>
                          <a:ea typeface="Calibri" panose="020F0502020204030204" pitchFamily="34" charset="0"/>
                          <a:cs typeface="Calibri" panose="020F0502020204030204" pitchFamily="34" charset="0"/>
                        </a:rPr>
                        <a:t>Users</a:t>
                      </a:r>
                    </a:p>
                    <a:p>
                      <a:pPr marL="285750" indent="-285750" algn="l">
                        <a:buFont typeface="Arial" panose="020B0604020202020204" pitchFamily="34" charset="0"/>
                        <a:buChar char="•"/>
                      </a:pPr>
                      <a:r>
                        <a:rPr lang="en-US" sz="1600">
                          <a:latin typeface="Calibri" panose="020F0502020204030204" pitchFamily="34" charset="0"/>
                          <a:ea typeface="Calibri" panose="020F0502020204030204" pitchFamily="34" charset="0"/>
                          <a:cs typeface="Calibri" panose="020F0502020204030204" pitchFamily="34" charset="0"/>
                        </a:rPr>
                        <a:t>Học sinh, sinh viên, người đi làm (tại Việt Nam).</a:t>
                      </a:r>
                    </a:p>
                    <a:p>
                      <a:pPr marL="285750" indent="-285750" algn="l">
                        <a:buFont typeface="Arial" panose="020B0604020202020204" pitchFamily="34" charset="0"/>
                        <a:buChar char="•"/>
                      </a:pPr>
                      <a:r>
                        <a:rPr lang="en-US" sz="1600">
                          <a:latin typeface="Calibri" panose="020F0502020204030204" pitchFamily="34" charset="0"/>
                          <a:ea typeface="Calibri" panose="020F0502020204030204" pitchFamily="34" charset="0"/>
                          <a:cs typeface="Calibri" panose="020F0502020204030204" pitchFamily="34" charset="0"/>
                        </a:rPr>
                        <a:t>Người dạy tự do, trung tâm đào tạo nhỏ cần hệ thống LMS tiết kiệm và nhanh triển khai.</a:t>
                      </a:r>
                    </a:p>
                    <a:p>
                      <a:pPr algn="l"/>
                      <a:endParaRPr lang="en-US" sz="1600">
                        <a:latin typeface="Calibri" panose="020F0502020204030204" pitchFamily="34" charset="0"/>
                        <a:ea typeface="Calibri" panose="020F0502020204030204" pitchFamily="34" charset="0"/>
                        <a:cs typeface="Calibri" panose="020F0502020204030204" pitchFamily="34" charset="0"/>
                      </a:endParaRPr>
                    </a:p>
                  </a:txBody>
                  <a:tcPr/>
                </a:tc>
                <a:tc vMerge="1">
                  <a:txBody>
                    <a:bodyPr/>
                    <a:lstStyle/>
                    <a:p>
                      <a:endParaRPr lang="en-US"/>
                    </a:p>
                  </a:txBody>
                  <a:tcPr/>
                </a:tc>
                <a:tc>
                  <a:txBody>
                    <a:bodyPr/>
                    <a:lstStyle/>
                    <a:p>
                      <a:pPr algn="l"/>
                      <a:r>
                        <a:rPr lang="vi-VN" sz="1600" b="1">
                          <a:latin typeface="Calibri" panose="020F0502020204030204" pitchFamily="34" charset="0"/>
                          <a:ea typeface="Calibri" panose="020F0502020204030204" pitchFamily="34" charset="0"/>
                          <a:cs typeface="Calibri" panose="020F0502020204030204" pitchFamily="34" charset="0"/>
                        </a:rPr>
                        <a:t>User Outcomes &amp; Benefits</a:t>
                      </a:r>
                    </a:p>
                    <a:p>
                      <a:pPr marL="285750" indent="-285750" algn="l">
                        <a:buFont typeface="Arial" panose="020B0604020202020204" pitchFamily="34" charset="0"/>
                        <a:buChar char="•"/>
                      </a:pPr>
                      <a:r>
                        <a:rPr lang="vi-VN" sz="1600">
                          <a:latin typeface="Calibri" panose="020F0502020204030204" pitchFamily="34" charset="0"/>
                          <a:ea typeface="Calibri" panose="020F0502020204030204" pitchFamily="34" charset="0"/>
                          <a:cs typeface="Calibri" panose="020F0502020204030204" pitchFamily="34" charset="0"/>
                        </a:rPr>
                        <a:t>Giảm thời gian quản lý khóa học</a:t>
                      </a:r>
                      <a:r>
                        <a:rPr lang="en-US" sz="1600">
                          <a:latin typeface="Calibri" panose="020F0502020204030204" pitchFamily="34" charset="0"/>
                          <a:ea typeface="Calibri" panose="020F0502020204030204" pitchFamily="34" charset="0"/>
                          <a:cs typeface="Calibri" panose="020F0502020204030204" pitchFamily="34" charset="0"/>
                        </a:rPr>
                        <a:t> để dành cho việc cải thiện chất lượng bài giảng.</a:t>
                      </a:r>
                      <a:endParaRPr lang="vi-VN" sz="1600">
                        <a:latin typeface="Calibri" panose="020F0502020204030204" pitchFamily="34" charset="0"/>
                        <a:ea typeface="Calibri" panose="020F0502020204030204" pitchFamily="34" charset="0"/>
                        <a:cs typeface="Calibri" panose="020F0502020204030204" pitchFamily="34" charset="0"/>
                      </a:endParaRPr>
                    </a:p>
                    <a:p>
                      <a:pPr marL="285750" indent="-285750" algn="l">
                        <a:buFont typeface="Arial" panose="020B0604020202020204" pitchFamily="34" charset="0"/>
                        <a:buChar char="•"/>
                      </a:pPr>
                      <a:r>
                        <a:rPr lang="vi-VN" sz="1600">
                          <a:latin typeface="Calibri" panose="020F0502020204030204" pitchFamily="34" charset="0"/>
                          <a:ea typeface="Calibri" panose="020F0502020204030204" pitchFamily="34" charset="0"/>
                          <a:cs typeface="Calibri" panose="020F0502020204030204" pitchFamily="34" charset="0"/>
                        </a:rPr>
                        <a:t>Tăng tương tác và động lực học.</a:t>
                      </a:r>
                    </a:p>
                  </a:txBody>
                  <a:tcPr/>
                </a:tc>
                <a:extLst>
                  <a:ext uri="{0D108BD9-81ED-4DB2-BD59-A6C34878D82A}">
                    <a16:rowId xmlns:a16="http://schemas.microsoft.com/office/drawing/2014/main" val="674790250"/>
                  </a:ext>
                </a:extLst>
              </a:tr>
              <a:tr h="370840">
                <a:tc>
                  <a:txBody>
                    <a:bodyPr/>
                    <a:lstStyle/>
                    <a:p>
                      <a:pPr algn="l"/>
                      <a:r>
                        <a:rPr lang="vi-VN" sz="1600" b="1">
                          <a:latin typeface="Calibri" panose="020F0502020204030204" pitchFamily="34" charset="0"/>
                          <a:ea typeface="Calibri" panose="020F0502020204030204" pitchFamily="34" charset="0"/>
                          <a:cs typeface="Calibri" panose="020F0502020204030204" pitchFamily="34" charset="0"/>
                        </a:rPr>
                        <a:t>Hypotheses</a:t>
                      </a:r>
                    </a:p>
                    <a:p>
                      <a:pPr marL="285750" indent="-285750" algn="l">
                        <a:buFont typeface="Arial" panose="020B0604020202020204" pitchFamily="34" charset="0"/>
                        <a:buChar char="•"/>
                      </a:pPr>
                      <a:r>
                        <a:rPr lang="vi-VN" sz="1600">
                          <a:latin typeface="Calibri" panose="020F0502020204030204" pitchFamily="34" charset="0"/>
                          <a:ea typeface="Calibri" panose="020F0502020204030204" pitchFamily="34" charset="0"/>
                          <a:cs typeface="Calibri" panose="020F0502020204030204" pitchFamily="34" charset="0"/>
                        </a:rPr>
                        <a:t>Nếu giao diện thân thiện</a:t>
                      </a:r>
                      <a:r>
                        <a:rPr lang="en-US" sz="1600">
                          <a:latin typeface="Calibri" panose="020F0502020204030204" pitchFamily="34" charset="0"/>
                          <a:ea typeface="Calibri" panose="020F0502020204030204" pitchFamily="34" charset="0"/>
                          <a:cs typeface="Calibri" panose="020F0502020204030204" pitchFamily="34" charset="0"/>
                        </a:rPr>
                        <a:t>, </a:t>
                      </a:r>
                      <a:r>
                        <a:rPr lang="vi-VN" sz="1600">
                          <a:latin typeface="Calibri" panose="020F0502020204030204" pitchFamily="34" charset="0"/>
                          <a:ea typeface="Calibri" panose="020F0502020204030204" pitchFamily="34" charset="0"/>
                          <a:cs typeface="Calibri" panose="020F0502020204030204" pitchFamily="34" charset="0"/>
                        </a:rPr>
                        <a:t>có tương tác</a:t>
                      </a:r>
                      <a:r>
                        <a:rPr lang="en-US" sz="1600">
                          <a:latin typeface="Calibri" panose="020F0502020204030204" pitchFamily="34" charset="0"/>
                          <a:ea typeface="Calibri" panose="020F0502020204030204" pitchFamily="34" charset="0"/>
                          <a:cs typeface="Calibri" panose="020F0502020204030204" pitchFamily="34" charset="0"/>
                        </a:rPr>
                        <a:t> và có nhắc nhở</a:t>
                      </a:r>
                      <a:r>
                        <a:rPr lang="vi-VN" sz="1600">
                          <a:latin typeface="Calibri" panose="020F0502020204030204" pitchFamily="34" charset="0"/>
                          <a:ea typeface="Calibri" panose="020F0502020204030204" pitchFamily="34" charset="0"/>
                          <a:cs typeface="Calibri" panose="020F0502020204030204" pitchFamily="34" charset="0"/>
                        </a:rPr>
                        <a:t>, người học sẽ quay lại thường xuyên hơn</a:t>
                      </a:r>
                      <a:r>
                        <a:rPr lang="en-US" sz="1600">
                          <a:latin typeface="Calibri" panose="020F0502020204030204" pitchFamily="34" charset="0"/>
                          <a:ea typeface="Calibri" panose="020F0502020204030204" pitchFamily="34" charset="0"/>
                          <a:cs typeface="Calibri" panose="020F0502020204030204" pitchFamily="34" charset="0"/>
                        </a:rPr>
                        <a:t>.</a:t>
                      </a:r>
                    </a:p>
                    <a:p>
                      <a:pPr marL="285750" indent="-285750" algn="l">
                        <a:buFont typeface="Arial" panose="020B0604020202020204" pitchFamily="34" charset="0"/>
                        <a:buChar char="•"/>
                      </a:pPr>
                      <a:r>
                        <a:rPr lang="vi-VN" sz="1600">
                          <a:latin typeface="Calibri" panose="020F0502020204030204" pitchFamily="34" charset="0"/>
                          <a:ea typeface="Calibri" panose="020F0502020204030204" pitchFamily="34" charset="0"/>
                          <a:cs typeface="Calibri" panose="020F0502020204030204" pitchFamily="34" charset="0"/>
                        </a:rPr>
                        <a:t>Nếu giảng viên dễ quản lý, họ sẽ tạo thêm khóa học mới.</a:t>
                      </a:r>
                    </a:p>
                  </a:txBody>
                  <a:tcPr/>
                </a:tc>
                <a:tc>
                  <a:txBody>
                    <a:bodyPr/>
                    <a:lstStyle/>
                    <a:p>
                      <a:pPr algn="l"/>
                      <a:r>
                        <a:rPr lang="vi-VN" sz="1600" b="1">
                          <a:latin typeface="Calibri" panose="020F0502020204030204" pitchFamily="34" charset="0"/>
                          <a:ea typeface="Calibri" panose="020F0502020204030204" pitchFamily="34" charset="0"/>
                          <a:cs typeface="Calibri" panose="020F0502020204030204" pitchFamily="34" charset="0"/>
                        </a:rPr>
                        <a:t>What’s the Most Important Thing to Learn First?</a:t>
                      </a:r>
                    </a:p>
                    <a:p>
                      <a:pPr marL="0" indent="0" algn="l">
                        <a:buFont typeface="Arial" panose="020B0604020202020204" pitchFamily="34" charset="0"/>
                        <a:buNone/>
                      </a:pPr>
                      <a:r>
                        <a:rPr lang="vi-VN" sz="1600">
                          <a:latin typeface="Calibri" panose="020F0502020204030204" pitchFamily="34" charset="0"/>
                          <a:ea typeface="Calibri" panose="020F0502020204030204" pitchFamily="34" charset="0"/>
                          <a:cs typeface="Calibri" panose="020F0502020204030204" pitchFamily="34" charset="0"/>
                        </a:rPr>
                        <a:t>Liệu yếu tố “dễ dùng và tương tác trực tiếp” có thật sự khiến người học gắn bó hơn?</a:t>
                      </a:r>
                      <a:r>
                        <a:rPr lang="en-US" sz="1600">
                          <a:latin typeface="Calibri" panose="020F0502020204030204" pitchFamily="34" charset="0"/>
                          <a:ea typeface="Calibri" panose="020F0502020204030204" pitchFamily="34" charset="0"/>
                          <a:cs typeface="Calibri" panose="020F0502020204030204" pitchFamily="34" charset="0"/>
                        </a:rPr>
                        <a:t> </a:t>
                      </a:r>
                      <a:r>
                        <a:rPr lang="vi-VN" sz="1600">
                          <a:latin typeface="Calibri" panose="020F0502020204030204" pitchFamily="34" charset="0"/>
                          <a:ea typeface="Calibri" panose="020F0502020204030204" pitchFamily="34" charset="0"/>
                          <a:cs typeface="Calibri" panose="020F0502020204030204" pitchFamily="34" charset="0"/>
                        </a:rPr>
                        <a:t>Hay nội dung và giá cả là yếu tố quyết định chính?</a:t>
                      </a:r>
                    </a:p>
                  </a:txBody>
                  <a:tcPr/>
                </a:tc>
                <a:tc>
                  <a:txBody>
                    <a:bodyPr/>
                    <a:lstStyle/>
                    <a:p>
                      <a:pPr algn="l"/>
                      <a:r>
                        <a:rPr lang="vi-VN" sz="1600" b="1">
                          <a:latin typeface="Calibri" panose="020F0502020204030204" pitchFamily="34" charset="0"/>
                          <a:ea typeface="Calibri" panose="020F0502020204030204" pitchFamily="34" charset="0"/>
                          <a:cs typeface="Calibri" panose="020F0502020204030204" pitchFamily="34" charset="0"/>
                        </a:rPr>
                        <a:t>What’s the Least Amount of Work to Learn the Next Most Important Thing?</a:t>
                      </a:r>
                    </a:p>
                    <a:p>
                      <a:pPr marL="285750" indent="-285750" algn="l">
                        <a:buFont typeface="Arial" panose="020B0604020202020204" pitchFamily="34" charset="0"/>
                        <a:buChar char="•"/>
                      </a:pPr>
                      <a:r>
                        <a:rPr lang="vi-VN" sz="1600">
                          <a:latin typeface="Calibri" panose="020F0502020204030204" pitchFamily="34" charset="0"/>
                          <a:ea typeface="Calibri" panose="020F0502020204030204" pitchFamily="34" charset="0"/>
                          <a:cs typeface="Calibri" panose="020F0502020204030204" pitchFamily="34" charset="0"/>
                        </a:rPr>
                        <a:t>Tạo prototype với dashboard và Q&amp;A.</a:t>
                      </a:r>
                      <a:endParaRPr lang="en-US" sz="1600">
                        <a:latin typeface="Calibri" panose="020F0502020204030204" pitchFamily="34" charset="0"/>
                        <a:ea typeface="Calibri" panose="020F0502020204030204" pitchFamily="34" charset="0"/>
                        <a:cs typeface="Calibri" panose="020F0502020204030204" pitchFamily="34" charset="0"/>
                      </a:endParaRPr>
                    </a:p>
                    <a:p>
                      <a:pPr marL="285750" indent="-285750" algn="l">
                        <a:buFont typeface="Arial" panose="020B0604020202020204" pitchFamily="34" charset="0"/>
                        <a:buChar char="•"/>
                      </a:pPr>
                      <a:r>
                        <a:rPr lang="vi-VN" sz="1600">
                          <a:latin typeface="Calibri" panose="020F0502020204030204" pitchFamily="34" charset="0"/>
                          <a:ea typeface="Calibri" panose="020F0502020204030204" pitchFamily="34" charset="0"/>
                          <a:cs typeface="Calibri" panose="020F0502020204030204" pitchFamily="34" charset="0"/>
                        </a:rPr>
                        <a:t>Kiểm thử với </a:t>
                      </a:r>
                      <a:r>
                        <a:rPr lang="en-US" sz="1600">
                          <a:latin typeface="Calibri" panose="020F0502020204030204" pitchFamily="34" charset="0"/>
                          <a:ea typeface="Calibri" panose="020F0502020204030204" pitchFamily="34" charset="0"/>
                          <a:cs typeface="Calibri" panose="020F0502020204030204" pitchFamily="34" charset="0"/>
                        </a:rPr>
                        <a:t>2</a:t>
                      </a:r>
                      <a:r>
                        <a:rPr lang="vi-VN" sz="1600">
                          <a:latin typeface="Calibri" panose="020F0502020204030204" pitchFamily="34" charset="0"/>
                          <a:ea typeface="Calibri" panose="020F0502020204030204" pitchFamily="34" charset="0"/>
                          <a:cs typeface="Calibri" panose="020F0502020204030204" pitchFamily="34" charset="0"/>
                        </a:rPr>
                        <a:t>0 người dùng (</a:t>
                      </a:r>
                      <a:r>
                        <a:rPr lang="en-US" sz="1600">
                          <a:latin typeface="Calibri" panose="020F0502020204030204" pitchFamily="34" charset="0"/>
                          <a:ea typeface="Calibri" panose="020F0502020204030204" pitchFamily="34" charset="0"/>
                          <a:cs typeface="Calibri" panose="020F0502020204030204" pitchFamily="34" charset="0"/>
                        </a:rPr>
                        <a:t>người học, người dạy</a:t>
                      </a:r>
                      <a:r>
                        <a:rPr lang="vi-VN" sz="1600">
                          <a:latin typeface="Calibri" panose="020F0502020204030204" pitchFamily="34" charset="0"/>
                          <a:ea typeface="Calibri" panose="020F0502020204030204" pitchFamily="34" charset="0"/>
                          <a:cs typeface="Calibri" panose="020F0502020204030204" pitchFamily="34" charset="0"/>
                        </a:rPr>
                        <a:t>).</a:t>
                      </a:r>
                      <a:endParaRPr lang="en-US" sz="1600">
                        <a:latin typeface="Calibri" panose="020F0502020204030204" pitchFamily="34" charset="0"/>
                        <a:ea typeface="Calibri" panose="020F0502020204030204" pitchFamily="34" charset="0"/>
                        <a:cs typeface="Calibri" panose="020F0502020204030204" pitchFamily="34" charset="0"/>
                      </a:endParaRPr>
                    </a:p>
                    <a:p>
                      <a:pPr marL="285750" indent="-285750" algn="l">
                        <a:buFont typeface="Arial" panose="020B0604020202020204" pitchFamily="34" charset="0"/>
                        <a:buChar char="•"/>
                      </a:pPr>
                      <a:r>
                        <a:rPr lang="vi-VN" sz="1600">
                          <a:latin typeface="Calibri" panose="020F0502020204030204" pitchFamily="34" charset="0"/>
                          <a:ea typeface="Calibri" panose="020F0502020204030204" pitchFamily="34" charset="0"/>
                          <a:cs typeface="Calibri" panose="020F0502020204030204" pitchFamily="34" charset="0"/>
                        </a:rPr>
                        <a:t>Đo mức độ hài lòng và cảm nhận “dễ sử dụng”.</a:t>
                      </a:r>
                    </a:p>
                  </a:txBody>
                  <a:tcPr/>
                </a:tc>
                <a:extLst>
                  <a:ext uri="{0D108BD9-81ED-4DB2-BD59-A6C34878D82A}">
                    <a16:rowId xmlns:a16="http://schemas.microsoft.com/office/drawing/2014/main" val="3511064037"/>
                  </a:ext>
                </a:extLst>
              </a:tr>
            </a:tbl>
          </a:graphicData>
        </a:graphic>
      </p:graphicFrame>
    </p:spTree>
    <p:extLst>
      <p:ext uri="{BB962C8B-B14F-4D97-AF65-F5344CB8AC3E}">
        <p14:creationId xmlns:p14="http://schemas.microsoft.com/office/powerpoint/2010/main" val="13369264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B27FF1-D0A2-0BFB-1DC1-A49F5F1A08C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CE449B6-E956-5597-26C0-296986532411}"/>
              </a:ext>
            </a:extLst>
          </p:cNvPr>
          <p:cNvSpPr>
            <a:spLocks noGrp="1"/>
          </p:cNvSpPr>
          <p:nvPr>
            <p:ph sz="quarter" idx="13"/>
          </p:nvPr>
        </p:nvSpPr>
        <p:spPr/>
        <p:txBody>
          <a:bodyPr/>
          <a:lstStyle/>
          <a:p>
            <a:pPr marL="514350" indent="-514350">
              <a:buFont typeface="+mj-lt"/>
              <a:buAutoNum type="arabicPeriod"/>
            </a:pPr>
            <a:r>
              <a:rPr lang="en-US"/>
              <a:t>Phát biểu vấn đề người dùng</a:t>
            </a:r>
          </a:p>
          <a:p>
            <a:pPr marL="514350" indent="-514350">
              <a:buFont typeface="+mj-lt"/>
              <a:buAutoNum type="arabicPeriod"/>
            </a:pPr>
            <a:r>
              <a:rPr lang="en-US"/>
              <a:t>Phỏng vấn người dùng mục tiêu</a:t>
            </a:r>
          </a:p>
          <a:p>
            <a:pPr marL="514350" indent="-514350">
              <a:buFont typeface="+mj-lt"/>
              <a:buAutoNum type="arabicPeriod"/>
            </a:pPr>
            <a:r>
              <a:rPr lang="en-US"/>
              <a:t>Phân tích đối thủ cạnh tranh</a:t>
            </a:r>
          </a:p>
          <a:p>
            <a:pPr marL="514350" indent="-514350">
              <a:buFont typeface="+mj-lt"/>
              <a:buAutoNum type="arabicPeriod"/>
            </a:pPr>
            <a:r>
              <a:rPr lang="en-US"/>
              <a:t>Tổng hợp kết quả nghiên cứu</a:t>
            </a:r>
          </a:p>
          <a:p>
            <a:pPr marL="514350" indent="-514350">
              <a:buFont typeface="+mj-lt"/>
              <a:buAutoNum type="arabicPeriod"/>
            </a:pPr>
            <a:r>
              <a:rPr lang="en-US">
                <a:solidFill>
                  <a:srgbClr val="C00000"/>
                </a:solidFill>
              </a:rPr>
              <a:t>Dự án</a:t>
            </a:r>
          </a:p>
        </p:txBody>
      </p:sp>
      <p:sp>
        <p:nvSpPr>
          <p:cNvPr id="3" name="Title 2">
            <a:extLst>
              <a:ext uri="{FF2B5EF4-FFF2-40B4-BE49-F238E27FC236}">
                <a16:creationId xmlns:a16="http://schemas.microsoft.com/office/drawing/2014/main" id="{6BBFEDA8-484C-919B-F96B-A60E2FF0F741}"/>
              </a:ext>
            </a:extLst>
          </p:cNvPr>
          <p:cNvSpPr>
            <a:spLocks noGrp="1"/>
          </p:cNvSpPr>
          <p:nvPr>
            <p:ph type="title"/>
          </p:nvPr>
        </p:nvSpPr>
        <p:spPr/>
        <p:txBody>
          <a:bodyPr/>
          <a:lstStyle/>
          <a:p>
            <a:r>
              <a:rPr lang="en-US"/>
              <a:t>Nội dung</a:t>
            </a:r>
          </a:p>
        </p:txBody>
      </p:sp>
      <p:sp>
        <p:nvSpPr>
          <p:cNvPr id="4" name="Slide Number Placeholder 3">
            <a:extLst>
              <a:ext uri="{FF2B5EF4-FFF2-40B4-BE49-F238E27FC236}">
                <a16:creationId xmlns:a16="http://schemas.microsoft.com/office/drawing/2014/main" id="{88F47021-344E-3B5C-7B05-B8AB1DBC7E5B}"/>
              </a:ext>
            </a:extLst>
          </p:cNvPr>
          <p:cNvSpPr>
            <a:spLocks noGrp="1"/>
          </p:cNvSpPr>
          <p:nvPr>
            <p:ph type="sldNum" sz="quarter" idx="12"/>
          </p:nvPr>
        </p:nvSpPr>
        <p:spPr/>
        <p:txBody>
          <a:bodyPr/>
          <a:lstStyle/>
          <a:p>
            <a:fld id="{9EA0BE3B-158A-4EDF-80DC-E394A0D1600F}" type="slidenum">
              <a:rPr lang="en-US" smtClean="0"/>
              <a:pPr/>
              <a:t>12</a:t>
            </a:fld>
            <a:endParaRPr lang="en-US"/>
          </a:p>
        </p:txBody>
      </p:sp>
    </p:spTree>
    <p:extLst>
      <p:ext uri="{BB962C8B-B14F-4D97-AF65-F5344CB8AC3E}">
        <p14:creationId xmlns:p14="http://schemas.microsoft.com/office/powerpoint/2010/main" val="13355046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9B7FB9-AA51-1731-F12E-72B7FDBA71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85ED54-E324-7BB3-5F38-D3C797722C7D}"/>
              </a:ext>
            </a:extLst>
          </p:cNvPr>
          <p:cNvSpPr>
            <a:spLocks noGrp="1"/>
          </p:cNvSpPr>
          <p:nvPr>
            <p:ph type="title"/>
          </p:nvPr>
        </p:nvSpPr>
        <p:spPr/>
        <p:txBody>
          <a:bodyPr/>
          <a:lstStyle/>
          <a:p>
            <a:r>
              <a:rPr lang="en-US"/>
              <a:t>5. Dự án</a:t>
            </a:r>
          </a:p>
        </p:txBody>
      </p:sp>
      <p:sp>
        <p:nvSpPr>
          <p:cNvPr id="3" name="Text Placeholder 2">
            <a:extLst>
              <a:ext uri="{FF2B5EF4-FFF2-40B4-BE49-F238E27FC236}">
                <a16:creationId xmlns:a16="http://schemas.microsoft.com/office/drawing/2014/main" id="{4169BAF7-A092-91BB-2485-68990CAB527C}"/>
              </a:ext>
            </a:extLst>
          </p:cNvPr>
          <p:cNvSpPr>
            <a:spLocks noGrp="1"/>
          </p:cNvSpPr>
          <p:nvPr>
            <p:ph type="body" sz="quarter" idx="13"/>
          </p:nvPr>
        </p:nvSpPr>
        <p:spPr/>
        <p:txBody>
          <a:bodyPr/>
          <a:lstStyle/>
          <a:p>
            <a:r>
              <a:rPr lang="en-US"/>
              <a:t>Tên dự án: TAKK Edu – Website khóa học và LMS</a:t>
            </a:r>
          </a:p>
          <a:p>
            <a:r>
              <a:rPr lang="en-US"/>
              <a:t>Thành viên:</a:t>
            </a:r>
          </a:p>
          <a:p>
            <a:pPr lvl="1"/>
            <a:r>
              <a:rPr lang="en-US"/>
              <a:t>Nông Quốc Khánh - 20226088</a:t>
            </a:r>
          </a:p>
          <a:p>
            <a:pPr lvl="1"/>
            <a:r>
              <a:rPr lang="en-US"/>
              <a:t>Đỗ Quang Bắc Kỳ - 20226111</a:t>
            </a:r>
          </a:p>
          <a:p>
            <a:pPr lvl="1"/>
            <a:r>
              <a:rPr lang="en-US"/>
              <a:t>Nguyễn Minh Tuấn - 20226095</a:t>
            </a:r>
          </a:p>
          <a:p>
            <a:r>
              <a:rPr lang="en-US"/>
              <a:t>Công cụ:</a:t>
            </a:r>
          </a:p>
          <a:p>
            <a:pPr lvl="1"/>
            <a:r>
              <a:rPr lang="en-US"/>
              <a:t>Figma, Canva, GG Drive, Git/GitHub.</a:t>
            </a:r>
          </a:p>
          <a:p>
            <a:r>
              <a:rPr lang="en-US"/>
              <a:t>Lộ trình:</a:t>
            </a:r>
          </a:p>
          <a:p>
            <a:pPr lvl="1"/>
            <a:r>
              <a:rPr lang="en-US"/>
              <a:t>Nghiên cứu, định hướng giải pháp.</a:t>
            </a:r>
          </a:p>
          <a:p>
            <a:pPr lvl="1"/>
            <a:r>
              <a:rPr lang="en-US"/>
              <a:t>Tạo wireframe, kiến trúc giao diện.</a:t>
            </a:r>
          </a:p>
          <a:p>
            <a:pPr lvl="1"/>
            <a:r>
              <a:rPr lang="en-US"/>
              <a:t>Tạo prototype, UI kit, UI design.</a:t>
            </a:r>
          </a:p>
          <a:p>
            <a:pPr lvl="1"/>
            <a:r>
              <a:rPr lang="en-US"/>
              <a:t>Kiểm thử, bàn giao.</a:t>
            </a:r>
          </a:p>
        </p:txBody>
      </p:sp>
      <p:sp>
        <p:nvSpPr>
          <p:cNvPr id="6" name="Slide Number Placeholder 5">
            <a:extLst>
              <a:ext uri="{FF2B5EF4-FFF2-40B4-BE49-F238E27FC236}">
                <a16:creationId xmlns:a16="http://schemas.microsoft.com/office/drawing/2014/main" id="{5EC05281-C05A-2ADE-5814-041E68B27FEE}"/>
              </a:ext>
            </a:extLst>
          </p:cNvPr>
          <p:cNvSpPr>
            <a:spLocks noGrp="1"/>
          </p:cNvSpPr>
          <p:nvPr>
            <p:ph type="sldNum" sz="quarter" idx="12"/>
          </p:nvPr>
        </p:nvSpPr>
        <p:spPr/>
        <p:txBody>
          <a:bodyPr/>
          <a:lstStyle/>
          <a:p>
            <a:fld id="{9EA0BE3B-158A-4EDF-80DC-E394A0D1600F}" type="slidenum">
              <a:rPr lang="en-US" smtClean="0"/>
              <a:pPr/>
              <a:t>13</a:t>
            </a:fld>
            <a:endParaRPr lang="en-US"/>
          </a:p>
        </p:txBody>
      </p:sp>
    </p:spTree>
    <p:extLst>
      <p:ext uri="{BB962C8B-B14F-4D97-AF65-F5344CB8AC3E}">
        <p14:creationId xmlns:p14="http://schemas.microsoft.com/office/powerpoint/2010/main" val="12302525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6">
            <a:extLst>
              <a:ext uri="{FF2B5EF4-FFF2-40B4-BE49-F238E27FC236}">
                <a16:creationId xmlns:a16="http://schemas.microsoft.com/office/drawing/2014/main" id="{5945A2BB-ABB6-48FB-A491-502474D93E34}"/>
              </a:ext>
            </a:extLst>
          </p:cNvPr>
          <p:cNvSpPr txBox="1">
            <a:spLocks/>
          </p:cNvSpPr>
          <p:nvPr/>
        </p:nvSpPr>
        <p:spPr>
          <a:xfrm>
            <a:off x="5605763" y="2869457"/>
            <a:ext cx="5422456" cy="971304"/>
          </a:xfrm>
          <a:prstGeom prst="rect">
            <a:avLst/>
          </a:prstGeom>
        </p:spPr>
        <p:txBody>
          <a:bodyPr/>
          <a:lstStyle>
            <a:lvl1pPr algn="l" defTabSz="914400" rtl="0" eaLnBrk="1" latinLnBrk="0" hangingPunct="1">
              <a:lnSpc>
                <a:spcPct val="90000"/>
              </a:lnSpc>
              <a:spcBef>
                <a:spcPct val="0"/>
              </a:spcBef>
              <a:buNone/>
              <a:defRPr sz="72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6000"/>
              <a:t>XIN CẢM ƠN!</a:t>
            </a:r>
            <a:endParaRPr lang="en-US" sz="6000" dirty="0"/>
          </a:p>
        </p:txBody>
      </p:sp>
      <p:sp>
        <p:nvSpPr>
          <p:cNvPr id="3" name="Slide Number Placeholder 2">
            <a:extLst>
              <a:ext uri="{FF2B5EF4-FFF2-40B4-BE49-F238E27FC236}">
                <a16:creationId xmlns:a16="http://schemas.microsoft.com/office/drawing/2014/main" id="{B255FE58-BA70-418C-863F-55066B6675FB}"/>
              </a:ext>
            </a:extLst>
          </p:cNvPr>
          <p:cNvSpPr>
            <a:spLocks noGrp="1"/>
          </p:cNvSpPr>
          <p:nvPr>
            <p:ph type="sldNum" sz="quarter" idx="12"/>
          </p:nvPr>
        </p:nvSpPr>
        <p:spPr/>
        <p:txBody>
          <a:bodyPr/>
          <a:lstStyle/>
          <a:p>
            <a:fld id="{9EA0BE3B-158A-4EDF-80DC-E394A0D1600F}" type="slidenum">
              <a:rPr lang="en-US" smtClean="0"/>
              <a:pPr/>
              <a:t>14</a:t>
            </a:fld>
            <a:endParaRPr lang="en-US"/>
          </a:p>
        </p:txBody>
      </p:sp>
    </p:spTree>
    <p:extLst>
      <p:ext uri="{BB962C8B-B14F-4D97-AF65-F5344CB8AC3E}">
        <p14:creationId xmlns:p14="http://schemas.microsoft.com/office/powerpoint/2010/main" val="27906271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43852BD84EE2440ABC538C71FD5CABC" ma:contentTypeVersion="11" ma:contentTypeDescription="Create a new document." ma:contentTypeScope="" ma:versionID="3f790bef5ab025e63253954e165a0704">
  <xsd:schema xmlns:xsd="http://www.w3.org/2001/XMLSchema" xmlns:xs="http://www.w3.org/2001/XMLSchema" xmlns:p="http://schemas.microsoft.com/office/2006/metadata/properties" xmlns:ns2="f911f9c0-5a03-49c4-9b36-857712739a80" xmlns:ns3="3485ab1c-3f2f-420a-94d8-4bedb6f8f8d6" targetNamespace="http://schemas.microsoft.com/office/2006/metadata/properties" ma:root="true" ma:fieldsID="1cf79d56d853a5c1e3b2c017520a74ba" ns2:_="" ns3:_="">
    <xsd:import namespace="f911f9c0-5a03-49c4-9b36-857712739a80"/>
    <xsd:import namespace="3485ab1c-3f2f-420a-94d8-4bedb6f8f8d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911f9c0-5a03-49c4-9b36-857712739a8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546fe6cf-c6c6-432e-bc3b-e1a865b2857d"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3485ab1c-3f2f-420a-94d8-4bedb6f8f8d6"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d8cbeeef-faaf-472a-a6d1-d7d0065acb8d}" ma:internalName="TaxCatchAll" ma:showField="CatchAllData" ma:web="3485ab1c-3f2f-420a-94d8-4bedb6f8f8d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f911f9c0-5a03-49c4-9b36-857712739a80">
      <Terms xmlns="http://schemas.microsoft.com/office/infopath/2007/PartnerControls"/>
    </lcf76f155ced4ddcb4097134ff3c332f>
    <TaxCatchAll xmlns="3485ab1c-3f2f-420a-94d8-4bedb6f8f8d6" xsi:nil="true"/>
  </documentManagement>
</p:properties>
</file>

<file path=customXml/itemProps1.xml><?xml version="1.0" encoding="utf-8"?>
<ds:datastoreItem xmlns:ds="http://schemas.openxmlformats.org/officeDocument/2006/customXml" ds:itemID="{6DEF5963-2847-4256-935C-DF08B7C884E0}"/>
</file>

<file path=customXml/itemProps2.xml><?xml version="1.0" encoding="utf-8"?>
<ds:datastoreItem xmlns:ds="http://schemas.openxmlformats.org/officeDocument/2006/customXml" ds:itemID="{FF8E2993-D7FB-4D2A-8C08-00906025E5D6}"/>
</file>

<file path=customXml/itemProps3.xml><?xml version="1.0" encoding="utf-8"?>
<ds:datastoreItem xmlns:ds="http://schemas.openxmlformats.org/officeDocument/2006/customXml" ds:itemID="{D5EFA5C6-242D-4054-8CAD-38F0C0DDCDA0}"/>
</file>

<file path=docProps/app.xml><?xml version="1.0" encoding="utf-8"?>
<Properties xmlns="http://schemas.openxmlformats.org/officeDocument/2006/extended-properties" xmlns:vt="http://schemas.openxmlformats.org/officeDocument/2006/docPropsVTypes">
  <TotalTime>316</TotalTime>
  <Words>1095</Words>
  <Application>Microsoft Office PowerPoint</Application>
  <PresentationFormat>Widescreen</PresentationFormat>
  <Paragraphs>159</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Lato</vt:lpstr>
      <vt:lpstr>Office Theme</vt:lpstr>
      <vt:lpstr>PowerPoint Presentation</vt:lpstr>
      <vt:lpstr>Nội dung</vt:lpstr>
      <vt:lpstr>Nội dung</vt:lpstr>
      <vt:lpstr>2. Phát biểu vấn đề người dùng</vt:lpstr>
      <vt:lpstr>Nội dung</vt:lpstr>
      <vt:lpstr>3. Phỏng vấn người dùng mục tiêu</vt:lpstr>
      <vt:lpstr>Nội dung</vt:lpstr>
      <vt:lpstr>4. Phân tích đối thủ cạnh tranh</vt:lpstr>
      <vt:lpstr>Nội dung</vt:lpstr>
      <vt:lpstr>5. Tổng hợp kết quả nghiên cứu</vt:lpstr>
      <vt:lpstr>5. Tổng hợp kết quả nghiên cứu</vt:lpstr>
      <vt:lpstr>Nội dung</vt:lpstr>
      <vt:lpstr>5. Dự án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Phong TT &amp; QTTH</dc:creator>
  <cp:lastModifiedBy>Nong Quoc Khanh 20226088</cp:lastModifiedBy>
  <cp:revision>89</cp:revision>
  <dcterms:created xsi:type="dcterms:W3CDTF">2021-05-28T04:32:29Z</dcterms:created>
  <dcterms:modified xsi:type="dcterms:W3CDTF">2025-10-22T10:18:12Z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0x010100F43852BD84EE2440ABC538C71FD5CABC</vt:lpwstr>
  </property>
</Properties>
</file>