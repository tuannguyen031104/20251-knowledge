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7" r:id="rId2"/>
    <p:sldId id="258" r:id="rId3"/>
    <p:sldId id="265" r:id="rId4"/>
    <p:sldId id="266" r:id="rId5"/>
    <p:sldId id="267" r:id="rId6"/>
    <p:sldId id="269" r:id="rId7"/>
    <p:sldId id="270"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12/6/2025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12/6/2025</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12/6/2025</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12/6/2025</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12/6/2025</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12/6/2025</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12/6/2025</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12/6/2025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12/6/2025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12/6/2025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12/6/2025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12/6/2025</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3" y="2219413"/>
            <a:ext cx="10754117"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CÂU CHUYỆN NGƯỜI DÙNG &amp;</a:t>
            </a:r>
          </a:p>
          <a:p>
            <a:r>
              <a:rPr lang="en-US"/>
              <a:t>SẢN PHẨM KHẢ THI TỐI THIỂU</a:t>
            </a:r>
            <a:endParaRPr lang="en-US" dirty="0"/>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3" y="3931746"/>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a:t>Nhóm 05 – TAKK Edu</a:t>
            </a:r>
          </a:p>
          <a:p>
            <a:r>
              <a:rPr lang="en-US" sz="2800" b="0"/>
              <a:t>Nông Quốc Khánh	20226088</a:t>
            </a:r>
          </a:p>
          <a:p>
            <a:r>
              <a:rPr lang="en-US" sz="2800" b="0"/>
              <a:t>Đỗ Quang Bắc Kỳ	20226111</a:t>
            </a:r>
          </a:p>
          <a:p>
            <a:r>
              <a:rPr lang="en-US" sz="2800" b="0"/>
              <a:t>Nguyễn Minh Tuấn	20226095</a:t>
            </a:r>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1</a:t>
            </a:fld>
            <a:endParaRPr lang="en-US"/>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1. Câu chuyện người dùng – user story</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p:txBody>
          <a:bodyPr/>
          <a:lstStyle/>
          <a:p>
            <a:pPr algn="just"/>
            <a:r>
              <a:rPr lang="en-US"/>
              <a:t>Là một học viên, tôi muốn nhận lời mời tham gia vào phòng học online cùng bạn bè để trao đổi thảo luận tốt hơn mà không phải lên thư viện.</a:t>
            </a:r>
          </a:p>
          <a:p>
            <a:pPr algn="just"/>
            <a:r>
              <a:rPr lang="en-US"/>
              <a:t>Là một học sinh học online, tôi muốn nhận được lời nhắc về các buổi học với giáo viên và các buổi học nhóm để không bỏ lỡ bài học nào.</a:t>
            </a:r>
          </a:p>
          <a:p>
            <a:pPr algn="just"/>
            <a:r>
              <a:rPr lang="en-US"/>
              <a:t>Là một học viên, tôi muốn học thời gian thực với giáo viên thay vì học từ video quay sẵn để tôi có thể hỏi giáo viên bất cứ khi nào cần thiết.</a:t>
            </a:r>
          </a:p>
          <a:p>
            <a:pPr algn="just"/>
            <a:r>
              <a:rPr lang="en-US"/>
              <a:t>Là một giáo viên tự do, tôi muốn giảng dạy thời gian thực với học viên để nhận được phản hồi và thay đổi chất lượng giảng dạy nhanh hơn.</a:t>
            </a:r>
          </a:p>
          <a:p>
            <a:pPr algn="just"/>
            <a:r>
              <a:rPr lang="en-US"/>
              <a:t>Là một giáo viên tự do, tôi muốn tạo lớp học một ngày trước khi dạy và thông báo đến toàn bộ học viên khóa học về lịch học.</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2</a:t>
            </a:fld>
            <a:endParaRPr lang="en-US"/>
          </a:p>
        </p:txBody>
      </p:sp>
    </p:spTree>
    <p:extLst>
      <p:ext uri="{BB962C8B-B14F-4D97-AF65-F5344CB8AC3E}">
        <p14:creationId xmlns:p14="http://schemas.microsoft.com/office/powerpoint/2010/main" val="3505952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3482-FD43-A491-2C17-8D4560EC7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0C845-CDB2-8832-0476-4319EEE84F2B}"/>
              </a:ext>
            </a:extLst>
          </p:cNvPr>
          <p:cNvSpPr>
            <a:spLocks noGrp="1"/>
          </p:cNvSpPr>
          <p:nvPr>
            <p:ph type="title"/>
          </p:nvPr>
        </p:nvSpPr>
        <p:spPr/>
        <p:txBody>
          <a:bodyPr/>
          <a:lstStyle/>
          <a:p>
            <a:r>
              <a:rPr lang="en-US"/>
              <a:t>2. Bản đồ câu chuyện người dùng – user story mapping</a:t>
            </a:r>
          </a:p>
        </p:txBody>
      </p:sp>
      <p:sp>
        <p:nvSpPr>
          <p:cNvPr id="6" name="Slide Number Placeholder 5">
            <a:extLst>
              <a:ext uri="{FF2B5EF4-FFF2-40B4-BE49-F238E27FC236}">
                <a16:creationId xmlns:a16="http://schemas.microsoft.com/office/drawing/2014/main" id="{A9295890-3109-13CE-1CA3-27598BF13D56}"/>
              </a:ext>
            </a:extLst>
          </p:cNvPr>
          <p:cNvSpPr>
            <a:spLocks noGrp="1"/>
          </p:cNvSpPr>
          <p:nvPr>
            <p:ph type="sldNum" sz="quarter" idx="12"/>
          </p:nvPr>
        </p:nvSpPr>
        <p:spPr/>
        <p:txBody>
          <a:bodyPr/>
          <a:lstStyle/>
          <a:p>
            <a:fld id="{9EA0BE3B-158A-4EDF-80DC-E394A0D1600F}" type="slidenum">
              <a:rPr lang="en-US" smtClean="0"/>
              <a:pPr/>
              <a:t>3</a:t>
            </a:fld>
            <a:endParaRPr lang="en-US"/>
          </a:p>
        </p:txBody>
      </p:sp>
      <p:graphicFrame>
        <p:nvGraphicFramePr>
          <p:cNvPr id="4" name="Table 3">
            <a:extLst>
              <a:ext uri="{FF2B5EF4-FFF2-40B4-BE49-F238E27FC236}">
                <a16:creationId xmlns:a16="http://schemas.microsoft.com/office/drawing/2014/main" id="{DCBB4AB7-E2D6-6541-9AAD-41796121D3D9}"/>
              </a:ext>
            </a:extLst>
          </p:cNvPr>
          <p:cNvGraphicFramePr>
            <a:graphicFrameLocks noGrp="1"/>
          </p:cNvGraphicFramePr>
          <p:nvPr>
            <p:extLst>
              <p:ext uri="{D42A27DB-BD31-4B8C-83A1-F6EECF244321}">
                <p14:modId xmlns:p14="http://schemas.microsoft.com/office/powerpoint/2010/main" val="129264892"/>
              </p:ext>
            </p:extLst>
          </p:nvPr>
        </p:nvGraphicFramePr>
        <p:xfrm>
          <a:off x="337540" y="1032510"/>
          <a:ext cx="11514528" cy="4976404"/>
        </p:xfrm>
        <a:graphic>
          <a:graphicData uri="http://schemas.openxmlformats.org/drawingml/2006/table">
            <a:tbl>
              <a:tblPr>
                <a:tableStyleId>{5C22544A-7EE6-4342-B048-85BDC9FD1C3A}</a:tableStyleId>
              </a:tblPr>
              <a:tblGrid>
                <a:gridCol w="1862724">
                  <a:extLst>
                    <a:ext uri="{9D8B030D-6E8A-4147-A177-3AD203B41FA5}">
                      <a16:colId xmlns:a16="http://schemas.microsoft.com/office/drawing/2014/main" val="2687270458"/>
                    </a:ext>
                  </a:extLst>
                </a:gridCol>
                <a:gridCol w="1975452">
                  <a:extLst>
                    <a:ext uri="{9D8B030D-6E8A-4147-A177-3AD203B41FA5}">
                      <a16:colId xmlns:a16="http://schemas.microsoft.com/office/drawing/2014/main" val="614146068"/>
                    </a:ext>
                  </a:extLst>
                </a:gridCol>
                <a:gridCol w="1919088">
                  <a:extLst>
                    <a:ext uri="{9D8B030D-6E8A-4147-A177-3AD203B41FA5}">
                      <a16:colId xmlns:a16="http://schemas.microsoft.com/office/drawing/2014/main" val="2017165593"/>
                    </a:ext>
                  </a:extLst>
                </a:gridCol>
                <a:gridCol w="1919088">
                  <a:extLst>
                    <a:ext uri="{9D8B030D-6E8A-4147-A177-3AD203B41FA5}">
                      <a16:colId xmlns:a16="http://schemas.microsoft.com/office/drawing/2014/main" val="1655541823"/>
                    </a:ext>
                  </a:extLst>
                </a:gridCol>
                <a:gridCol w="1919088">
                  <a:extLst>
                    <a:ext uri="{9D8B030D-6E8A-4147-A177-3AD203B41FA5}">
                      <a16:colId xmlns:a16="http://schemas.microsoft.com/office/drawing/2014/main" val="3496421162"/>
                    </a:ext>
                  </a:extLst>
                </a:gridCol>
                <a:gridCol w="1919088">
                  <a:extLst>
                    <a:ext uri="{9D8B030D-6E8A-4147-A177-3AD203B41FA5}">
                      <a16:colId xmlns:a16="http://schemas.microsoft.com/office/drawing/2014/main" val="3975075739"/>
                    </a:ext>
                  </a:extLst>
                </a:gridCol>
              </a:tblGrid>
              <a:tr h="916706">
                <a:tc>
                  <a:txBody>
                    <a:bodyPr/>
                    <a:lstStyle/>
                    <a:p>
                      <a:pPr algn="ctr"/>
                      <a:r>
                        <a:rPr lang="en-US" b="1"/>
                        <a:t>Epic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Phòng học nhóm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Dạy học online thời gian thực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1961808"/>
                  </a:ext>
                </a:extLst>
              </a:tr>
              <a:tr h="1309580">
                <a:tc>
                  <a:txBody>
                    <a:bodyPr/>
                    <a:lstStyle/>
                    <a:p>
                      <a:pPr algn="ctr"/>
                      <a:r>
                        <a:rPr lang="en-US" b="1"/>
                        <a:t>Nhiệm vụ - Tasks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Mời bạn vào phòng học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Thảo luận, trao đổi trong phòng học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Tạo lớp học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Phát trực tiếp video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Tương tác với học viên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4026198568"/>
                  </a:ext>
                </a:extLst>
              </a:tr>
              <a:tr h="916706">
                <a:tc>
                  <a:txBody>
                    <a:bodyPr/>
                    <a:lstStyle/>
                    <a:p>
                      <a:pPr algn="ctr"/>
                      <a:r>
                        <a:rPr lang="en-US" b="1"/>
                        <a:t>Release 1</a:t>
                      </a:r>
                    </a:p>
                    <a:p>
                      <a:pPr algn="ctr"/>
                      <a:r>
                        <a:rPr lang="en-US" b="1"/>
                        <a:t>(MVP)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Mời bằng mã phòng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Chia sẻ màn hình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Tạo lớp học tức thì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Phát video từ camera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Gửi tin nhắn, tệp tin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448047331"/>
                  </a:ext>
                </a:extLst>
              </a:tr>
              <a:tr h="916706">
                <a:tc>
                  <a:txBody>
                    <a:bodyPr/>
                    <a:lstStyle/>
                    <a:p>
                      <a:pPr algn="ctr"/>
                      <a:endParaRPr lang="en-US"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Gửi tin nhắn, tệp tin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Tạo lớp học dự kiến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Phát video từ màn hình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5148040"/>
                  </a:ext>
                </a:extLst>
              </a:tr>
              <a:tr h="916706">
                <a:tc>
                  <a:txBody>
                    <a:bodyPr/>
                    <a:lstStyle/>
                    <a:p>
                      <a:pPr algn="ctr"/>
                      <a:r>
                        <a:rPr lang="en-US" b="1"/>
                        <a:t>Release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Mời trực tiếp tài khoản bạn bè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Canvas làm việc chung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6806857"/>
                  </a:ext>
                </a:extLst>
              </a:tr>
            </a:tbl>
          </a:graphicData>
        </a:graphic>
      </p:graphicFrame>
    </p:spTree>
    <p:extLst>
      <p:ext uri="{BB962C8B-B14F-4D97-AF65-F5344CB8AC3E}">
        <p14:creationId xmlns:p14="http://schemas.microsoft.com/office/powerpoint/2010/main" val="10335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915FB-1233-46FF-85C1-D5098BFD4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D7F13-6A6F-9AF8-929C-DFB31B0C3CE3}"/>
              </a:ext>
            </a:extLst>
          </p:cNvPr>
          <p:cNvSpPr>
            <a:spLocks noGrp="1"/>
          </p:cNvSpPr>
          <p:nvPr>
            <p:ph type="title"/>
          </p:nvPr>
        </p:nvSpPr>
        <p:spPr/>
        <p:txBody>
          <a:bodyPr/>
          <a:lstStyle/>
          <a:p>
            <a:r>
              <a:rPr lang="en-US"/>
              <a:t>3. Sản phẩm khả thi tối thiểu – minimum viable product</a:t>
            </a:r>
          </a:p>
        </p:txBody>
      </p:sp>
      <p:sp>
        <p:nvSpPr>
          <p:cNvPr id="3" name="Text Placeholder 2">
            <a:extLst>
              <a:ext uri="{FF2B5EF4-FFF2-40B4-BE49-F238E27FC236}">
                <a16:creationId xmlns:a16="http://schemas.microsoft.com/office/drawing/2014/main" id="{EF59F199-4A05-C2B4-4592-479F5B8CD2FC}"/>
              </a:ext>
            </a:extLst>
          </p:cNvPr>
          <p:cNvSpPr>
            <a:spLocks noGrp="1"/>
          </p:cNvSpPr>
          <p:nvPr>
            <p:ph type="body" sz="quarter" idx="13"/>
          </p:nvPr>
        </p:nvSpPr>
        <p:spPr/>
        <p:txBody>
          <a:bodyPr/>
          <a:lstStyle/>
          <a:p>
            <a:r>
              <a:rPr lang="en-US" b="1"/>
              <a:t>Các tính năng trong MVP:</a:t>
            </a:r>
          </a:p>
          <a:p>
            <a:endParaRPr lang="en-US"/>
          </a:p>
          <a:p>
            <a:pPr lvl="1"/>
            <a:r>
              <a:rPr lang="en-US" b="1"/>
              <a:t>Học nhóm </a:t>
            </a:r>
            <a:r>
              <a:rPr lang="en-US"/>
              <a:t>(học sinh – học sinh): Thảo luận, trao đổi, chia sẻ màn hình, video, tệp, tin nhắn.</a:t>
            </a:r>
          </a:p>
          <a:p>
            <a:pPr lvl="1"/>
            <a:endParaRPr lang="en-US"/>
          </a:p>
          <a:p>
            <a:pPr lvl="1"/>
            <a:r>
              <a:rPr lang="en-US" b="1"/>
              <a:t>Dạy học online </a:t>
            </a:r>
            <a:r>
              <a:rPr lang="en-US"/>
              <a:t>(giáo viên – học sinh): Tạo, lên lịch buổi học, chia sẻ màn hình, camera, chia sẻ tin nhắn, bài giảng.</a:t>
            </a:r>
          </a:p>
          <a:p>
            <a:pPr lvl="1"/>
            <a:endParaRPr lang="en-US"/>
          </a:p>
          <a:p>
            <a:pPr lvl="1"/>
            <a:r>
              <a:rPr lang="en-US" b="1"/>
              <a:t>Đăng ký/mua khóa học </a:t>
            </a:r>
            <a:r>
              <a:rPr lang="en-US"/>
              <a:t>để được tiếp cận vào lớp học và phòng học nhóm.</a:t>
            </a:r>
          </a:p>
        </p:txBody>
      </p:sp>
      <p:sp>
        <p:nvSpPr>
          <p:cNvPr id="6" name="Slide Number Placeholder 5">
            <a:extLst>
              <a:ext uri="{FF2B5EF4-FFF2-40B4-BE49-F238E27FC236}">
                <a16:creationId xmlns:a16="http://schemas.microsoft.com/office/drawing/2014/main" id="{9353BEFD-A165-9995-1D3E-D5C59896872F}"/>
              </a:ext>
            </a:extLst>
          </p:cNvPr>
          <p:cNvSpPr>
            <a:spLocks noGrp="1"/>
          </p:cNvSpPr>
          <p:nvPr>
            <p:ph type="sldNum" sz="quarter" idx="12"/>
          </p:nvPr>
        </p:nvSpPr>
        <p:spPr/>
        <p:txBody>
          <a:bodyPr/>
          <a:lstStyle/>
          <a:p>
            <a:fld id="{9EA0BE3B-158A-4EDF-80DC-E394A0D1600F}" type="slidenum">
              <a:rPr lang="en-US" smtClean="0"/>
              <a:pPr/>
              <a:t>4</a:t>
            </a:fld>
            <a:endParaRPr lang="en-US"/>
          </a:p>
        </p:txBody>
      </p:sp>
    </p:spTree>
    <p:extLst>
      <p:ext uri="{BB962C8B-B14F-4D97-AF65-F5344CB8AC3E}">
        <p14:creationId xmlns:p14="http://schemas.microsoft.com/office/powerpoint/2010/main" val="767852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E6939-BED5-54BF-87DC-203C889C3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6EF24-D26D-7ABE-7C4D-2FD23BC4949A}"/>
              </a:ext>
            </a:extLst>
          </p:cNvPr>
          <p:cNvSpPr>
            <a:spLocks noGrp="1"/>
          </p:cNvSpPr>
          <p:nvPr>
            <p:ph type="title"/>
          </p:nvPr>
        </p:nvSpPr>
        <p:spPr/>
        <p:txBody>
          <a:bodyPr/>
          <a:lstStyle/>
          <a:p>
            <a:r>
              <a:rPr lang="en-US"/>
              <a:t>3. Phân tích tư duy sản phẩm - Product thinking analysis</a:t>
            </a:r>
          </a:p>
        </p:txBody>
      </p:sp>
      <p:sp>
        <p:nvSpPr>
          <p:cNvPr id="3" name="Text Placeholder 2">
            <a:extLst>
              <a:ext uri="{FF2B5EF4-FFF2-40B4-BE49-F238E27FC236}">
                <a16:creationId xmlns:a16="http://schemas.microsoft.com/office/drawing/2014/main" id="{770BD0AE-FC1F-C501-69AC-F4D7B75B8FEC}"/>
              </a:ext>
            </a:extLst>
          </p:cNvPr>
          <p:cNvSpPr>
            <a:spLocks noGrp="1"/>
          </p:cNvSpPr>
          <p:nvPr>
            <p:ph type="body" sz="quarter" idx="13"/>
          </p:nvPr>
        </p:nvSpPr>
        <p:spPr/>
        <p:txBody>
          <a:bodyPr/>
          <a:lstStyle/>
          <a:p>
            <a:r>
              <a:rPr lang="en-US" b="1"/>
              <a:t>Problem-Solution Fit (Sự phù hợp Vấn đề - Giải pháp):</a:t>
            </a:r>
          </a:p>
          <a:p>
            <a:endParaRPr lang="en-US" b="1"/>
          </a:p>
          <a:p>
            <a:pPr lvl="1"/>
            <a:r>
              <a:rPr lang="en-US" b="1"/>
              <a:t>Vấn đề</a:t>
            </a:r>
            <a:r>
              <a:rPr lang="en-US"/>
              <a:t>: Giáo viên và học sinh muốn được tương tác trực tiếp trong quá trình học.</a:t>
            </a:r>
          </a:p>
          <a:p>
            <a:pPr lvl="1"/>
            <a:endParaRPr lang="en-US"/>
          </a:p>
          <a:p>
            <a:pPr lvl="1"/>
            <a:r>
              <a:rPr lang="en-US" b="1"/>
              <a:t>Giải pháp MVP</a:t>
            </a:r>
            <a:r>
              <a:rPr lang="en-US"/>
              <a:t>: Tập trung vào hình thức </a:t>
            </a:r>
            <a:r>
              <a:rPr lang="en-US" b="1"/>
              <a:t>học online trực tiếp theo thời gian thực </a:t>
            </a:r>
            <a:r>
              <a:rPr lang="en-US"/>
              <a:t>thay vì học theo video quay sẵn.</a:t>
            </a:r>
          </a:p>
          <a:p>
            <a:pPr lvl="1"/>
            <a:endParaRPr lang="en-US"/>
          </a:p>
          <a:p>
            <a:pPr marL="457200" lvl="1" indent="0">
              <a:buNone/>
            </a:pPr>
            <a:r>
              <a:rPr lang="en-US">
                <a:latin typeface="Cambria Math" panose="02040503050406030204" pitchFamily="18" charset="0"/>
                <a:ea typeface="Cambria Math" panose="02040503050406030204" pitchFamily="18" charset="0"/>
              </a:rPr>
              <a:t>⟹ </a:t>
            </a:r>
            <a:r>
              <a:rPr lang="en-US"/>
              <a:t>MVP giải quyết nỗi đau trực tiếp lớn nhất.</a:t>
            </a:r>
          </a:p>
        </p:txBody>
      </p:sp>
      <p:sp>
        <p:nvSpPr>
          <p:cNvPr id="6" name="Slide Number Placeholder 5">
            <a:extLst>
              <a:ext uri="{FF2B5EF4-FFF2-40B4-BE49-F238E27FC236}">
                <a16:creationId xmlns:a16="http://schemas.microsoft.com/office/drawing/2014/main" id="{47B43D7B-67D7-5EEF-D304-8523417CB96E}"/>
              </a:ext>
            </a:extLst>
          </p:cNvPr>
          <p:cNvSpPr>
            <a:spLocks noGrp="1"/>
          </p:cNvSpPr>
          <p:nvPr>
            <p:ph type="sldNum" sz="quarter" idx="12"/>
          </p:nvPr>
        </p:nvSpPr>
        <p:spPr/>
        <p:txBody>
          <a:bodyPr/>
          <a:lstStyle/>
          <a:p>
            <a:fld id="{9EA0BE3B-158A-4EDF-80DC-E394A0D1600F}" type="slidenum">
              <a:rPr lang="en-US" smtClean="0"/>
              <a:pPr/>
              <a:t>5</a:t>
            </a:fld>
            <a:endParaRPr lang="en-US"/>
          </a:p>
        </p:txBody>
      </p:sp>
    </p:spTree>
    <p:extLst>
      <p:ext uri="{BB962C8B-B14F-4D97-AF65-F5344CB8AC3E}">
        <p14:creationId xmlns:p14="http://schemas.microsoft.com/office/powerpoint/2010/main" val="107302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1C51A-558D-18DE-BC39-78931421E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BCCC3F-7E72-F8B6-EF2F-261F1E1373E4}"/>
              </a:ext>
            </a:extLst>
          </p:cNvPr>
          <p:cNvSpPr>
            <a:spLocks noGrp="1"/>
          </p:cNvSpPr>
          <p:nvPr>
            <p:ph type="title"/>
          </p:nvPr>
        </p:nvSpPr>
        <p:spPr/>
        <p:txBody>
          <a:bodyPr/>
          <a:lstStyle/>
          <a:p>
            <a:r>
              <a:rPr lang="en-US"/>
              <a:t>3. Phân tích tư duy sản phẩm - Product thinking analysis</a:t>
            </a:r>
          </a:p>
        </p:txBody>
      </p:sp>
      <p:sp>
        <p:nvSpPr>
          <p:cNvPr id="3" name="Text Placeholder 2">
            <a:extLst>
              <a:ext uri="{FF2B5EF4-FFF2-40B4-BE49-F238E27FC236}">
                <a16:creationId xmlns:a16="http://schemas.microsoft.com/office/drawing/2014/main" id="{67BC6DB4-D3DB-2470-EE82-8567B004C363}"/>
              </a:ext>
            </a:extLst>
          </p:cNvPr>
          <p:cNvSpPr>
            <a:spLocks noGrp="1"/>
          </p:cNvSpPr>
          <p:nvPr>
            <p:ph type="body" sz="quarter" idx="13"/>
          </p:nvPr>
        </p:nvSpPr>
        <p:spPr/>
        <p:txBody>
          <a:bodyPr/>
          <a:lstStyle/>
          <a:p>
            <a:r>
              <a:rPr lang="en-US" b="1"/>
              <a:t>Product-Market Fit (Sự phù hợp Sản phẩm – Thị trường):</a:t>
            </a:r>
          </a:p>
          <a:p>
            <a:endParaRPr lang="en-US" b="1"/>
          </a:p>
          <a:p>
            <a:pPr lvl="1"/>
            <a:r>
              <a:rPr lang="vi-VN"/>
              <a:t>Thị trường thiếu sản phẩm hỗ trợ học online trực tiếp theo nhóm, dù nhu cầu này luôn cao nhờ yếu tố tương tác và thúc đẩy lẫn nhau.</a:t>
            </a:r>
            <a:endParaRPr lang="en-US"/>
          </a:p>
          <a:p>
            <a:pPr lvl="1"/>
            <a:endParaRPr lang="en-US"/>
          </a:p>
          <a:p>
            <a:pPr lvl="1"/>
            <a:r>
              <a:rPr lang="en-US"/>
              <a:t>Giải pháp MVP: Tập trung vào hình thức </a:t>
            </a:r>
            <a:r>
              <a:rPr lang="en-US" b="1"/>
              <a:t>học online trực tiếp giữa giáo viên-học sinh và học sinh-học sinh </a:t>
            </a:r>
            <a:r>
              <a:rPr lang="en-US"/>
              <a:t>thay vì học theo video quay sẵn.</a:t>
            </a:r>
          </a:p>
          <a:p>
            <a:pPr lvl="1"/>
            <a:endParaRPr lang="en-US"/>
          </a:p>
          <a:p>
            <a:pPr marL="457200" lvl="1" indent="0">
              <a:buNone/>
            </a:pPr>
            <a:r>
              <a:rPr lang="en-US">
                <a:latin typeface="Cambria Math" panose="02040503050406030204" pitchFamily="18" charset="0"/>
                <a:ea typeface="Cambria Math" panose="02040503050406030204" pitchFamily="18" charset="0"/>
              </a:rPr>
              <a:t>⟹ </a:t>
            </a:r>
            <a:r>
              <a:rPr lang="en-US"/>
              <a:t>MVP định vị đúng phân khúc này, tránh đối đầu với các nền tảng lớn như Coursera, Udemy…</a:t>
            </a:r>
          </a:p>
        </p:txBody>
      </p:sp>
      <p:sp>
        <p:nvSpPr>
          <p:cNvPr id="6" name="Slide Number Placeholder 5">
            <a:extLst>
              <a:ext uri="{FF2B5EF4-FFF2-40B4-BE49-F238E27FC236}">
                <a16:creationId xmlns:a16="http://schemas.microsoft.com/office/drawing/2014/main" id="{FD4583AD-F768-4C02-BF7F-C78E70512FCF}"/>
              </a:ext>
            </a:extLst>
          </p:cNvPr>
          <p:cNvSpPr>
            <a:spLocks noGrp="1"/>
          </p:cNvSpPr>
          <p:nvPr>
            <p:ph type="sldNum" sz="quarter" idx="12"/>
          </p:nvPr>
        </p:nvSpPr>
        <p:spPr/>
        <p:txBody>
          <a:bodyPr/>
          <a:lstStyle/>
          <a:p>
            <a:fld id="{9EA0BE3B-158A-4EDF-80DC-E394A0D1600F}" type="slidenum">
              <a:rPr lang="en-US" smtClean="0"/>
              <a:pPr/>
              <a:t>6</a:t>
            </a:fld>
            <a:endParaRPr lang="en-US"/>
          </a:p>
        </p:txBody>
      </p:sp>
    </p:spTree>
    <p:extLst>
      <p:ext uri="{BB962C8B-B14F-4D97-AF65-F5344CB8AC3E}">
        <p14:creationId xmlns:p14="http://schemas.microsoft.com/office/powerpoint/2010/main" val="2932878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6941D-B452-4A39-D148-5C14277A1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44FB7-9296-2F39-2AE1-45AF592D6CD2}"/>
              </a:ext>
            </a:extLst>
          </p:cNvPr>
          <p:cNvSpPr>
            <a:spLocks noGrp="1"/>
          </p:cNvSpPr>
          <p:nvPr>
            <p:ph type="title"/>
          </p:nvPr>
        </p:nvSpPr>
        <p:spPr/>
        <p:txBody>
          <a:bodyPr/>
          <a:lstStyle/>
          <a:p>
            <a:r>
              <a:rPr lang="en-US"/>
              <a:t>3. Phân tích tư duy sản phẩm - Product thinking analysis</a:t>
            </a:r>
          </a:p>
        </p:txBody>
      </p:sp>
      <p:sp>
        <p:nvSpPr>
          <p:cNvPr id="3" name="Text Placeholder 2">
            <a:extLst>
              <a:ext uri="{FF2B5EF4-FFF2-40B4-BE49-F238E27FC236}">
                <a16:creationId xmlns:a16="http://schemas.microsoft.com/office/drawing/2014/main" id="{F3F8C11F-ED28-0148-33FE-EC6A138FE240}"/>
              </a:ext>
            </a:extLst>
          </p:cNvPr>
          <p:cNvSpPr>
            <a:spLocks noGrp="1"/>
          </p:cNvSpPr>
          <p:nvPr>
            <p:ph type="body" sz="quarter" idx="13"/>
          </p:nvPr>
        </p:nvSpPr>
        <p:spPr/>
        <p:txBody>
          <a:bodyPr/>
          <a:lstStyle/>
          <a:p>
            <a:r>
              <a:rPr lang="en-US" b="1"/>
              <a:t>Proof of Concept (Kiểm chứng ý tưởng):</a:t>
            </a:r>
          </a:p>
          <a:p>
            <a:pPr marL="0" indent="0">
              <a:buNone/>
            </a:pPr>
            <a:r>
              <a:rPr lang="en-US" sz="2400"/>
              <a:t>Trước khi xây dựng toàn bộ sản phẩm, có thể kiểm chứng tính khả thi bằng cách:</a:t>
            </a:r>
          </a:p>
          <a:p>
            <a:endParaRPr lang="en-US" b="1"/>
          </a:p>
          <a:p>
            <a:pPr lvl="1"/>
            <a:r>
              <a:rPr lang="en-US"/>
              <a:t>Tạo một Landing page đơn giản để giới thiệu TAKK Edu và nút đăng ký sớm cho từng đối tượng học sinh và giáo viên.</a:t>
            </a:r>
          </a:p>
          <a:p>
            <a:pPr lvl="1"/>
            <a:endParaRPr lang="en-US"/>
          </a:p>
          <a:p>
            <a:pPr lvl="1"/>
            <a:r>
              <a:rPr lang="en-US"/>
              <a:t>Chạy quảng cáo trên Facebook nhắm vào đối tượng học sinh, sinh viên, tổ chức giáo dục, giáo viên tự do.</a:t>
            </a:r>
          </a:p>
          <a:p>
            <a:pPr lvl="1"/>
            <a:endParaRPr lang="en-US"/>
          </a:p>
          <a:p>
            <a:pPr lvl="1"/>
            <a:r>
              <a:rPr lang="en-US"/>
              <a:t>Đo lường số lượng click chuột vào nút đăng ký sớm.</a:t>
            </a:r>
          </a:p>
        </p:txBody>
      </p:sp>
      <p:sp>
        <p:nvSpPr>
          <p:cNvPr id="6" name="Slide Number Placeholder 5">
            <a:extLst>
              <a:ext uri="{FF2B5EF4-FFF2-40B4-BE49-F238E27FC236}">
                <a16:creationId xmlns:a16="http://schemas.microsoft.com/office/drawing/2014/main" id="{33C4D85C-8E64-4E47-8FB1-7F4FA1D2CA63}"/>
              </a:ext>
            </a:extLst>
          </p:cNvPr>
          <p:cNvSpPr>
            <a:spLocks noGrp="1"/>
          </p:cNvSpPr>
          <p:nvPr>
            <p:ph type="sldNum" sz="quarter" idx="12"/>
          </p:nvPr>
        </p:nvSpPr>
        <p:spPr/>
        <p:txBody>
          <a:bodyPr/>
          <a:lstStyle/>
          <a:p>
            <a:fld id="{9EA0BE3B-158A-4EDF-80DC-E394A0D1600F}" type="slidenum">
              <a:rPr lang="en-US" smtClean="0"/>
              <a:pPr/>
              <a:t>7</a:t>
            </a:fld>
            <a:endParaRPr lang="en-US"/>
          </a:p>
        </p:txBody>
      </p:sp>
    </p:spTree>
    <p:extLst>
      <p:ext uri="{BB962C8B-B14F-4D97-AF65-F5344CB8AC3E}">
        <p14:creationId xmlns:p14="http://schemas.microsoft.com/office/powerpoint/2010/main" val="623156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8</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3852BD84EE2440ABC538C71FD5CABC" ma:contentTypeVersion="11" ma:contentTypeDescription="Create a new document." ma:contentTypeScope="" ma:versionID="3f790bef5ab025e63253954e165a0704">
  <xsd:schema xmlns:xsd="http://www.w3.org/2001/XMLSchema" xmlns:xs="http://www.w3.org/2001/XMLSchema" xmlns:p="http://schemas.microsoft.com/office/2006/metadata/properties" xmlns:ns2="f911f9c0-5a03-49c4-9b36-857712739a80" xmlns:ns3="3485ab1c-3f2f-420a-94d8-4bedb6f8f8d6" targetNamespace="http://schemas.microsoft.com/office/2006/metadata/properties" ma:root="true" ma:fieldsID="1cf79d56d853a5c1e3b2c017520a74ba" ns2:_="" ns3:_="">
    <xsd:import namespace="f911f9c0-5a03-49c4-9b36-857712739a80"/>
    <xsd:import namespace="3485ab1c-3f2f-420a-94d8-4bedb6f8f8d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11f9c0-5a03-49c4-9b36-857712739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485ab1c-3f2f-420a-94d8-4bedb6f8f8d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8cbeeef-faaf-472a-a6d1-d7d0065acb8d}" ma:internalName="TaxCatchAll" ma:showField="CatchAllData" ma:web="3485ab1c-3f2f-420a-94d8-4bedb6f8f8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11f9c0-5a03-49c4-9b36-857712739a80">
      <Terms xmlns="http://schemas.microsoft.com/office/infopath/2007/PartnerControls"/>
    </lcf76f155ced4ddcb4097134ff3c332f>
    <TaxCatchAll xmlns="3485ab1c-3f2f-420a-94d8-4bedb6f8f8d6" xsi:nil="true"/>
  </documentManagement>
</p:properties>
</file>

<file path=customXml/itemProps1.xml><?xml version="1.0" encoding="utf-8"?>
<ds:datastoreItem xmlns:ds="http://schemas.openxmlformats.org/officeDocument/2006/customXml" ds:itemID="{C3DC066D-1F01-4AE1-8A15-4E2C2C4B3900}"/>
</file>

<file path=customXml/itemProps2.xml><?xml version="1.0" encoding="utf-8"?>
<ds:datastoreItem xmlns:ds="http://schemas.openxmlformats.org/officeDocument/2006/customXml" ds:itemID="{12E21518-E59F-4026-9550-41F320672C2E}"/>
</file>

<file path=customXml/itemProps3.xml><?xml version="1.0" encoding="utf-8"?>
<ds:datastoreItem xmlns:ds="http://schemas.openxmlformats.org/officeDocument/2006/customXml" ds:itemID="{ADAAF860-ECFA-47FF-88E0-70DA9BB2BC28}"/>
</file>

<file path=docProps/app.xml><?xml version="1.0" encoding="utf-8"?>
<Properties xmlns="http://schemas.openxmlformats.org/officeDocument/2006/extended-properties" xmlns:vt="http://schemas.openxmlformats.org/officeDocument/2006/docPropsVTypes">
  <TotalTime>200</TotalTime>
  <Words>707</Words>
  <Application>Microsoft Office PowerPoint</Application>
  <PresentationFormat>Widescreen</PresentationFormat>
  <Paragraphs>77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 Math</vt:lpstr>
      <vt:lpstr>Lato</vt:lpstr>
      <vt:lpstr>Office Theme</vt:lpstr>
      <vt:lpstr>PowerPoint Presentation</vt:lpstr>
      <vt:lpstr>1. Câu chuyện người dùng – user story</vt:lpstr>
      <vt:lpstr>2. Bản đồ câu chuyện người dùng – user story mapping</vt:lpstr>
      <vt:lpstr>3. Sản phẩm khả thi tối thiểu – minimum viable product</vt:lpstr>
      <vt:lpstr>3. Phân tích tư duy sản phẩm - Product thinking analysis</vt:lpstr>
      <vt:lpstr>3. Phân tích tư duy sản phẩm - Product thinking analysis</vt:lpstr>
      <vt:lpstr>3. Phân tích tư duy sản phẩm - Product thinking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Nong Quoc Khanh 20226088</cp:lastModifiedBy>
  <cp:revision>33</cp:revision>
  <dcterms:created xsi:type="dcterms:W3CDTF">2021-05-28T04:32:29Z</dcterms:created>
  <dcterms:modified xsi:type="dcterms:W3CDTF">2025-12-06T02:34:26Z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0x010100F43852BD84EE2440ABC538C71FD5CABC</vt:lpwstr>
  </property>
</Properties>
</file>